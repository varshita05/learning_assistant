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5093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52525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52525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817363"/>
            <a:ext cx="9144000" cy="32613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66759" y="118871"/>
            <a:ext cx="636125" cy="71932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07899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9144">
            <a:solidFill>
              <a:srgbClr val="3918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439" y="128142"/>
            <a:ext cx="8341080" cy="8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5093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4850" y="1179016"/>
            <a:ext cx="8334298" cy="3319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52525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4772" y="4929742"/>
            <a:ext cx="361696" cy="19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eksforgeeks.org/machine-learning/what-is-sentiment-analysis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eksforgeeks.org/nlp/what-is-tokenization/" TargetMode="External"/><Relationship Id="rId3" Type="http://schemas.openxmlformats.org/officeDocument/2006/relationships/hyperlink" Target="https://www.geeksforgeeks.org/nlp/nlp-part-of-speech-default-tagging/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eksforgeeks.org/machine-learning/introduction-to-stemming/" TargetMode="External"/><Relationship Id="rId3" Type="http://schemas.openxmlformats.org/officeDocument/2006/relationships/hyperlink" Target="https://www.geeksforgeeks.org/python/python-lemmatization-with-nltk/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eksforgeeks.org/nlp/understanding-semantic-analysis-nlp/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eksforgeeks.org/nlp/named-entity-recognition/" TargetMode="Externa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eksforgeeks.org/machine-learning/word-sense-disambiguation-in-natural-language-processing/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eksforgeeks.org/nlp/nlp-how-tokenizing-text-sentence-words-works/" TargetMode="External"/><Relationship Id="rId3" Type="http://schemas.openxmlformats.org/officeDocument/2006/relationships/hyperlink" Target="https://www.geeksforgeeks.org/nlp/lemmatization-vs-stemming-a-deep-dive-into-nlps-text-normalization-techniques/" TargetMode="Externa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oogle.com/search?q=language+modeling&amp;sca_esv=0857a64d5a687a19&amp;rlz=1C1SLLM_enIN1120IN1120&amp;sxsrf=AE3TifPnF5IJ6SkNv-kDVj16wYlJGF7xkA%3A1766469468247&amp;ei=XC9KabzrDueOseMPmf-5wA0&amp;ved=2ahUKEwia_Lvzg9ORAxXNUGwGHWQqGeMQgK4QegQIARAD&amp;uact=5&amp;oq=ngram+stupid+back+off+in+nlp+gfg&amp;gs_lp=Egxnd3Mtd2l6LXNlcnAiIG5ncmFtIHN0dXBpZCBiYWNrIG9mZiBpbiBubHAgZ2ZnMgoQIRigARjDBBgKMgoQIRigARjDBBgKSJIqUIUEWN4ncAF4AZABAJgBiAKgAYkbqgEGMC4yLjEzuAEDyAEA-AEBmAINoALiFcICChAAGLADGNYEGEfCAggQIRigARjDBJgDAIgGAZAGCJIHBjEuMi4xMKAHo06yBwYwLjIuMTC4B9gVwgcGMC4xLjEyyAc4gAgA&amp;sclient=gws-wiz-serp&amp;mstk=AUtExfBIZP-r2cfZYba0f25qCIHi01ZHaLqYmbkPsLpV5nmUc6iOC7wOy5hXkIDIguB7xAKx8O31el2UpfcA_bN0rVD_W0lQPfzod8A1qvpuFhxHRspKQpyas2m-zvKggqeHFEfHKucYia6mKBqwuXs2BVI1IjTLc85VsYM9I8HJ4MA0rnWqGGcTEwBPTYiexA27PhYvaX2752dRD0yvwk2kBGtOn4R9tZPIym5_JNiyiI15s-dvjB5CGTzq2EUme_IaBVObY289WHwJ9KJHPqz6zSj2&amp;csui=3" TargetMode="Externa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eeksforgeeks.org/machine-learning/ml-machine-learning/" TargetMode="Externa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eeksforgeeks.org/nlp/lesk-algorithm-in-nlp-python/" TargetMode="External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eeksforgeeks.org/machine-learning/ml-machine-learning/" TargetMode="External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35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8911" y="1536319"/>
            <a:ext cx="7194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Course</a:t>
            </a:r>
            <a:r>
              <a:rPr dirty="0" sz="2400" spc="-9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Title</a:t>
            </a:r>
            <a:r>
              <a:rPr dirty="0" sz="2400" spc="-85">
                <a:solidFill>
                  <a:srgbClr val="FFFFFF"/>
                </a:solidFill>
              </a:rPr>
              <a:t> </a:t>
            </a:r>
            <a:r>
              <a:rPr dirty="0" sz="2400" spc="625">
                <a:solidFill>
                  <a:srgbClr val="FFFFFF"/>
                </a:solidFill>
              </a:rPr>
              <a:t>–</a:t>
            </a:r>
            <a:r>
              <a:rPr dirty="0" sz="2400" spc="-30">
                <a:solidFill>
                  <a:srgbClr val="FFFFFF"/>
                </a:solidFill>
              </a:rPr>
              <a:t>NATURAL</a:t>
            </a:r>
            <a:r>
              <a:rPr dirty="0" sz="2400" spc="-114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LANGUAGE</a:t>
            </a:r>
            <a:r>
              <a:rPr dirty="0" sz="2400" spc="-6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PROCESSING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38911" y="2287905"/>
            <a:ext cx="6284595" cy="185483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 sz="3200" spc="-60">
                <a:solidFill>
                  <a:srgbClr val="FFFFFF"/>
                </a:solidFill>
                <a:latin typeface="Microsoft Sans Serif"/>
                <a:cs typeface="Microsoft Sans Serif"/>
              </a:rPr>
              <a:t>Topic</a:t>
            </a:r>
            <a:r>
              <a:rPr dirty="0" sz="3200" spc="-1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FFFFFF"/>
                </a:solidFill>
                <a:latin typeface="Microsoft Sans Serif"/>
                <a:cs typeface="Microsoft Sans Serif"/>
              </a:rPr>
              <a:t>Title:</a:t>
            </a:r>
            <a:r>
              <a:rPr dirty="0" sz="3200" spc="-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Microsoft Sans Serif"/>
                <a:cs typeface="Microsoft Sans Serif"/>
              </a:rPr>
              <a:t>NATURAL</a:t>
            </a:r>
            <a:r>
              <a:rPr dirty="0" sz="3200" spc="-1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Microsoft Sans Serif"/>
                <a:cs typeface="Microsoft Sans Serif"/>
              </a:rPr>
              <a:t>LANGUAGE PROCESSING</a:t>
            </a:r>
            <a:endParaRPr sz="3200">
              <a:latin typeface="Microsoft Sans Serif"/>
              <a:cs typeface="Microsoft Sans Serif"/>
            </a:endParaRPr>
          </a:p>
          <a:p>
            <a:pPr marL="200660">
              <a:lnSpc>
                <a:spcPct val="100000"/>
              </a:lnSpc>
              <a:spcBef>
                <a:spcPts val="565"/>
              </a:spcBef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B.</a:t>
            </a:r>
            <a:r>
              <a:rPr dirty="0" sz="1800" spc="-1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Lakshmi</a:t>
            </a:r>
            <a:r>
              <a:rPr dirty="0" sz="1800" spc="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Prasanna</a:t>
            </a:r>
            <a:endParaRPr sz="1800">
              <a:latin typeface="Microsoft Sans Serif"/>
              <a:cs typeface="Microsoft Sans Serif"/>
            </a:endParaRPr>
          </a:p>
          <a:p>
            <a:pPr marL="200660" marR="320103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ID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IARE10706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8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7" y="4917440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542" rIns="0" bIns="0" rtlCol="0" vert="horz">
            <a:spAutoFit/>
          </a:bodyPr>
          <a:lstStyle/>
          <a:p>
            <a:pPr marL="19367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latin typeface="Times New Roman"/>
                <a:cs typeface="Times New Roman"/>
              </a:rPr>
              <a:t>Introduction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2923" y="1104087"/>
            <a:ext cx="8402955" cy="2521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20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25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Processing</a:t>
            </a:r>
            <a:r>
              <a:rPr dirty="0" sz="2100" spc="25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(NLP)</a:t>
            </a:r>
            <a:r>
              <a:rPr dirty="0" sz="2100" spc="15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20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20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field</a:t>
            </a:r>
            <a:r>
              <a:rPr dirty="0" sz="2100" spc="25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25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combines</a:t>
            </a:r>
            <a:r>
              <a:rPr dirty="0" sz="2100" spc="25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computer</a:t>
            </a:r>
            <a:endParaRPr sz="2100">
              <a:latin typeface="Times New Roman"/>
              <a:cs typeface="Times New Roman"/>
            </a:endParaRPr>
          </a:p>
          <a:p>
            <a:pPr algn="just"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science,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artificial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intelligence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studies.</a:t>
            </a:r>
            <a:endParaRPr sz="2100">
              <a:latin typeface="Times New Roman"/>
              <a:cs typeface="Times New Roman"/>
            </a:endParaRPr>
          </a:p>
          <a:p>
            <a:pPr algn="just" marL="247015" indent="-23431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24701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computers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understand,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process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create human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 in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way</a:t>
            </a:r>
            <a:endParaRPr sz="2100">
              <a:latin typeface="Times New Roman"/>
              <a:cs typeface="Times New Roman"/>
            </a:endParaRPr>
          </a:p>
          <a:p>
            <a:pPr algn="just"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makes</a:t>
            </a:r>
            <a:r>
              <a:rPr dirty="0" sz="21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useful.</a:t>
            </a:r>
            <a:endParaRPr sz="2100">
              <a:latin typeface="Times New Roman"/>
              <a:cs typeface="Times New Roman"/>
            </a:endParaRPr>
          </a:p>
          <a:p>
            <a:pPr algn="just"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1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growing</a:t>
            </a:r>
            <a:r>
              <a:rPr dirty="0" sz="2100" spc="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amount</a:t>
            </a:r>
            <a:r>
              <a:rPr dirty="0" sz="2100" spc="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 text</a:t>
            </a:r>
            <a:r>
              <a:rPr dirty="0" sz="2100" spc="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data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social</a:t>
            </a:r>
            <a:r>
              <a:rPr dirty="0" sz="2100" spc="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media,</a:t>
            </a:r>
            <a:r>
              <a:rPr dirty="0" sz="2100" spc="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websites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other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sources,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NLP</a:t>
            </a:r>
            <a:r>
              <a:rPr dirty="0" sz="2100" spc="-10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becoming a key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tool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gain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insights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automate tasks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like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analyzing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translating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languages..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592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003B6E"/>
                </a:solidFill>
                <a:latin typeface="Times New Roman"/>
                <a:cs typeface="Times New Roman"/>
              </a:rPr>
              <a:t>Introduction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6020"/>
            <a:ext cx="7763509" cy="252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7005" marR="61785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670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NLP</a:t>
            </a:r>
            <a:r>
              <a:rPr dirty="0" sz="2100" spc="-1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by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many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applications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language,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endParaRPr sz="2100">
              <a:latin typeface="Times New Roman"/>
              <a:cs typeface="Times New Roman"/>
            </a:endParaRPr>
          </a:p>
          <a:p>
            <a:pPr algn="ctr" marR="60579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translation,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voice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recognition,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summarization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chatbots.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may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have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some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applications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yourself,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voice-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operated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GPS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systems,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digital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assistants,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speech-to-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software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customer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service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bots.</a:t>
            </a:r>
            <a:endParaRPr sz="2100">
              <a:latin typeface="Times New Roman"/>
              <a:cs typeface="Times New Roman"/>
            </a:endParaRPr>
          </a:p>
          <a:p>
            <a:pPr marL="180340" marR="24511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NLP</a:t>
            </a:r>
            <a:r>
              <a:rPr dirty="0" sz="2100" spc="-114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also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businesses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improve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their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efficiency,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productivity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performance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by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simplifying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complex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tasks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involve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language.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592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003B6E"/>
                </a:solidFill>
                <a:latin typeface="Times New Roman"/>
                <a:cs typeface="Times New Roman"/>
              </a:rPr>
              <a:t>Introduction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6133" y="1196339"/>
            <a:ext cx="4046814" cy="3413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129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3B6E"/>
                </a:solidFill>
                <a:latin typeface="Times New Roman"/>
                <a:cs typeface="Times New Roman"/>
              </a:rPr>
              <a:t>Applications</a:t>
            </a:r>
            <a:r>
              <a:rPr dirty="0" sz="3200" spc="-7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3B6E"/>
                </a:solidFill>
                <a:latin typeface="Times New Roman"/>
                <a:cs typeface="Times New Roman"/>
              </a:rPr>
              <a:t>or</a:t>
            </a:r>
            <a:r>
              <a:rPr dirty="0" sz="3200" spc="-2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3B6E"/>
                </a:solidFill>
                <a:latin typeface="Times New Roman"/>
                <a:cs typeface="Times New Roman"/>
              </a:rPr>
              <a:t>Use</a:t>
            </a:r>
            <a:r>
              <a:rPr dirty="0" sz="3200" spc="-2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3B6E"/>
                </a:solidFill>
                <a:latin typeface="Times New Roman"/>
                <a:cs typeface="Times New Roman"/>
              </a:rPr>
              <a:t>cases</a:t>
            </a:r>
            <a:r>
              <a:rPr dirty="0" sz="3200" spc="-2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3200" spc="-25">
                <a:solidFill>
                  <a:srgbClr val="003B6E"/>
                </a:solidFill>
                <a:latin typeface="Times New Roman"/>
                <a:cs typeface="Times New Roman"/>
              </a:rPr>
              <a:t> NLP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317865" cy="23272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just"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1.</a:t>
            </a:r>
            <a:r>
              <a:rPr dirty="0" sz="2100" spc="-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Chatbots:</a:t>
            </a:r>
            <a:endParaRPr sz="2100">
              <a:latin typeface="Times New Roman"/>
              <a:cs typeface="Times New Roman"/>
            </a:endParaRPr>
          </a:p>
          <a:p>
            <a:pPr algn="just"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Chatbots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form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artificial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intelligence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programmed to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interact</a:t>
            </a:r>
            <a:endParaRPr sz="2100">
              <a:latin typeface="Times New Roman"/>
              <a:cs typeface="Times New Roman"/>
            </a:endParaRPr>
          </a:p>
          <a:p>
            <a:pPr algn="just"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humans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way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they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sound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humans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themselves.</a:t>
            </a:r>
            <a:endParaRPr sz="2100">
              <a:latin typeface="Times New Roman"/>
              <a:cs typeface="Times New Roman"/>
            </a:endParaRPr>
          </a:p>
          <a:p>
            <a:pPr algn="just" marL="180340" marR="187960" indent="-167640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180340" algn="l"/>
                <a:tab pos="247015" algn="l"/>
              </a:tabLst>
            </a:pPr>
            <a:r>
              <a:rPr dirty="0" sz="210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Depending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complexity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chatbots,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they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either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just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respond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specific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keywords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they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even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hold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full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conversations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make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it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tough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distinguish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them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humans.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714" rIns="0" bIns="0" rtlCol="0" vert="horz">
            <a:spAutoFit/>
          </a:bodyPr>
          <a:lstStyle/>
          <a:p>
            <a:pPr marL="1917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cases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174" y="1049977"/>
            <a:ext cx="8281670" cy="264731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2.</a:t>
            </a:r>
            <a:r>
              <a:rPr dirty="0" sz="2100" spc="-1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Autocomplete</a:t>
            </a:r>
            <a:r>
              <a:rPr dirty="0" sz="2100" spc="-7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5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Search</a:t>
            </a:r>
            <a:r>
              <a:rPr dirty="0" sz="2100" spc="-4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Engines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Have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noticed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search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engines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tend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guess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what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typing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automatically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complete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your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sentences?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example,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typing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“game”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in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Google,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may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get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further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suggestions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“game of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thrones”,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“game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of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life”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if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interested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maths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then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“game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theory”.</a:t>
            </a:r>
            <a:endParaRPr sz="2100">
              <a:latin typeface="Times New Roman"/>
              <a:cs typeface="Times New Roman"/>
            </a:endParaRPr>
          </a:p>
          <a:p>
            <a:pPr marL="180340" marR="406400" indent="-167640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suggestions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provided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using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autocomplete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Natural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Processing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guess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what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want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ask.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714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Applications</a:t>
            </a:r>
            <a:r>
              <a:rPr dirty="0" sz="2400" spc="-7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or</a:t>
            </a:r>
            <a:r>
              <a:rPr dirty="0" sz="2400" spc="-2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Use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cases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2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264525" cy="296735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3.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 b="1">
                <a:solidFill>
                  <a:srgbClr val="525252"/>
                </a:solidFill>
                <a:latin typeface="Times New Roman"/>
                <a:cs typeface="Times New Roman"/>
              </a:rPr>
              <a:t>Voice</a:t>
            </a:r>
            <a:r>
              <a:rPr dirty="0" sz="2100" spc="-10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Assistants</a:t>
            </a:r>
            <a:endParaRPr sz="2100">
              <a:latin typeface="Times New Roman"/>
              <a:cs typeface="Times New Roman"/>
            </a:endParaRPr>
          </a:p>
          <a:p>
            <a:pPr marL="180340" marR="31496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days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voice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assistants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all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rage!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Whether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Siri,</a:t>
            </a:r>
            <a:r>
              <a:rPr dirty="0" sz="2100" spc="-1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Alexa,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or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Google</a:t>
            </a:r>
            <a:r>
              <a:rPr dirty="0" sz="2100" spc="-1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Assistant,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almost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everyone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make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calls,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place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reminders,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schedule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meetings,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alarms,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surf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internet,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etc.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80340" algn="l"/>
                <a:tab pos="242570" algn="l"/>
              </a:tabLst>
            </a:pPr>
            <a:r>
              <a:rPr dirty="0" sz="210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voice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assistants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have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made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life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much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easier.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But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how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do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they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work?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complex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combination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speech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recognition,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language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understanding,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processing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what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humans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saying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act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it.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4310" rIns="0" bIns="0" rtlCol="0" vert="horz">
            <a:spAutoFit/>
          </a:bodyPr>
          <a:lstStyle/>
          <a:p>
            <a:pPr marL="18415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Applications</a:t>
            </a:r>
            <a:r>
              <a:rPr dirty="0" sz="2400" spc="-6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or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Use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cases</a:t>
            </a:r>
            <a:r>
              <a:rPr dirty="0" sz="2400" spc="-3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361045" cy="23272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4.</a:t>
            </a:r>
            <a:r>
              <a:rPr dirty="0" sz="2100" spc="-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7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Translator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Want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translate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English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Hindi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but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don’t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know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Hindi?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Well,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Google</a:t>
            </a:r>
            <a:r>
              <a:rPr dirty="0" sz="2100" spc="-9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Translate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tool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you!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While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it’s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exactly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100%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accurate,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it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still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great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tool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convert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another.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Google</a:t>
            </a:r>
            <a:r>
              <a:rPr dirty="0" sz="2100" spc="-8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Translate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other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translation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tools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well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Sequence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sequence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modeling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technique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Processing.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936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Applications</a:t>
            </a:r>
            <a:r>
              <a:rPr dirty="0" sz="2400" spc="-6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or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Use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cases</a:t>
            </a:r>
            <a:r>
              <a:rPr dirty="0" sz="2400" spc="-3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169275" cy="264731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just"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5.</a:t>
            </a:r>
            <a:r>
              <a:rPr dirty="0" sz="2100" spc="1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Sentiment</a:t>
            </a:r>
            <a:r>
              <a:rPr dirty="0" sz="2100" spc="-11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algn="just" marL="180340" marR="37465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Almost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all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world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social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media these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days!</a:t>
            </a:r>
            <a:r>
              <a:rPr dirty="0" sz="2100" spc="-1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companies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can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u="sng" sz="21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sentiment</a:t>
            </a:r>
            <a:r>
              <a:rPr dirty="0" u="sng" sz="2100" spc="-15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analysis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how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particular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type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user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feels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about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particular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topic,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product,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etc.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80340" algn="l"/>
                <a:tab pos="242570" algn="l"/>
              </a:tabLst>
            </a:pPr>
            <a:r>
              <a:rPr dirty="0" sz="210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They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processing,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computational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linguistics,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text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analysis,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etc.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general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sentiment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users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their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products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services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find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out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if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sentiment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good,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bad,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neutral.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714" rIns="0" bIns="0" rtlCol="0" vert="horz">
            <a:spAutoFit/>
          </a:bodyPr>
          <a:lstStyle/>
          <a:p>
            <a:pPr marL="1917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cases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844" y="1196339"/>
            <a:ext cx="6397752" cy="3413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594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Components</a:t>
            </a:r>
            <a:r>
              <a:rPr dirty="0" sz="2400" spc="-2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1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159750" cy="251904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There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following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two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components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NLP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–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5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(NLU)</a:t>
            </a:r>
            <a:endParaRPr sz="2100">
              <a:latin typeface="Times New Roman"/>
              <a:cs typeface="Times New Roman"/>
            </a:endParaRPr>
          </a:p>
          <a:p>
            <a:pPr marL="180340" marR="508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(NLU)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machine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understand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analyse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human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by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extracting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metadata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content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such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concepts,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entities,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keywords,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emotion,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relations,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semantic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roles.</a:t>
            </a:r>
            <a:endParaRPr sz="2100">
              <a:latin typeface="Times New Roman"/>
              <a:cs typeface="Times New Roman"/>
            </a:endParaRPr>
          </a:p>
          <a:p>
            <a:pPr marL="180340" marR="27940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NLU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mainly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Business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applications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customer’s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problem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both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spoken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written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language.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0497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Components</a:t>
            </a:r>
            <a:r>
              <a:rPr dirty="0" sz="2400" spc="-2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1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141334" cy="277368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NLU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involves</a:t>
            </a:r>
            <a:r>
              <a:rPr dirty="0" sz="2100" spc="-4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1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following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tasks</a:t>
            </a: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 b="1">
                <a:solidFill>
                  <a:srgbClr val="525252"/>
                </a:solidFill>
                <a:latin typeface="Times New Roman"/>
                <a:cs typeface="Times New Roman"/>
              </a:rPr>
              <a:t>–</a:t>
            </a:r>
            <a:endParaRPr sz="2100">
              <a:latin typeface="Times New Roman"/>
              <a:cs typeface="Times New Roman"/>
            </a:endParaRPr>
          </a:p>
          <a:p>
            <a:pPr lvl="1" marL="470534" indent="-22796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Microsoft Sans Serif"/>
              <a:buChar char="•"/>
              <a:tabLst>
                <a:tab pos="470534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used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map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given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input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useful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representation.</a:t>
            </a:r>
            <a:endParaRPr sz="2100">
              <a:latin typeface="Times New Roman"/>
              <a:cs typeface="Times New Roman"/>
            </a:endParaRPr>
          </a:p>
          <a:p>
            <a:pPr lvl="1" marL="470534" indent="-22796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Microsoft Sans Serif"/>
              <a:buChar char="•"/>
              <a:tabLst>
                <a:tab pos="470534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analyze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different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aspects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language.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6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Generation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(NLG)</a:t>
            </a:r>
            <a:endParaRPr sz="2100">
              <a:latin typeface="Times New Roman"/>
              <a:cs typeface="Times New Roman"/>
            </a:endParaRPr>
          </a:p>
          <a:p>
            <a:pPr marL="180340" marR="508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Generation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(NLG)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acts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translator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converts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the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computerized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data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natural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representation.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mainly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involves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planning,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planning,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10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Realization.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6042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Components</a:t>
            </a:r>
            <a:r>
              <a:rPr dirty="0" sz="2400" spc="-2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1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45345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Difference</a:t>
            </a:r>
            <a:r>
              <a:rPr dirty="0" sz="2100" spc="-4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between</a:t>
            </a:r>
            <a:r>
              <a:rPr dirty="0" sz="2100" spc="-6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NLU</a:t>
            </a:r>
            <a:r>
              <a:rPr dirty="0" sz="21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dirty="0" sz="2100" spc="-1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525252"/>
                </a:solidFill>
                <a:latin typeface="Arial"/>
                <a:cs typeface="Arial"/>
              </a:rPr>
              <a:t>NLG:</a:t>
            </a:r>
            <a:endParaRPr sz="2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9228" y="2066798"/>
          <a:ext cx="7861934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/>
                <a:gridCol w="3886200"/>
              </a:tblGrid>
              <a:tr h="5861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014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NLU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59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093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14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NLG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59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093"/>
                    </a:solidFill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NLU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800" spc="-4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dirty="0" sz="1800" spc="-3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reading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interpreting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language.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0DC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NLG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800" spc="-4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dirty="0" sz="1800" spc="-3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writing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generating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language.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0DC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800" spc="-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produces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linguistic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outputs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from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dirty="0" sz="1800" spc="-1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800" spc="-1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inputs.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E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800" spc="-5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produces</a:t>
                      </a:r>
                      <a:r>
                        <a:rPr dirty="0" sz="1800" spc="-5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constructing</a:t>
                      </a:r>
                      <a:r>
                        <a:rPr dirty="0" sz="1800" spc="-5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dirty="0" sz="1800" spc="-5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language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outputs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800" spc="-2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non-linguistic</a:t>
                      </a:r>
                      <a:r>
                        <a:rPr dirty="0" sz="1800" spc="-25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005093"/>
                          </a:solidFill>
                          <a:latin typeface="Times New Roman"/>
                          <a:cs typeface="Times New Roman"/>
                        </a:rPr>
                        <a:t>inputs.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832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150225" cy="24536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1.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Lexical and</a:t>
            </a:r>
            <a:r>
              <a:rPr dirty="0" sz="2100" spc="-1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Morphological</a:t>
            </a:r>
            <a:r>
              <a:rPr dirty="0" sz="2100" spc="-1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Lexical</a:t>
            </a:r>
            <a:r>
              <a:rPr dirty="0" sz="2100" spc="-12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focuses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identifying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processing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lexemes)</a:t>
            </a:r>
            <a:r>
              <a:rPr dirty="0" sz="21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text.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It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breaks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down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input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individual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tokens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meaningful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units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phrases.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Key</a:t>
            </a: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tasks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Lexical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analysis: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37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6020"/>
            <a:ext cx="8214359" cy="2073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2100" spc="-1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Tokenization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Process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dividing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smaller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chunks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called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tokens.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example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"I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love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programming"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would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tokenized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into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["I",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"love",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"programming"].</a:t>
            </a:r>
            <a:endParaRPr sz="2100">
              <a:latin typeface="Times New Roman"/>
              <a:cs typeface="Times New Roman"/>
            </a:endParaRPr>
          </a:p>
          <a:p>
            <a:pPr marL="180340" marR="32766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2100" spc="-2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3"/>
              </a:rPr>
              <a:t>Part-</a:t>
            </a:r>
            <a:r>
              <a:rPr dirty="0" u="sng" sz="2100" spc="-1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3"/>
              </a:rPr>
              <a:t>of-</a:t>
            </a: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3"/>
              </a:rPr>
              <a:t>Speech</a:t>
            </a:r>
            <a:r>
              <a:rPr dirty="0" u="sng" sz="2100" spc="-5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2100" spc="-2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3"/>
              </a:rPr>
              <a:t>Tagging</a:t>
            </a: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Assigning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parts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speech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noun,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verb,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adjective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each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token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sentence.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This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understand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grammatical</a:t>
            </a:r>
            <a:r>
              <a:rPr dirty="0" sz="2100" spc="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roles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context.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129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7915275" cy="23272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Example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Consider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sentence: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"I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am reading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book."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Tokenization: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broken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down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individual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tokens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words: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["I",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"am",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"reading",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"a",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"book"]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Part-of-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Speech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Tagging: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Each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token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assigned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speech: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["I"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→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Pronoun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(PRP),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"am"</a:t>
            </a:r>
            <a:r>
              <a:rPr dirty="0" sz="21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→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Verb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(VBP),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"reading"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→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Verb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(VBG),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"a"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→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Article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(DT),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"book"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→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Noun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(NN)]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229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002270" cy="200660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Importance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Lexical</a:t>
            </a:r>
            <a:r>
              <a:rPr dirty="0" sz="2100" spc="-1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Identification: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breaks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tokens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system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individual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further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processing.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Simplification: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simplifies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through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tokenization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stemming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improves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accuracy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NLP</a:t>
            </a:r>
            <a:r>
              <a:rPr dirty="0" sz="2100" spc="-114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tasks.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034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364220" cy="1878964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Morphological</a:t>
            </a:r>
            <a:r>
              <a:rPr dirty="0" sz="2100" spc="-8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deals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morphemes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smallest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units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word.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important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structure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their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by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identifying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free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morphemes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(independent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"cat")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bound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morphemes (like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prefixes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suffixes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e.g.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"un-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"-ing").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12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250555" cy="366839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Key</a:t>
            </a:r>
            <a:r>
              <a:rPr dirty="0" sz="2100" spc="-1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tasks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morphological</a:t>
            </a:r>
            <a:r>
              <a:rPr dirty="0" sz="2100" spc="-5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analysis: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Stemming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Reducing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their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root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form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"running"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"run".</a:t>
            </a:r>
            <a:endParaRPr sz="2100">
              <a:latin typeface="Times New Roman"/>
              <a:cs typeface="Times New Roman"/>
            </a:endParaRPr>
          </a:p>
          <a:p>
            <a:pPr marL="180340" marR="87185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3"/>
              </a:rPr>
              <a:t>Lemmatization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Converting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their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base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dictionary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form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considering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"better"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becomes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"good".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Importance</a:t>
            </a:r>
            <a:r>
              <a:rPr dirty="0" sz="2100" spc="-1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 Morphological</a:t>
            </a:r>
            <a:r>
              <a:rPr dirty="0" sz="2100" spc="-1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80340" marR="208279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10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100" spc="-5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Structure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breaking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composition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of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complex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words.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Improving</a:t>
            </a:r>
            <a:r>
              <a:rPr dirty="0" sz="2100" spc="-14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Accuracy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enhances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accuracy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tasks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part-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of-speech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tagging,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syntactic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parsing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machine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translation.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12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285480" cy="296735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2.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 Syntactic</a:t>
            </a:r>
            <a:r>
              <a:rPr dirty="0" sz="2100" spc="-114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(Parsing)</a:t>
            </a:r>
            <a:endParaRPr sz="2100">
              <a:latin typeface="Times New Roman"/>
              <a:cs typeface="Times New Roman"/>
            </a:endParaRPr>
          </a:p>
          <a:p>
            <a:pPr marL="180340" marR="216535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Syntactic</a:t>
            </a:r>
            <a:r>
              <a:rPr dirty="0" sz="2100" spc="-1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how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are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arranged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according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grammar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rules.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ensures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follows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correct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grammar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makes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clearer.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goal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create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a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parse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tree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diagram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showing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structure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sentence.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5"/>
              </a:spcBef>
              <a:buFont typeface="Wingdings"/>
              <a:buChar char=""/>
              <a:tabLst>
                <a:tab pos="180340" algn="l"/>
                <a:tab pos="247015" algn="l"/>
              </a:tabLst>
            </a:pPr>
            <a:r>
              <a:rPr dirty="0" sz="210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breaks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subject,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verb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object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shows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how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connected.</a:t>
            </a:r>
            <a:r>
              <a:rPr dirty="0" sz="2100" spc="-9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This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machines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the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relationships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between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sentence.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714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307070" cy="379476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Key</a:t>
            </a: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components</a:t>
            </a:r>
            <a:r>
              <a:rPr dirty="0" sz="2100" spc="-5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syntactic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r>
              <a:rPr dirty="0" sz="2100" spc="-4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include: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POS</a:t>
            </a:r>
            <a:r>
              <a:rPr dirty="0" sz="2100" spc="-6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Tagging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1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Assigning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speech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(noun,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verb,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adjective)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in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discussed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earlier.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Ambiguity</a:t>
            </a:r>
            <a:r>
              <a:rPr dirty="0" sz="2100" spc="-5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Resolution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Handling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have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multiple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(e.g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"book"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can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noun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verb).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Examples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Consider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following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sentences: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Correct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Syntax: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"John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eats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apple."</a:t>
            </a:r>
            <a:endParaRPr sz="2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Incorrect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Syntax: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"Apple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eats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John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an."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3354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346440" cy="264731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3.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Semantic</a:t>
            </a:r>
            <a:r>
              <a:rPr dirty="0" sz="2100" spc="-11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80340" marR="125095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2100" spc="-1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Semantic</a:t>
            </a:r>
            <a:r>
              <a:rPr dirty="0" u="sng" sz="2100" spc="-11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Analysis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focuses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behind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sentences.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ensures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only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grammatically</a:t>
            </a:r>
            <a:r>
              <a:rPr dirty="0" sz="2100" spc="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correct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but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also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logically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coherent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contextually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relevant.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80340" algn="l"/>
                <a:tab pos="247015" algn="l"/>
              </a:tabLst>
            </a:pPr>
            <a:r>
              <a:rPr dirty="0" sz="210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aims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dictionary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definitions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their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usage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in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also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find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whether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arrangement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makes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logical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sense.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714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6020"/>
            <a:ext cx="8281034" cy="284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Key</a:t>
            </a:r>
            <a:r>
              <a:rPr dirty="0" sz="2100" spc="-7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Tasks</a:t>
            </a:r>
            <a:r>
              <a:rPr dirty="0" sz="2100" spc="-4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Semantic</a:t>
            </a:r>
            <a:r>
              <a:rPr dirty="0" sz="2100" spc="-1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10"/>
              </a:spcBef>
              <a:buClr>
                <a:srgbClr val="005093"/>
              </a:buClr>
              <a:buFont typeface="Wingdings"/>
              <a:buChar char=""/>
            </a:pP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Named</a:t>
            </a:r>
            <a:r>
              <a:rPr dirty="0" u="sng" sz="2100" spc="-5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Entity</a:t>
            </a:r>
            <a:r>
              <a:rPr dirty="0" u="sng" sz="2100" spc="-35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Recognition</a:t>
            </a:r>
            <a:r>
              <a:rPr dirty="0" u="sng" sz="2100" spc="-6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(NER)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identifies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classifies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entities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such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names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people,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locations,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organizations,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dates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more.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entities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provide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important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the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context.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example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"Tesla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announced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new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electric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vehicle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California,"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NER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would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identify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"Tesla"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organization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and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"California"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location.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699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6020"/>
            <a:ext cx="824865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Word</a:t>
            </a:r>
            <a:r>
              <a:rPr dirty="0" u="sng" sz="2100" spc="-3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Sense</a:t>
            </a:r>
            <a:r>
              <a:rPr dirty="0" u="sng" sz="2100" spc="-45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Disambiguation</a:t>
            </a:r>
            <a:r>
              <a:rPr dirty="0" u="sng" sz="2100" spc="-65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100" b="1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(WSD)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Many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have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multiple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meanings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depending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they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used.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identifies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the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correct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based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surrounding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text.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example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word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"bank"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refer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financial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institution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side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river.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uses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identify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applies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given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which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ensures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interpretation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accurate.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12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8"/>
            <a:ext cx="8362950" cy="252222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4. Discourse</a:t>
            </a:r>
            <a:r>
              <a:rPr dirty="0" sz="2100" spc="-10" b="1">
                <a:solidFill>
                  <a:srgbClr val="525252"/>
                </a:solidFill>
                <a:latin typeface="Arial"/>
                <a:cs typeface="Arial"/>
              </a:rPr>
              <a:t> Integration</a:t>
            </a:r>
            <a:endParaRPr sz="2100">
              <a:latin typeface="Arial"/>
              <a:cs typeface="Arial"/>
            </a:endParaRPr>
          </a:p>
          <a:p>
            <a:pPr marL="180340" marR="5080" indent="-167640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or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segments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text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connect 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relate to each other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within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broader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context.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phase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ensures that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consistent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coherent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across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paragraphs.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important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understanding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long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focuses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previous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statements.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4927" y="330834"/>
            <a:ext cx="165036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-12700" y="948428"/>
            <a:ext cx="8789670" cy="3608704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Key</a:t>
            </a: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aspects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discourse</a:t>
            </a:r>
            <a:r>
              <a:rPr dirty="0" sz="2100" spc="-4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integration: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Anaphora</a:t>
            </a:r>
            <a:r>
              <a:rPr dirty="0" sz="2100" spc="-4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Resolution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1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Anaphora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refers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pronouns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other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references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depend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earlier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text.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example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sentence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"Taylor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went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store.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She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bought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groceries"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pronoun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"She"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refers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back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to 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"Taylor."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ensures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references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correctly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understood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by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linking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them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their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antecedents.</a:t>
            </a:r>
            <a:endParaRPr sz="2100">
              <a:latin typeface="Times New Roman"/>
              <a:cs typeface="Times New Roman"/>
            </a:endParaRPr>
          </a:p>
          <a:p>
            <a:pPr algn="just" marL="180340" marR="27432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Contextual</a:t>
            </a:r>
            <a:r>
              <a:rPr dirty="0" sz="2100" spc="-3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References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Many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phrases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only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fully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understood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when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considered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following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sentences.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interpreting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how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certain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phrases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focuses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context.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example "It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was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great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day"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clearer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when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know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what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event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situation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being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discussed.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0139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49977"/>
            <a:ext cx="8322945" cy="309372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5.</a:t>
            </a:r>
            <a:r>
              <a:rPr dirty="0" sz="2100" spc="-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Pragmatic</a:t>
            </a:r>
            <a:r>
              <a:rPr dirty="0" sz="2100" spc="-1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180340" marR="5080" indent="-35560">
              <a:lnSpc>
                <a:spcPct val="100000"/>
              </a:lnSpc>
              <a:spcBef>
                <a:spcPts val="994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Pragmatic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helps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understanding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deeper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behind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words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sentences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by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looking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beyond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their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literal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meanings.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While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semantic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analysis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looks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at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direct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considers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speaker's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writer's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intentions,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tone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communication.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Key</a:t>
            </a:r>
            <a:r>
              <a:rPr dirty="0" sz="2100" spc="-1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tasks</a:t>
            </a:r>
            <a:r>
              <a:rPr dirty="0" sz="2100" spc="-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pragmatic</a:t>
            </a: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analysis: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Figurative</a:t>
            </a:r>
            <a:r>
              <a:rPr dirty="0" sz="2100" spc="-5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: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often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uses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idioms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metaphors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can’t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be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taken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literally.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12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274050" cy="252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37211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Understanding</a:t>
            </a:r>
            <a:r>
              <a:rPr dirty="0" sz="2100" spc="-5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Intentions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: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Sometimes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doesn’t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mean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what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says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literally.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example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someone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asks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"Can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you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pass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salt?"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it's not about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ability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but a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polite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request. It helps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true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intention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behind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expressions.</a:t>
            </a:r>
            <a:endParaRPr sz="2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50"/>
              </a:spcBef>
              <a:buClr>
                <a:srgbClr val="005093"/>
              </a:buClr>
              <a:buFont typeface="Wingdings"/>
              <a:buChar char=""/>
            </a:pP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"Hello!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What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time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it?"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here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 might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straightforward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request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for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current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time but it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could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also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concern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about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late.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12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Steps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in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NLP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" name="object 2" descr="Screenshot 2025-12-23 100039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44" y="1196339"/>
            <a:ext cx="7847076" cy="34137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0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Finding</a:t>
            </a:r>
            <a:r>
              <a:rPr dirty="0" sz="2400" spc="-4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the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Structure</a:t>
            </a:r>
            <a:r>
              <a:rPr dirty="0" sz="2400" spc="-6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7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Words:</a:t>
            </a:r>
            <a:r>
              <a:rPr dirty="0" sz="2400" spc="-6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Words</a:t>
            </a:r>
            <a:r>
              <a:rPr dirty="0" sz="2400" spc="-1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and</a:t>
            </a:r>
            <a:r>
              <a:rPr dirty="0" sz="2400" spc="-7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Their</a:t>
            </a:r>
            <a:r>
              <a:rPr dirty="0" sz="2400" spc="-5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Components.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6020"/>
            <a:ext cx="8330565" cy="3608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defined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most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smallest</a:t>
            </a:r>
            <a:r>
              <a:rPr dirty="0" sz="21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linguistic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units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can</a:t>
            </a:r>
            <a:endParaRPr sz="21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form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acomplete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utterance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by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themselves.</a:t>
            </a:r>
            <a:endParaRPr sz="2100">
              <a:latin typeface="Times New Roman"/>
              <a:cs typeface="Times New Roman"/>
            </a:endParaRPr>
          </a:p>
          <a:p>
            <a:pPr marL="180340" marR="518795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minimal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parts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deliver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aspects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them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are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called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morphemes.</a:t>
            </a:r>
            <a:endParaRPr sz="21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Tokens: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Suppose,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moment,</a:t>
            </a:r>
            <a:r>
              <a:rPr dirty="0" sz="2100" spc="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English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delimited</a:t>
            </a:r>
            <a:r>
              <a:rPr dirty="0" sz="21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only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by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whitespace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punctuation</a:t>
            </a:r>
            <a:r>
              <a:rPr dirty="0" sz="21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(the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marks,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full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stop,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comma,</a:t>
            </a:r>
            <a:r>
              <a:rPr dirty="0" sz="21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and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brackets)</a:t>
            </a:r>
            <a:endParaRPr sz="2100">
              <a:latin typeface="Times New Roman"/>
              <a:cs typeface="Times New Roman"/>
            </a:endParaRPr>
          </a:p>
          <a:p>
            <a:pPr algn="just" marL="180340" marR="62230" indent="-167640">
              <a:lnSpc>
                <a:spcPct val="100000"/>
              </a:lnSpc>
              <a:spcBef>
                <a:spcPts val="1000"/>
              </a:spcBef>
              <a:buFont typeface="Wingdings"/>
              <a:buChar char=""/>
              <a:tabLst>
                <a:tab pos="180340" algn="l"/>
                <a:tab pos="247015" algn="l"/>
              </a:tabLst>
            </a:pPr>
            <a:r>
              <a:rPr dirty="0" sz="210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Example: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Will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read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newspaper?</a:t>
            </a:r>
            <a:r>
              <a:rPr dirty="0" sz="2100" spc="-8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Will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you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read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it?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won’t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read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it.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If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confront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our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assumption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insights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syntax,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we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notice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twowords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here: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newspaper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won’t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0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Finding</a:t>
            </a:r>
            <a:r>
              <a:rPr dirty="0" sz="2400" spc="-4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the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Structure</a:t>
            </a:r>
            <a:r>
              <a:rPr dirty="0" sz="2400" spc="-6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of</a:t>
            </a:r>
            <a:r>
              <a:rPr dirty="0" sz="2400" spc="-7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30">
                <a:solidFill>
                  <a:srgbClr val="003B6E"/>
                </a:solidFill>
                <a:latin typeface="Times New Roman"/>
                <a:cs typeface="Times New Roman"/>
              </a:rPr>
              <a:t>Words:</a:t>
            </a:r>
            <a:r>
              <a:rPr dirty="0" sz="2400" spc="-6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3B6E"/>
                </a:solidFill>
                <a:latin typeface="Times New Roman"/>
                <a:cs typeface="Times New Roman"/>
              </a:rPr>
              <a:t>Words</a:t>
            </a:r>
            <a:r>
              <a:rPr dirty="0" sz="2400" spc="-1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and</a:t>
            </a:r>
            <a:r>
              <a:rPr dirty="0" sz="2400" spc="-75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3B6E"/>
                </a:solidFill>
                <a:latin typeface="Times New Roman"/>
                <a:cs typeface="Times New Roman"/>
              </a:rPr>
              <a:t>Their</a:t>
            </a:r>
            <a:r>
              <a:rPr dirty="0" sz="2400" spc="-50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Components.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230234" cy="252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114935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compound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newspaper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interesting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derivational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structure.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writing,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newspaper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associated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concept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is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distinguished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 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isolated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news 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paper.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won’t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could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parsed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followed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not.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English,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kind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tokenization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normalization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just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limited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set 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cases,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but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other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phenomena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have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treated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way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0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Lexemes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8355" y="3393059"/>
            <a:ext cx="399288" cy="2971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4953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By the term</a:t>
            </a:r>
            <a:r>
              <a:rPr dirty="0" spc="5"/>
              <a:t> </a:t>
            </a:r>
            <a:r>
              <a:rPr dirty="0"/>
              <a:t>word,</a:t>
            </a:r>
            <a:r>
              <a:rPr dirty="0" spc="5"/>
              <a:t> </a:t>
            </a:r>
            <a:r>
              <a:rPr dirty="0"/>
              <a:t>we</a:t>
            </a:r>
            <a:r>
              <a:rPr dirty="0" spc="-5"/>
              <a:t> </a:t>
            </a:r>
            <a:r>
              <a:rPr dirty="0"/>
              <a:t>often</a:t>
            </a:r>
            <a:r>
              <a:rPr dirty="0" spc="-15"/>
              <a:t> </a:t>
            </a:r>
            <a:r>
              <a:rPr dirty="0"/>
              <a:t>denote</a:t>
            </a:r>
            <a:r>
              <a:rPr dirty="0" spc="-10"/>
              <a:t> </a:t>
            </a:r>
            <a:r>
              <a:rPr dirty="0"/>
              <a:t>not</a:t>
            </a:r>
            <a:r>
              <a:rPr dirty="0" spc="5"/>
              <a:t> </a:t>
            </a:r>
            <a:r>
              <a:rPr dirty="0"/>
              <a:t>just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one</a:t>
            </a:r>
            <a:r>
              <a:rPr dirty="0" spc="-15"/>
              <a:t> </a:t>
            </a:r>
            <a:r>
              <a:rPr dirty="0"/>
              <a:t>linguistic</a:t>
            </a:r>
            <a:r>
              <a:rPr dirty="0" spc="-20"/>
              <a:t> </a:t>
            </a:r>
            <a:r>
              <a:rPr dirty="0"/>
              <a:t>form</a:t>
            </a:r>
            <a:r>
              <a:rPr dirty="0" spc="5"/>
              <a:t> </a:t>
            </a:r>
            <a:r>
              <a:rPr dirty="0" spc="-25"/>
              <a:t>in </a:t>
            </a:r>
            <a:r>
              <a:rPr dirty="0"/>
              <a:t>the given</a:t>
            </a:r>
            <a:r>
              <a:rPr dirty="0" spc="-10"/>
              <a:t> </a:t>
            </a:r>
            <a:r>
              <a:rPr dirty="0"/>
              <a:t>context</a:t>
            </a:r>
            <a:r>
              <a:rPr dirty="0" spc="10"/>
              <a:t> </a:t>
            </a:r>
            <a:r>
              <a:rPr dirty="0"/>
              <a:t>but</a:t>
            </a:r>
            <a:r>
              <a:rPr dirty="0" spc="5"/>
              <a:t> </a:t>
            </a:r>
            <a:r>
              <a:rPr dirty="0"/>
              <a:t>also</a:t>
            </a:r>
            <a:r>
              <a:rPr dirty="0" spc="5"/>
              <a:t> </a:t>
            </a:r>
            <a:r>
              <a:rPr dirty="0"/>
              <a:t>the concept</a:t>
            </a:r>
            <a:r>
              <a:rPr dirty="0" spc="-10"/>
              <a:t> </a:t>
            </a:r>
            <a:r>
              <a:rPr dirty="0"/>
              <a:t>behind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form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the set </a:t>
            </a:r>
            <a:r>
              <a:rPr dirty="0" spc="-25"/>
              <a:t>of </a:t>
            </a:r>
            <a:r>
              <a:rPr dirty="0"/>
              <a:t>alternative</a:t>
            </a:r>
            <a:r>
              <a:rPr dirty="0" spc="-20"/>
              <a:t> </a:t>
            </a:r>
            <a:r>
              <a:rPr dirty="0"/>
              <a:t>forms</a:t>
            </a:r>
            <a:r>
              <a:rPr dirty="0" spc="5"/>
              <a:t> </a:t>
            </a:r>
            <a:r>
              <a:rPr dirty="0"/>
              <a:t>that</a:t>
            </a:r>
            <a:r>
              <a:rPr dirty="0" spc="-10"/>
              <a:t> </a:t>
            </a:r>
            <a:r>
              <a:rPr dirty="0"/>
              <a:t>can</a:t>
            </a:r>
            <a:r>
              <a:rPr dirty="0" spc="-10"/>
              <a:t> </a:t>
            </a:r>
            <a:r>
              <a:rPr dirty="0"/>
              <a:t>express</a:t>
            </a:r>
            <a:r>
              <a:rPr dirty="0" spc="5"/>
              <a:t> </a:t>
            </a:r>
            <a:r>
              <a:rPr dirty="0" spc="-25"/>
              <a:t>it.</a:t>
            </a:r>
          </a:p>
          <a:p>
            <a:pPr marL="204470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/>
              <a:t>Such</a:t>
            </a:r>
            <a:r>
              <a:rPr dirty="0" spc="-10"/>
              <a:t> </a:t>
            </a:r>
            <a:r>
              <a:rPr dirty="0"/>
              <a:t>sets</a:t>
            </a:r>
            <a:r>
              <a:rPr dirty="0" spc="-5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called</a:t>
            </a:r>
            <a:r>
              <a:rPr dirty="0" spc="-25"/>
              <a:t> </a:t>
            </a:r>
            <a:r>
              <a:rPr dirty="0"/>
              <a:t>lexemes</a:t>
            </a:r>
            <a:r>
              <a:rPr dirty="0" spc="-5"/>
              <a:t> </a:t>
            </a:r>
            <a:r>
              <a:rPr dirty="0"/>
              <a:t>or</a:t>
            </a:r>
            <a:r>
              <a:rPr dirty="0" spc="-5"/>
              <a:t> </a:t>
            </a:r>
            <a:r>
              <a:rPr dirty="0"/>
              <a:t>lexical</a:t>
            </a:r>
            <a:r>
              <a:rPr dirty="0" spc="-30"/>
              <a:t> </a:t>
            </a:r>
            <a:r>
              <a:rPr dirty="0"/>
              <a:t>items,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they</a:t>
            </a:r>
            <a:r>
              <a:rPr dirty="0" spc="-5"/>
              <a:t> </a:t>
            </a:r>
            <a:r>
              <a:rPr dirty="0"/>
              <a:t>constitute</a:t>
            </a:r>
            <a:r>
              <a:rPr dirty="0" spc="-30"/>
              <a:t> </a:t>
            </a:r>
            <a:r>
              <a:rPr dirty="0" spc="-25"/>
              <a:t>the</a:t>
            </a:r>
          </a:p>
          <a:p>
            <a:pPr marL="205104">
              <a:lnSpc>
                <a:spcPct val="100000"/>
              </a:lnSpc>
            </a:pPr>
            <a:r>
              <a:rPr dirty="0"/>
              <a:t>lexicon of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10"/>
              <a:t>language.</a:t>
            </a:r>
          </a:p>
          <a:p>
            <a:pPr marL="205104" marR="9525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Lexemes</a:t>
            </a:r>
            <a:r>
              <a:rPr dirty="0" spc="-10"/>
              <a:t> </a:t>
            </a:r>
            <a:r>
              <a:rPr dirty="0"/>
              <a:t>can</a:t>
            </a:r>
            <a:r>
              <a:rPr dirty="0" spc="-10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/>
              <a:t>divided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5"/>
              <a:t> </a:t>
            </a:r>
            <a:r>
              <a:rPr dirty="0"/>
              <a:t>their</a:t>
            </a:r>
            <a:r>
              <a:rPr dirty="0" spc="-20"/>
              <a:t> </a:t>
            </a:r>
            <a:r>
              <a:rPr dirty="0"/>
              <a:t>behaviour</a:t>
            </a:r>
            <a:r>
              <a:rPr dirty="0" spc="-15"/>
              <a:t> </a:t>
            </a:r>
            <a:r>
              <a:rPr dirty="0"/>
              <a:t>into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lexical</a:t>
            </a:r>
            <a:r>
              <a:rPr dirty="0" spc="-35"/>
              <a:t> </a:t>
            </a:r>
            <a:r>
              <a:rPr dirty="0" spc="-10"/>
              <a:t>categories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verbs, nouns,</a:t>
            </a:r>
            <a:r>
              <a:rPr dirty="0" spc="-10"/>
              <a:t> </a:t>
            </a:r>
            <a:r>
              <a:rPr dirty="0"/>
              <a:t>adjectives,</a:t>
            </a:r>
            <a:r>
              <a:rPr dirty="0" spc="-5"/>
              <a:t> </a:t>
            </a:r>
            <a:r>
              <a:rPr dirty="0"/>
              <a:t>conjunctions</a:t>
            </a:r>
            <a:r>
              <a:rPr dirty="0" spc="-35"/>
              <a:t> </a:t>
            </a:r>
            <a:r>
              <a:rPr dirty="0"/>
              <a:t>or other</a:t>
            </a:r>
            <a:r>
              <a:rPr dirty="0" spc="-15"/>
              <a:t> </a:t>
            </a:r>
            <a:r>
              <a:rPr dirty="0"/>
              <a:t>parts of</a:t>
            </a:r>
            <a:r>
              <a:rPr dirty="0" spc="5"/>
              <a:t> </a:t>
            </a:r>
            <a:r>
              <a:rPr dirty="0" spc="-10"/>
              <a:t>speech.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citation</a:t>
            </a:r>
            <a:r>
              <a:rPr dirty="0" spc="-30"/>
              <a:t> </a:t>
            </a:r>
            <a:r>
              <a:rPr dirty="0"/>
              <a:t>form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a lexeme,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10"/>
              <a:t> </a:t>
            </a:r>
            <a:r>
              <a:rPr dirty="0"/>
              <a:t>which</a:t>
            </a:r>
            <a:r>
              <a:rPr dirty="0" spc="-10"/>
              <a:t> </a:t>
            </a:r>
            <a:r>
              <a:rPr dirty="0"/>
              <a:t>it is</a:t>
            </a:r>
            <a:r>
              <a:rPr dirty="0" spc="-5"/>
              <a:t> </a:t>
            </a:r>
            <a:r>
              <a:rPr dirty="0"/>
              <a:t>commonly</a:t>
            </a:r>
            <a:r>
              <a:rPr dirty="0" spc="-30"/>
              <a:t> </a:t>
            </a:r>
            <a:r>
              <a:rPr dirty="0"/>
              <a:t>identified,</a:t>
            </a:r>
            <a:r>
              <a:rPr dirty="0" spc="-30"/>
              <a:t> </a:t>
            </a:r>
            <a:r>
              <a:rPr dirty="0" spc="-25"/>
              <a:t>is </a:t>
            </a:r>
            <a:r>
              <a:rPr dirty="0"/>
              <a:t>also</a:t>
            </a:r>
            <a:r>
              <a:rPr dirty="0" spc="-25"/>
              <a:t> </a:t>
            </a:r>
            <a:r>
              <a:rPr dirty="0"/>
              <a:t>called</a:t>
            </a:r>
            <a:r>
              <a:rPr dirty="0" spc="-40"/>
              <a:t> </a:t>
            </a:r>
            <a:r>
              <a:rPr dirty="0"/>
              <a:t>its</a:t>
            </a:r>
            <a:r>
              <a:rPr dirty="0" spc="-15"/>
              <a:t> </a:t>
            </a:r>
            <a:r>
              <a:rPr dirty="0" spc="-10"/>
              <a:t>lemma.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20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04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3B6E"/>
                </a:solidFill>
                <a:latin typeface="Times New Roman"/>
                <a:cs typeface="Times New Roman"/>
              </a:rPr>
              <a:t>Lexemes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0658" y="2946526"/>
            <a:ext cx="399288" cy="2971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0174" y="1177544"/>
            <a:ext cx="8230234" cy="303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we convert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 its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other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forms,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 as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turning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singular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mouse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 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plural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mice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mouses,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say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we inflect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lexeme.</a:t>
            </a:r>
            <a:endParaRPr sz="2100">
              <a:latin typeface="Microsoft Sans Serif"/>
              <a:cs typeface="Microsoft Sans Serif"/>
            </a:endParaRPr>
          </a:p>
          <a:p>
            <a:pPr marL="180340" marR="6223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  <a:tab pos="612013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Example: Did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you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him?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didn’t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him.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didn’t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anyone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Example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presents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problem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tokenization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didn’t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investigation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internal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anyone.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	The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difficulty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with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definition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what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counts as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problem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for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description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if we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 as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two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closely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connected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tokens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treated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fixed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element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155" rIns="0" bIns="0" rtlCol="0" vert="horz">
            <a:spAutoFit/>
          </a:bodyPr>
          <a:lstStyle/>
          <a:p>
            <a:pPr marL="48895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Times New Roman"/>
                <a:cs typeface="Times New Roman"/>
              </a:rPr>
              <a:t>Morphemes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&amp;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Morphology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016875" cy="264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ts val="2515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components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 usually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called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segments or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morphs.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ts val="2515"/>
              </a:lnSpc>
            </a:pP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Morphology:</a:t>
            </a:r>
            <a:endParaRPr sz="2100">
              <a:latin typeface="Times New Roman"/>
              <a:cs typeface="Times New Roman"/>
            </a:endParaRPr>
          </a:p>
          <a:p>
            <a:pPr marL="180340" marR="147320" indent="-167640">
              <a:lnSpc>
                <a:spcPct val="100000"/>
              </a:lnSpc>
              <a:spcBef>
                <a:spcPts val="1019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domain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linguistics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 analyses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internal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2100">
              <a:latin typeface="Microsoft Sans Serif"/>
              <a:cs typeface="Microsoft Sans Serif"/>
            </a:endParaRPr>
          </a:p>
          <a:p>
            <a:pPr marL="254635" indent="-24193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25463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Morphological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550">
                <a:solidFill>
                  <a:srgbClr val="525252"/>
                </a:solidFill>
                <a:latin typeface="Microsoft Sans Serif"/>
                <a:cs typeface="Microsoft Sans Serif"/>
              </a:rPr>
              <a:t>–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exploring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built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up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minimal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elements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called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morphemes: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played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=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play-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ed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cats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=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cat-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unfriendly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=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un-friend-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ly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155" rIns="0" bIns="0" rtlCol="0" vert="horz">
            <a:spAutoFit/>
          </a:bodyPr>
          <a:lstStyle/>
          <a:p>
            <a:pPr marL="48895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Times New Roman"/>
                <a:cs typeface="Times New Roman"/>
              </a:rPr>
              <a:t>ProblemsMorphological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Processing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271509" cy="2327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Inflectional</a:t>
            </a:r>
            <a:r>
              <a:rPr dirty="0" sz="2100" spc="-4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morphology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: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inflected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constructed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base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forms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inflectional</a:t>
            </a:r>
            <a:r>
              <a:rPr dirty="0" sz="2100" spc="-1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Affixes.</a:t>
            </a:r>
            <a:endParaRPr sz="2100">
              <a:latin typeface="Microsoft Sans Serif"/>
              <a:cs typeface="Microsoft Sans Serif"/>
            </a:endParaRPr>
          </a:p>
          <a:p>
            <a:pPr marL="180340" marR="166370" indent="-16764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Inflection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relates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same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Lemma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Singular Plural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Cat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Cats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Mouse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mouse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mice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155" rIns="0" bIns="0" rtlCol="0" vert="horz">
            <a:spAutoFit/>
          </a:bodyPr>
          <a:lstStyle/>
          <a:p>
            <a:pPr marL="48895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Times New Roman"/>
                <a:cs typeface="Times New Roman"/>
              </a:rPr>
              <a:t>ProblemsMorphological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Processing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065770" cy="341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Derivational</a:t>
            </a:r>
            <a:r>
              <a:rPr dirty="0" sz="21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morphology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: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 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constructed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 roots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(or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stems)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derivational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affixes: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inter+national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=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international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international+ize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=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internationalize</a:t>
            </a:r>
            <a:endParaRPr sz="2100">
              <a:latin typeface="Microsoft Sans Serif"/>
              <a:cs typeface="Microsoft Sans Serif"/>
            </a:endParaRPr>
          </a:p>
          <a:p>
            <a:pPr marL="254635" indent="-24193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25463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internationalize+ation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=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internationalization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simplest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morphological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concatenates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by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disagreement-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s, where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agree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free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morpheme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other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elements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bound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morphemes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contributing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some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partial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whole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325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003B6E"/>
                </a:solidFill>
                <a:latin typeface="Times New Roman"/>
                <a:cs typeface="Times New Roman"/>
              </a:rPr>
              <a:t>Typology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114665" cy="220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Typology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divides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groups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characterizing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prevalent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morphological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phenomena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those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languages.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consider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various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criteria, 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during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history of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linguistics,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classifications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have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been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proposed.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outline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typology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quantitative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relations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between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morphemes,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features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562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25252"/>
                </a:solidFill>
                <a:latin typeface="Times New Roman"/>
                <a:cs typeface="Times New Roman"/>
              </a:rPr>
              <a:t>Typology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351520" cy="3161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Isolating,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analytic,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include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relatively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few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would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comprise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(typical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members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are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Chinese,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Vietnamese,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Thai;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analytic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tendencies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also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found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in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English).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Synthetic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combine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further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divided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agglutinative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fusional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languages.</a:t>
            </a:r>
            <a:endParaRPr sz="2100">
              <a:latin typeface="Microsoft Sans Serif"/>
              <a:cs typeface="Microsoft Sans Serif"/>
            </a:endParaRPr>
          </a:p>
          <a:p>
            <a:pPr marL="180340" marR="41275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Agglutinative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have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associated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only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a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single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function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time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(as in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Korean, Japanese,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Finnish,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Tamil, etc.)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9847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25252"/>
                </a:solidFill>
                <a:latin typeface="Times New Roman"/>
                <a:cs typeface="Times New Roman"/>
              </a:rPr>
              <a:t>Typology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7544"/>
            <a:ext cx="8181340" cy="252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67005" marR="5080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670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Fusional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defined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feature-per-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ratio</a:t>
            </a:r>
            <a:endParaRPr sz="2100">
              <a:latin typeface="Microsoft Sans Serif"/>
              <a:cs typeface="Microsoft Sans Serif"/>
            </a:endParaRPr>
          </a:p>
          <a:p>
            <a:pPr algn="r" marR="1143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higher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(as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Arabic,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Czech,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Latin,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Sanskrit,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German,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etc.).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50673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accordance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notions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about word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formation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processes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mentioned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earlier,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also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out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concatenative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nonlinear: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5715" indent="-167640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Concatenative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linking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after another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602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3B6E"/>
                </a:solidFill>
                <a:latin typeface="Times New Roman"/>
                <a:cs typeface="Times New Roman"/>
              </a:rPr>
              <a:t>Morphological</a:t>
            </a:r>
            <a:r>
              <a:rPr dirty="0" sz="2400" spc="-75" b="1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003B6E"/>
                </a:solidFill>
                <a:latin typeface="Times New Roman"/>
                <a:cs typeface="Times New Roman"/>
              </a:rPr>
              <a:t>Typology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4470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>
                <a:latin typeface="Times New Roman"/>
                <a:cs typeface="Times New Roman"/>
              </a:rPr>
              <a:t>Morphological</a:t>
            </a:r>
            <a:r>
              <a:rPr dirty="0" spc="-6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typology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way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classifying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languages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world</a:t>
            </a:r>
          </a:p>
          <a:p>
            <a:pPr marL="205104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that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groups</a:t>
            </a:r>
            <a:r>
              <a:rPr dirty="0" spc="-6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languages</a:t>
            </a:r>
            <a:r>
              <a:rPr dirty="0" spc="-6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according</a:t>
            </a:r>
            <a:r>
              <a:rPr dirty="0" spc="-6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their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common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morphological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structures.</a:t>
            </a:r>
          </a:p>
          <a:p>
            <a:pPr marL="205104" marR="394970" indent="-167640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205740" algn="l"/>
                <a:tab pos="267970" algn="l"/>
              </a:tabLst>
            </a:pPr>
            <a:r>
              <a:rPr dirty="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field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organizes</a:t>
            </a:r>
            <a:r>
              <a:rPr dirty="0" spc="-5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languages</a:t>
            </a:r>
            <a:r>
              <a:rPr dirty="0" spc="-5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basis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how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those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languages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 spc="-20">
                <a:latin typeface="Times New Roman"/>
                <a:cs typeface="Times New Roman"/>
              </a:rPr>
              <a:t>form </a:t>
            </a:r>
            <a:r>
              <a:rPr dirty="0">
                <a:latin typeface="Times New Roman"/>
                <a:cs typeface="Times New Roman"/>
              </a:rPr>
              <a:t>words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by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combining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morphemes.</a:t>
            </a:r>
          </a:p>
          <a:p>
            <a:pPr marL="204470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morphological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typology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classifies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languages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into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two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broad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classes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 spc="-20">
                <a:latin typeface="Times New Roman"/>
                <a:cs typeface="Times New Roman"/>
              </a:rPr>
              <a:t>like</a:t>
            </a:r>
          </a:p>
          <a:p>
            <a:pPr marL="205104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synthetic</a:t>
            </a:r>
            <a:r>
              <a:rPr dirty="0" spc="-5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languages</a:t>
            </a:r>
            <a:r>
              <a:rPr dirty="0" spc="-6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analytical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languages.</a:t>
            </a:r>
          </a:p>
          <a:p>
            <a:pPr marL="204470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synthetic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class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then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further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sub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classified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dirty="0" spc="-3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either</a:t>
            </a:r>
            <a:r>
              <a:rPr dirty="0" spc="-4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agglutinative</a:t>
            </a:r>
          </a:p>
          <a:p>
            <a:pPr marL="205104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languages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fusional</a:t>
            </a:r>
            <a:r>
              <a:rPr dirty="0" spc="-2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languages.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5391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3B6E"/>
                </a:solidFill>
                <a:latin typeface="Times New Roman"/>
                <a:cs typeface="Times New Roman"/>
              </a:rPr>
              <a:t>Morphological</a:t>
            </a:r>
            <a:r>
              <a:rPr dirty="0" sz="2400" spc="-60" b="1">
                <a:solidFill>
                  <a:srgbClr val="003B6E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003B6E"/>
                </a:solidFill>
                <a:latin typeface="Times New Roman"/>
                <a:cs typeface="Times New Roman"/>
              </a:rPr>
              <a:t>Typology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6020"/>
            <a:ext cx="8248015" cy="252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Analytic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languages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contain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very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little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inflection,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instead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relying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features</a:t>
            </a:r>
            <a:endParaRPr sz="2100">
              <a:latin typeface="Times New Roman"/>
              <a:cs typeface="Times New Roman"/>
            </a:endParaRPr>
          </a:p>
          <a:p>
            <a:pPr algn="just"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order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auxiliary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convey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meaning.</a:t>
            </a:r>
            <a:endParaRPr sz="2100">
              <a:latin typeface="Times New Roman"/>
              <a:cs typeface="Times New Roman"/>
            </a:endParaRPr>
          </a:p>
          <a:p>
            <a:pPr algn="just" marL="180340" marR="768985" indent="-167640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180340" algn="l"/>
                <a:tab pos="247015" algn="l"/>
              </a:tabLst>
            </a:pPr>
            <a:r>
              <a:rPr dirty="0" sz="2100">
                <a:solidFill>
                  <a:srgbClr val="005093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Synthetic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languages,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ones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not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analytic,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divided</a:t>
            </a:r>
            <a:r>
              <a:rPr dirty="0" sz="21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two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categories: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agglutinative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fusional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languages.</a:t>
            </a:r>
            <a:endParaRPr sz="2100">
              <a:latin typeface="Times New Roman"/>
              <a:cs typeface="Times New Roman"/>
            </a:endParaRPr>
          </a:p>
          <a:p>
            <a:pPr algn="just" marL="180340" marR="61849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Agglutinative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languages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rely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primarily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discrete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particles(prefixes,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suffixes,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infixes)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inflection,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ex: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inter+national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=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international,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international+ize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=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internationalize.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4229" y="2344927"/>
            <a:ext cx="2190750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1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3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75" b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3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1425"/>
              </a:lnSpc>
            </a:pPr>
            <a:fld id="{81D60167-4931-47E6-BA6A-407CBD079E47}" type="slidenum">
              <a:rPr dirty="0" spc="-25">
                <a:latin typeface="Times New Roman"/>
                <a:cs typeface="Times New Roman"/>
              </a:rPr>
              <a:t>40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35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8911" y="1352803"/>
            <a:ext cx="7194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Course</a:t>
            </a:r>
            <a:r>
              <a:rPr dirty="0" sz="2400" spc="-9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Title</a:t>
            </a:r>
            <a:r>
              <a:rPr dirty="0" sz="2400" spc="-85">
                <a:solidFill>
                  <a:srgbClr val="FFFFFF"/>
                </a:solidFill>
              </a:rPr>
              <a:t> </a:t>
            </a:r>
            <a:r>
              <a:rPr dirty="0" sz="2400" spc="625">
                <a:solidFill>
                  <a:srgbClr val="FFFFFF"/>
                </a:solidFill>
              </a:rPr>
              <a:t>–</a:t>
            </a:r>
            <a:r>
              <a:rPr dirty="0" sz="2400" spc="-30">
                <a:solidFill>
                  <a:srgbClr val="FFFFFF"/>
                </a:solidFill>
              </a:rPr>
              <a:t>NATURAL</a:t>
            </a:r>
            <a:r>
              <a:rPr dirty="0" sz="2400" spc="-114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LANGUAGE</a:t>
            </a:r>
            <a:r>
              <a:rPr dirty="0" sz="2400" spc="-6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PROCESSING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38911" y="2103831"/>
            <a:ext cx="6746875" cy="2038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715"/>
              </a:lnSpc>
              <a:spcBef>
                <a:spcPts val="105"/>
              </a:spcBef>
            </a:pPr>
            <a:r>
              <a:rPr dirty="0" sz="3200" spc="-60">
                <a:solidFill>
                  <a:srgbClr val="FFFFFF"/>
                </a:solidFill>
                <a:latin typeface="Microsoft Sans Serif"/>
                <a:cs typeface="Microsoft Sans Serif"/>
              </a:rPr>
              <a:t>Topic</a:t>
            </a:r>
            <a:r>
              <a:rPr dirty="0" sz="3200" spc="-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FFFFFF"/>
                </a:solidFill>
                <a:latin typeface="Microsoft Sans Serif"/>
                <a:cs typeface="Microsoft Sans Serif"/>
              </a:rPr>
              <a:t>Title:</a:t>
            </a:r>
            <a:r>
              <a:rPr dirty="0" sz="32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REGULAR</a:t>
            </a:r>
            <a:r>
              <a:rPr dirty="0" sz="24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EXPRESSIONS,</a:t>
            </a:r>
            <a:r>
              <a:rPr dirty="0" sz="240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TEXT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ts val="2755"/>
              </a:lnSpc>
            </a:pP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NORMALIZATION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20066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B.</a:t>
            </a:r>
            <a:r>
              <a:rPr dirty="0" sz="1800" spc="-1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Lakshmi</a:t>
            </a:r>
            <a:r>
              <a:rPr dirty="0" sz="1800" spc="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Prasanna</a:t>
            </a:r>
            <a:endParaRPr sz="1800">
              <a:latin typeface="Microsoft Sans Serif"/>
              <a:cs typeface="Microsoft Sans Serif"/>
            </a:endParaRPr>
          </a:p>
          <a:p>
            <a:pPr marL="200660" marR="366331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ID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IARE10706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8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7" y="4931876"/>
            <a:ext cx="110489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923" y="495681"/>
            <a:ext cx="8406130" cy="3771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5082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5093"/>
                </a:solidFill>
                <a:latin typeface="Microsoft Sans Serif"/>
                <a:cs typeface="Microsoft Sans Serif"/>
              </a:rPr>
              <a:t>COURSE</a:t>
            </a:r>
            <a:r>
              <a:rPr dirty="0" sz="2000" spc="-55">
                <a:solidFill>
                  <a:srgbClr val="005093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005093"/>
                </a:solidFill>
                <a:latin typeface="Microsoft Sans Serif"/>
                <a:cs typeface="Microsoft Sans Serif"/>
              </a:rPr>
              <a:t>OVERVIEW: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algn="just" marL="179705" indent="-167005">
              <a:lnSpc>
                <a:spcPct val="100000"/>
              </a:lnSpc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study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process,</a:t>
            </a:r>
            <a:endParaRPr sz="2100">
              <a:latin typeface="Microsoft Sans Serif"/>
              <a:cs typeface="Microsoft Sans Serif"/>
            </a:endParaRPr>
          </a:p>
          <a:p>
            <a:pPr algn="just"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communicate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human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primary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 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various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NLP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100" spc="7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2100" spc="8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effectively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solving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7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problems,</a:t>
            </a:r>
            <a:r>
              <a:rPr dirty="0" sz="2100" spc="7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performance.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889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30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intended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theoretical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methodological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widely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current</a:t>
            </a:r>
            <a:r>
              <a:rPr dirty="0" sz="2100" spc="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techniques,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strategies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toolkits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 language processing, with a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primary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those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Python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programming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213725" cy="27749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try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learn</a:t>
            </a:r>
            <a:endParaRPr sz="2100">
              <a:latin typeface="Microsoft Sans Serif"/>
              <a:cs typeface="Microsoft Sans Serif"/>
            </a:endParaRPr>
          </a:p>
          <a:p>
            <a:pPr marL="254635" indent="-24193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25463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I.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analyzing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on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CORPUS.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II.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essentials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text.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III.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learning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cutting-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edge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deep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learning.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671576"/>
            <a:ext cx="36474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COURSES</a:t>
            </a:r>
            <a:r>
              <a:rPr dirty="0" sz="2400" spc="-7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OBJECTIVES: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228965" cy="245491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end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should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able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CO1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Remember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knowledge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behavior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terms 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phonetics,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CO2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pragmatics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processing.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CO3</a:t>
            </a:r>
            <a:r>
              <a:rPr dirty="0" sz="2100" spc="-1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CORPUS linguistics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compile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texts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digestive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games.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671576"/>
            <a:ext cx="35966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525252"/>
                </a:solidFill>
              </a:rPr>
              <a:t>III.</a:t>
            </a:r>
            <a:r>
              <a:rPr dirty="0" sz="2400" spc="-50">
                <a:solidFill>
                  <a:srgbClr val="525252"/>
                </a:solidFill>
              </a:rPr>
              <a:t> </a:t>
            </a:r>
            <a:r>
              <a:rPr dirty="0" sz="2400">
                <a:solidFill>
                  <a:srgbClr val="525252"/>
                </a:solidFill>
              </a:rPr>
              <a:t>COURSE</a:t>
            </a:r>
            <a:r>
              <a:rPr dirty="0" sz="2400" spc="5">
                <a:solidFill>
                  <a:srgbClr val="525252"/>
                </a:solidFill>
              </a:rPr>
              <a:t> </a:t>
            </a:r>
            <a:r>
              <a:rPr dirty="0" sz="2400" spc="-10">
                <a:solidFill>
                  <a:srgbClr val="525252"/>
                </a:solidFill>
              </a:rPr>
              <a:t>OUTCOMES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7544"/>
            <a:ext cx="8197215" cy="220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CO4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various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approaches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machine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translation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marL="180340" marR="30226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CO5</a:t>
            </a:r>
            <a:r>
              <a:rPr dirty="0" sz="2100" spc="-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Part-of-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speech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(POS)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natural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suitable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structure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CO6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art algorithms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techniques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text-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of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respect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morphology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7924800" cy="188150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MODULE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II: REGULAR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EXPRESSIONS,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NORMALIZATION</a:t>
            </a:r>
            <a:endParaRPr sz="21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Regular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Expressions,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patterns,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words,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Corpora,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normalization,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Minimum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edit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distance,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Regular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FSAs,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Raw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Text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Extraction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Tokenization,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Extracting</a:t>
            </a:r>
            <a:r>
              <a:rPr dirty="0" sz="2100" spc="-1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Terms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Tokens, Normalization.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866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Regular</a:t>
            </a:r>
            <a:r>
              <a:rPr dirty="0" spc="-15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343265" cy="271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29845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14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regular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expression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(regex)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characters that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defines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search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pattern.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mainly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matching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strings,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finding,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replacing,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validating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text.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Regex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supported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in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almost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every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programming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language,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including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Python,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Java,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C++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JavaScript.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Below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image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shows an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example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regular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expression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explains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parts,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helping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you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filenames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be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matched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effectively.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diagram of a basic expression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96" y="1104899"/>
            <a:ext cx="6861048" cy="3505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9103" rIns="0" bIns="0" rtlCol="0" vert="horz">
            <a:spAutoFit/>
          </a:bodyPr>
          <a:lstStyle/>
          <a:p>
            <a:pPr marL="290195">
              <a:lnSpc>
                <a:spcPct val="100000"/>
              </a:lnSpc>
              <a:spcBef>
                <a:spcPts val="100"/>
              </a:spcBef>
            </a:pPr>
            <a:r>
              <a:rPr dirty="0"/>
              <a:t>Importance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Regular</a:t>
            </a:r>
            <a:r>
              <a:rPr dirty="0" spc="-25"/>
              <a:t> </a:t>
            </a:r>
            <a:r>
              <a:rPr dirty="0" spc="-10"/>
              <a:t>Expression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757" y="1111376"/>
            <a:ext cx="8362315" cy="3584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0340" marR="173990" indent="-167640">
              <a:lnSpc>
                <a:spcPct val="100000"/>
              </a:lnSpc>
              <a:spcBef>
                <a:spcPts val="10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Pattern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Matching: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Quickly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search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specific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or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without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manual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checking.</a:t>
            </a:r>
            <a:endParaRPr sz="2000">
              <a:latin typeface="Microsoft Sans Serif"/>
              <a:cs typeface="Microsoft Sans Serif"/>
            </a:endParaRPr>
          </a:p>
          <a:p>
            <a:pPr marL="180340" marR="33210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Validation: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Validate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inputs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email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addresses,</a:t>
            </a:r>
            <a:r>
              <a:rPr dirty="0" sz="20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phone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numbers,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URLs,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passwords.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Manipulation: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Perform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search-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and-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replace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operations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across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files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datasets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effectively.</a:t>
            </a:r>
            <a:endParaRPr sz="2000">
              <a:latin typeface="Microsoft Sans Serif"/>
              <a:cs typeface="Microsoft Sans Serif"/>
            </a:endParaRPr>
          </a:p>
          <a:p>
            <a:pPr marL="180340" marR="5715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Automation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-1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20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Tools: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 tools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like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Google</a:t>
            </a:r>
            <a:r>
              <a:rPr dirty="0" sz="2000" spc="-1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for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URL</a:t>
            </a:r>
            <a:r>
              <a:rPr dirty="0" sz="20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matching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filtering.</a:t>
            </a:r>
            <a:endParaRPr sz="2000">
              <a:latin typeface="Microsoft Sans Serif"/>
              <a:cs typeface="Microsoft Sans Serif"/>
            </a:endParaRPr>
          </a:p>
          <a:p>
            <a:pPr marL="180340" marR="55054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Cross-Platform</a:t>
            </a:r>
            <a:r>
              <a:rPr dirty="0" sz="20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Support: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Works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across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programming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editors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Python,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Java,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Sublime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Text,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Notepad++.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3007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dirty="0" spc="-10"/>
              <a:t> </a:t>
            </a:r>
            <a:r>
              <a:rPr dirty="0"/>
              <a:t>Elements Used</a:t>
            </a:r>
            <a:r>
              <a:rPr dirty="0" spc="-5"/>
              <a:t> </a:t>
            </a:r>
            <a:r>
              <a:rPr dirty="0"/>
              <a:t>in Regular</a:t>
            </a:r>
            <a:r>
              <a:rPr dirty="0" spc="-25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223" y="1059941"/>
            <a:ext cx="8209915" cy="3095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96545">
              <a:lnSpc>
                <a:spcPct val="100000"/>
              </a:lnSpc>
              <a:spcBef>
                <a:spcPts val="100"/>
              </a:spcBef>
              <a:buFont typeface="Microsoft Sans Serif"/>
              <a:buAutoNum type="arabicPeriod"/>
              <a:tabLst>
                <a:tab pos="309245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Repeaters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(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*,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+,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and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{</a:t>
            </a:r>
            <a:r>
              <a:rPr dirty="0" sz="2100" spc="-3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}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):</a:t>
            </a:r>
            <a:r>
              <a:rPr dirty="0" sz="2100" spc="-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Repeaters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specify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many times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preceding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character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group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should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appear.</a:t>
            </a:r>
            <a:endParaRPr sz="2100">
              <a:latin typeface="Microsoft Sans Serif"/>
              <a:cs typeface="Microsoft Sans Serif"/>
            </a:endParaRPr>
          </a:p>
          <a:p>
            <a:pPr marL="12700" marR="222885" indent="28575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298450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Asterisk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symbol</a:t>
            </a:r>
            <a:r>
              <a:rPr dirty="0" sz="2100" spc="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(*):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Matches the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preceding character 0 or</a:t>
            </a:r>
            <a:r>
              <a:rPr dirty="0" sz="2100" spc="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more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times.</a:t>
            </a:r>
            <a:endParaRPr sz="2100">
              <a:latin typeface="Microsoft Sans Serif"/>
              <a:cs typeface="Microsoft Sans Serif"/>
            </a:endParaRPr>
          </a:p>
          <a:p>
            <a:pPr marL="234950" indent="-234950">
              <a:lnSpc>
                <a:spcPct val="100000"/>
              </a:lnSpc>
              <a:spcBef>
                <a:spcPts val="994"/>
              </a:spcBef>
              <a:buSzPct val="95238"/>
              <a:buAutoNum type="arabicPeriod"/>
              <a:tabLst>
                <a:tab pos="234950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The</a:t>
            </a:r>
            <a:r>
              <a:rPr dirty="0" sz="2100" spc="-3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Plus</a:t>
            </a:r>
            <a:r>
              <a:rPr dirty="0" sz="2100" spc="-2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symbol</a:t>
            </a:r>
            <a:r>
              <a:rPr dirty="0" sz="2100" spc="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(+)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:</a:t>
            </a:r>
            <a:r>
              <a:rPr dirty="0" sz="2100" spc="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Matches the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preceding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character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1 or 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more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times.</a:t>
            </a:r>
            <a:endParaRPr sz="2100">
              <a:latin typeface="Microsoft Sans Serif"/>
              <a:cs typeface="Microsoft Sans Serif"/>
            </a:endParaRPr>
          </a:p>
          <a:p>
            <a:pPr marL="309245" indent="-296545">
              <a:lnSpc>
                <a:spcPct val="100000"/>
              </a:lnSpc>
              <a:spcBef>
                <a:spcPts val="1000"/>
              </a:spcBef>
              <a:buAutoNum type="arabicPeriod" startAt="4"/>
              <a:tabLst>
                <a:tab pos="309245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The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curly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braces</a:t>
            </a:r>
            <a:r>
              <a:rPr dirty="0" sz="2100" spc="-3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{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…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}: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Defines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an exact</a:t>
            </a:r>
            <a:r>
              <a:rPr dirty="0" sz="21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range of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repetitions.</a:t>
            </a:r>
            <a:endParaRPr sz="21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1005"/>
              </a:spcBef>
              <a:buAutoNum type="arabicPeriod" startAt="4"/>
              <a:tabLst>
                <a:tab pos="309880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Wildcard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(.):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Matches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any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single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character except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newline.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7544"/>
            <a:ext cx="8268334" cy="220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309245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Optional</a:t>
            </a:r>
            <a:r>
              <a:rPr dirty="0" sz="2100" spc="-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character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(?):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Matches 0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1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occurrence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preceding</a:t>
            </a:r>
            <a:r>
              <a:rPr dirty="0" sz="2100" spc="-4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character.</a:t>
            </a:r>
            <a:endParaRPr sz="2100">
              <a:latin typeface="Microsoft Sans Serif"/>
              <a:cs typeface="Microsoft Sans Serif"/>
            </a:endParaRPr>
          </a:p>
          <a:p>
            <a:pPr marL="180340" marR="1318260" indent="-167640">
              <a:lnSpc>
                <a:spcPct val="100000"/>
              </a:lnSpc>
              <a:spcBef>
                <a:spcPts val="1010"/>
              </a:spcBef>
              <a:buAutoNum type="arabicPeriod" startAt="7"/>
              <a:tabLst>
                <a:tab pos="180340" algn="l"/>
                <a:tab pos="309245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	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The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caret</a:t>
            </a:r>
            <a:r>
              <a:rPr dirty="0" sz="2100" spc="-2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(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^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)</a:t>
            </a:r>
            <a:r>
              <a:rPr dirty="0" sz="2100" spc="-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symbol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:</a:t>
            </a:r>
            <a:r>
              <a:rPr dirty="0" sz="2100" spc="4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Ensures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match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starts</a:t>
            </a:r>
            <a:r>
              <a:rPr dirty="0" sz="2100" spc="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at</a:t>
            </a:r>
            <a:r>
              <a:rPr dirty="0" sz="2100" spc="-25" b="1">
                <a:solidFill>
                  <a:srgbClr val="273139"/>
                </a:solidFill>
                <a:latin typeface="Arial"/>
                <a:cs typeface="Arial"/>
              </a:rPr>
              <a:t> the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beginning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string.</a:t>
            </a:r>
            <a:endParaRPr sz="2100">
              <a:latin typeface="Microsoft Sans Serif"/>
              <a:cs typeface="Microsoft Sans Serif"/>
            </a:endParaRPr>
          </a:p>
          <a:p>
            <a:pPr marL="384810" indent="-372110">
              <a:lnSpc>
                <a:spcPct val="100000"/>
              </a:lnSpc>
              <a:spcBef>
                <a:spcPts val="994"/>
              </a:spcBef>
              <a:buAutoNum type="arabicPeriod" startAt="7"/>
              <a:tabLst>
                <a:tab pos="384810" algn="l"/>
              </a:tabLst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The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dollar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(</a:t>
            </a:r>
            <a:r>
              <a:rPr dirty="0" sz="2100" spc="-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$</a:t>
            </a:r>
            <a:r>
              <a:rPr dirty="0" sz="2100" spc="-3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)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symbol:</a:t>
            </a:r>
            <a:r>
              <a:rPr dirty="0" sz="2100" spc="1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Ensures the match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ends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end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string.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066" rIns="0" bIns="0" rtlCol="0" vert="horz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Patterns</a:t>
            </a:r>
          </a:p>
        </p:txBody>
      </p:sp>
      <p:sp>
        <p:nvSpPr>
          <p:cNvPr id="3" name="object 3"/>
          <p:cNvSpPr/>
          <p:nvPr/>
        </p:nvSpPr>
        <p:spPr>
          <a:xfrm>
            <a:off x="610400" y="1208150"/>
            <a:ext cx="43180" cy="172720"/>
          </a:xfrm>
          <a:custGeom>
            <a:avLst/>
            <a:gdLst/>
            <a:ahLst/>
            <a:cxnLst/>
            <a:rect l="l" t="t" r="r" b="b"/>
            <a:pathLst>
              <a:path w="43179" h="172719">
                <a:moveTo>
                  <a:pt x="42671" y="0"/>
                </a:moveTo>
                <a:lnTo>
                  <a:pt x="0" y="0"/>
                </a:lnTo>
                <a:lnTo>
                  <a:pt x="0" y="172212"/>
                </a:lnTo>
                <a:lnTo>
                  <a:pt x="42671" y="172212"/>
                </a:lnTo>
                <a:lnTo>
                  <a:pt x="42671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082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NLP</a:t>
            </a:r>
            <a:r>
              <a:rPr dirty="0" spc="-90"/>
              <a:t> </a:t>
            </a:r>
            <a:r>
              <a:rPr dirty="0" spc="-1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133" y="1111376"/>
            <a:ext cx="8245475" cy="3274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273139"/>
                </a:solidFill>
                <a:latin typeface="Arial"/>
                <a:cs typeface="Arial"/>
              </a:rPr>
              <a:t>Lexical</a:t>
            </a:r>
            <a:r>
              <a:rPr dirty="0" sz="2000" spc="-12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73139"/>
                </a:solidFill>
                <a:latin typeface="Arial"/>
                <a:cs typeface="Arial"/>
              </a:rPr>
              <a:t>Analysis:</a:t>
            </a:r>
            <a:r>
              <a:rPr dirty="0" sz="2000" spc="-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0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focuses</a:t>
            </a:r>
            <a:r>
              <a:rPr dirty="0" sz="20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on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20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0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Microsoft Sans Serif"/>
                <a:cs typeface="Microsoft Sans Serif"/>
              </a:rPr>
              <a:t>(or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lexemes)</a:t>
            </a:r>
            <a:r>
              <a:rPr dirty="0" sz="20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text. It</a:t>
            </a:r>
            <a:r>
              <a:rPr dirty="0" sz="20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breaks</a:t>
            </a:r>
            <a:r>
              <a:rPr dirty="0" sz="20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down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input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text into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20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tokens</a:t>
            </a:r>
            <a:r>
              <a:rPr dirty="0" sz="20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that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units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such</a:t>
            </a:r>
            <a:r>
              <a:rPr dirty="0" sz="20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phrases.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Key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tasks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Lexical</a:t>
            </a:r>
            <a:r>
              <a:rPr dirty="0" sz="20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analysis:</a:t>
            </a:r>
            <a:endParaRPr sz="2000">
              <a:latin typeface="Microsoft Sans Serif"/>
              <a:cs typeface="Microsoft Sans Serif"/>
            </a:endParaRPr>
          </a:p>
          <a:p>
            <a:pPr marL="12700" marR="235585">
              <a:lnSpc>
                <a:spcPct val="100000"/>
              </a:lnSpc>
              <a:spcBef>
                <a:spcPts val="1020"/>
              </a:spcBef>
            </a:pP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Tokenization: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dividing</a:t>
            </a:r>
            <a:r>
              <a:rPr dirty="0" sz="18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text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into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smaller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chunks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called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tokens.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For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example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sentence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"I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love</a:t>
            </a:r>
            <a:r>
              <a:rPr dirty="0" sz="18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programming"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would</a:t>
            </a:r>
            <a:r>
              <a:rPr dirty="0" sz="18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tokenized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into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["I",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"love", "programming"].</a:t>
            </a:r>
            <a:endParaRPr sz="1800">
              <a:latin typeface="Microsoft Sans Serif"/>
              <a:cs typeface="Microsoft Sans Serif"/>
            </a:endParaRPr>
          </a:p>
          <a:p>
            <a:pPr marL="12700" marR="77470">
              <a:lnSpc>
                <a:spcPct val="100000"/>
              </a:lnSpc>
              <a:spcBef>
                <a:spcPts val="994"/>
              </a:spcBef>
            </a:pP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Part-of-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Speech</a:t>
            </a:r>
            <a:r>
              <a:rPr dirty="0" sz="1800" spc="-35">
                <a:solidFill>
                  <a:srgbClr val="273139"/>
                </a:solidFill>
                <a:latin typeface="Microsoft Sans Serif"/>
                <a:cs typeface="Microsoft Sans Serif"/>
              </a:rPr>
              <a:t> Tagging:</a:t>
            </a:r>
            <a:r>
              <a:rPr dirty="0" sz="1800" spc="-8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Assigning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parts of speech such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noun,</a:t>
            </a:r>
            <a:r>
              <a:rPr dirty="0" sz="1800" spc="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verb, 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adjective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each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token</a:t>
            </a:r>
            <a:r>
              <a:rPr dirty="0" sz="18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sentence.</a:t>
            </a:r>
            <a:r>
              <a:rPr dirty="0" sz="18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helps</a:t>
            </a:r>
            <a:r>
              <a:rPr dirty="0" sz="18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us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18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roles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of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1800" spc="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context.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8820" y="4898497"/>
            <a:ext cx="59690" cy="245110"/>
          </a:xfrm>
          <a:custGeom>
            <a:avLst/>
            <a:gdLst/>
            <a:ahLst/>
            <a:cxnLst/>
            <a:rect l="l" t="t" r="r" b="b"/>
            <a:pathLst>
              <a:path w="59689" h="245110">
                <a:moveTo>
                  <a:pt x="59436" y="0"/>
                </a:moveTo>
                <a:lnTo>
                  <a:pt x="0" y="0"/>
                </a:lnTo>
                <a:lnTo>
                  <a:pt x="0" y="245002"/>
                </a:lnTo>
                <a:lnTo>
                  <a:pt x="59436" y="245002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987" y="993774"/>
            <a:ext cx="8340090" cy="312928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-10" b="1">
                <a:solidFill>
                  <a:srgbClr val="273139"/>
                </a:solidFill>
                <a:latin typeface="Arial"/>
                <a:cs typeface="Arial"/>
              </a:rPr>
              <a:t>Morphological</a:t>
            </a:r>
            <a:r>
              <a:rPr dirty="0" sz="1800" spc="-5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73139"/>
                </a:solidFill>
                <a:latin typeface="Arial"/>
                <a:cs typeface="Arial"/>
              </a:rPr>
              <a:t>Analysis: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</a:pP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deals with</a:t>
            </a:r>
            <a:r>
              <a:rPr dirty="0" sz="1800" spc="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smallest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units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meaning in</a:t>
            </a:r>
            <a:r>
              <a:rPr dirty="0" sz="18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word.</a:t>
            </a:r>
            <a:r>
              <a:rPr dirty="0" sz="1800" spc="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is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important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18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18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their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parts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1800" spc="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free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(independent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1800" spc="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like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"cat")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bound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(like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prefixes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or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suffixes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e.g.</a:t>
            </a:r>
            <a:r>
              <a:rPr dirty="0" sz="18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"un-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"</a:t>
            </a:r>
            <a:r>
              <a:rPr dirty="0" sz="18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or 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"-ing").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Key</a:t>
            </a:r>
            <a:r>
              <a:rPr dirty="0" sz="18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tasks</a:t>
            </a:r>
            <a:r>
              <a:rPr dirty="0" sz="18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morphological</a:t>
            </a:r>
            <a:r>
              <a:rPr dirty="0" sz="18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analysis:</a:t>
            </a:r>
            <a:endParaRPr sz="1800">
              <a:latin typeface="Microsoft Sans Serif"/>
              <a:cs typeface="Microsoft Sans Serif"/>
            </a:endParaRPr>
          </a:p>
          <a:p>
            <a:pPr marL="12700" marR="166370">
              <a:lnSpc>
                <a:spcPct val="146100"/>
              </a:lnSpc>
              <a:spcBef>
                <a:spcPts val="5"/>
              </a:spcBef>
            </a:pP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Stemming: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Reducing words</a:t>
            </a:r>
            <a:r>
              <a:rPr dirty="0" sz="1800" spc="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their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root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form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like</a:t>
            </a:r>
            <a:r>
              <a:rPr dirty="0" sz="18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"running"</a:t>
            </a:r>
            <a:r>
              <a:rPr dirty="0" sz="18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"run". Lemmatization: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Converting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1800" spc="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their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base</a:t>
            </a:r>
            <a:r>
              <a:rPr dirty="0" sz="18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dictionary</a:t>
            </a:r>
            <a:r>
              <a:rPr dirty="0" sz="18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form</a:t>
            </a:r>
            <a:r>
              <a:rPr dirty="0" sz="18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considering </a:t>
            </a:r>
            <a:r>
              <a:rPr dirty="0" sz="1800" spc="-25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context</a:t>
            </a:r>
            <a:r>
              <a:rPr dirty="0" sz="18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like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"better"</a:t>
            </a:r>
            <a:r>
              <a:rPr dirty="0" sz="18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73139"/>
                </a:solidFill>
                <a:latin typeface="Microsoft Sans Serif"/>
                <a:cs typeface="Microsoft Sans Serif"/>
              </a:rPr>
              <a:t>becomes</a:t>
            </a:r>
            <a:r>
              <a:rPr dirty="0" sz="1800" spc="-10">
                <a:solidFill>
                  <a:srgbClr val="273139"/>
                </a:solidFill>
                <a:latin typeface="Microsoft Sans Serif"/>
                <a:cs typeface="Microsoft Sans Serif"/>
              </a:rPr>
              <a:t> "good".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370570" cy="328930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Syntactic</a:t>
            </a:r>
            <a:r>
              <a:rPr dirty="0" sz="2100" spc="-9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Analysis</a:t>
            </a:r>
            <a:r>
              <a:rPr dirty="0" sz="21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Arial"/>
                <a:cs typeface="Arial"/>
              </a:rPr>
              <a:t>(Parsing):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1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helps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sentence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are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arranged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according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to grammar rules.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ensures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sentence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follows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correct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grammar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which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makes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clearer.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goal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is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to create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parse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tree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which is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 diagram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showing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of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sentence.</a:t>
            </a:r>
            <a:endParaRPr sz="2100">
              <a:latin typeface="Microsoft Sans Serif"/>
              <a:cs typeface="Microsoft Sans Serif"/>
            </a:endParaRPr>
          </a:p>
          <a:p>
            <a:pPr marL="12700" marR="238760">
              <a:lnSpc>
                <a:spcPct val="100000"/>
              </a:lnSpc>
              <a:spcBef>
                <a:spcPts val="1000"/>
              </a:spcBef>
            </a:pP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 breaks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sentence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parts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 subject,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verb and object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shows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parts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connected.</a:t>
            </a:r>
            <a:r>
              <a:rPr dirty="0" sz="2100" spc="-6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helps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machines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relationships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between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words in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sentence</a:t>
            </a:r>
            <a:r>
              <a:rPr dirty="0" sz="1400" spc="-10">
                <a:solidFill>
                  <a:srgbClr val="273139"/>
                </a:solidFill>
                <a:latin typeface="Bahnschrift"/>
                <a:cs typeface="Bahnschrift"/>
              </a:rPr>
              <a:t>.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169275" cy="252222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Semantic</a:t>
            </a:r>
            <a:r>
              <a:rPr dirty="0" sz="2100" spc="-9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Analysis</a:t>
            </a:r>
            <a:endParaRPr sz="2100">
              <a:latin typeface="Arial"/>
              <a:cs typeface="Arial"/>
            </a:endParaRPr>
          </a:p>
          <a:p>
            <a:pPr marL="180340" marR="5080" indent="-167640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focuses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behind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words and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sentences.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ensures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not only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grammatically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correct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but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also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logically</a:t>
            </a:r>
            <a:r>
              <a:rPr dirty="0" sz="21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coherent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contextually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relevant.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aims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understand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dictionary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definitions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usage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context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also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find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whether the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arrangement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 words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 sentence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makes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logical sense.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142605" cy="264858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Discourse</a:t>
            </a:r>
            <a:r>
              <a:rPr dirty="0" sz="2100" spc="-2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Integration</a:t>
            </a:r>
            <a:endParaRPr sz="2100">
              <a:latin typeface="Arial"/>
              <a:cs typeface="Arial"/>
            </a:endParaRPr>
          </a:p>
          <a:p>
            <a:pPr marL="180340" marR="5080" indent="-167640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process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sentences</a:t>
            </a:r>
            <a:r>
              <a:rPr dirty="0" sz="2100" spc="-4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or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segments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 text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connect and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relate to each other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within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broader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context.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phase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ensures that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is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consistent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coherent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across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1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sentences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paragraphs.</a:t>
            </a:r>
            <a:endParaRPr sz="2100">
              <a:latin typeface="Microsoft Sans Serif"/>
              <a:cs typeface="Microsoft Sans Serif"/>
            </a:endParaRPr>
          </a:p>
          <a:p>
            <a:pPr marL="180340" marR="81915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is important for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3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long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complex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texts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where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focuses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previous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statements.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322309" cy="220218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Pragmatic</a:t>
            </a:r>
            <a:r>
              <a:rPr dirty="0" sz="2100" spc="-9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Arial"/>
                <a:cs typeface="Arial"/>
              </a:rPr>
              <a:t>Analysis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Pragmatic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helps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deeper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behind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looking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beyond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literal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meanings.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While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looks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 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direct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considers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speaker's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writer's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intentions,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tone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 of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communication.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339" rIns="0" bIns="0" rtlCol="0" vert="horz">
            <a:spAutoFit/>
          </a:bodyPr>
          <a:lstStyle/>
          <a:p>
            <a:pPr marL="4749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072120" cy="2266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fundamental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units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text, processed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through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steps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tokenization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(splitting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words)</a:t>
            </a:r>
            <a:endParaRPr sz="2100">
              <a:latin typeface="Microsoft Sans Serif"/>
              <a:cs typeface="Microsoft Sans Serif"/>
            </a:endParaRPr>
          </a:p>
          <a:p>
            <a:pPr marL="180340" marR="508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preprocessing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(lowercasing,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removing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stopwords)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be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understood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numerically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via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Word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Embeddings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(Word2Vec,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GloVe),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BERT,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enabling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sentiment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translation,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named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entity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recognition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capturing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relationships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8252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Corpora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A</a:t>
            </a:r>
            <a:r>
              <a:rPr dirty="0" spc="-120"/>
              <a:t> </a:t>
            </a:r>
            <a:r>
              <a:rPr dirty="0"/>
              <a:t>corpus</a:t>
            </a:r>
            <a:r>
              <a:rPr dirty="0" spc="-5"/>
              <a:t> </a:t>
            </a:r>
            <a:r>
              <a:rPr dirty="0"/>
              <a:t>is a</a:t>
            </a:r>
            <a:r>
              <a:rPr dirty="0" spc="-5"/>
              <a:t> </a:t>
            </a:r>
            <a:r>
              <a:rPr dirty="0"/>
              <a:t>collection</a:t>
            </a:r>
            <a:r>
              <a:rPr dirty="0" spc="-35"/>
              <a:t> </a:t>
            </a:r>
            <a:r>
              <a:rPr dirty="0"/>
              <a:t>of authentic</a:t>
            </a:r>
            <a:r>
              <a:rPr dirty="0" spc="-15"/>
              <a:t> </a:t>
            </a:r>
            <a:r>
              <a:rPr dirty="0"/>
              <a:t>text</a:t>
            </a:r>
            <a:r>
              <a:rPr dirty="0" spc="-5"/>
              <a:t> </a:t>
            </a:r>
            <a:r>
              <a:rPr dirty="0"/>
              <a:t>or audio</a:t>
            </a:r>
            <a:r>
              <a:rPr dirty="0" spc="-20"/>
              <a:t> </a:t>
            </a:r>
            <a:r>
              <a:rPr dirty="0"/>
              <a:t>organized</a:t>
            </a:r>
            <a:r>
              <a:rPr dirty="0" spc="-10"/>
              <a:t> </a:t>
            </a:r>
            <a:r>
              <a:rPr dirty="0" spc="-20"/>
              <a:t>into </a:t>
            </a:r>
            <a:r>
              <a:rPr dirty="0"/>
              <a:t>datasets.</a:t>
            </a:r>
            <a:r>
              <a:rPr dirty="0" spc="-125"/>
              <a:t> </a:t>
            </a:r>
            <a:r>
              <a:rPr dirty="0"/>
              <a:t>Authentic</a:t>
            </a:r>
            <a:r>
              <a:rPr dirty="0" spc="-20"/>
              <a:t> </a:t>
            </a:r>
            <a:r>
              <a:rPr dirty="0"/>
              <a:t>here</a:t>
            </a:r>
            <a:r>
              <a:rPr dirty="0" spc="-10"/>
              <a:t> </a:t>
            </a:r>
            <a:r>
              <a:rPr dirty="0"/>
              <a:t>means text written</a:t>
            </a:r>
            <a:r>
              <a:rPr dirty="0" spc="-20"/>
              <a:t> </a:t>
            </a:r>
            <a:r>
              <a:rPr dirty="0"/>
              <a:t>or</a:t>
            </a:r>
            <a:r>
              <a:rPr dirty="0" spc="5"/>
              <a:t> </a:t>
            </a:r>
            <a:r>
              <a:rPr dirty="0"/>
              <a:t>audio</a:t>
            </a:r>
            <a:r>
              <a:rPr dirty="0" spc="-20"/>
              <a:t> </a:t>
            </a:r>
            <a:r>
              <a:rPr dirty="0"/>
              <a:t>spoken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20"/>
              <a:t> </a:t>
            </a:r>
            <a:r>
              <a:rPr dirty="0" spc="-50"/>
              <a:t>a </a:t>
            </a:r>
            <a:r>
              <a:rPr dirty="0"/>
              <a:t>native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language</a:t>
            </a:r>
            <a:r>
              <a:rPr dirty="0" spc="-5"/>
              <a:t> </a:t>
            </a:r>
            <a:r>
              <a:rPr dirty="0"/>
              <a:t>or </a:t>
            </a:r>
            <a:r>
              <a:rPr dirty="0" spc="-10"/>
              <a:t>dialect.</a:t>
            </a:r>
            <a:r>
              <a:rPr dirty="0" spc="-125"/>
              <a:t> </a:t>
            </a:r>
            <a:r>
              <a:rPr dirty="0"/>
              <a:t>A</a:t>
            </a:r>
            <a:r>
              <a:rPr dirty="0" spc="-110"/>
              <a:t> </a:t>
            </a:r>
            <a:r>
              <a:rPr dirty="0"/>
              <a:t>corpus</a:t>
            </a:r>
            <a:r>
              <a:rPr dirty="0" spc="10"/>
              <a:t> </a:t>
            </a:r>
            <a:r>
              <a:rPr dirty="0"/>
              <a:t>can be made up </a:t>
            </a:r>
            <a:r>
              <a:rPr dirty="0" spc="-25"/>
              <a:t>of </a:t>
            </a:r>
            <a:r>
              <a:rPr dirty="0"/>
              <a:t>everything</a:t>
            </a:r>
            <a:r>
              <a:rPr dirty="0" spc="-20"/>
              <a:t> </a:t>
            </a:r>
            <a:r>
              <a:rPr dirty="0"/>
              <a:t>from</a:t>
            </a:r>
            <a:r>
              <a:rPr dirty="0" spc="-15"/>
              <a:t> </a:t>
            </a:r>
            <a:r>
              <a:rPr dirty="0"/>
              <a:t>newspapers,</a:t>
            </a:r>
            <a:r>
              <a:rPr dirty="0" spc="-20"/>
              <a:t> </a:t>
            </a:r>
            <a:r>
              <a:rPr dirty="0"/>
              <a:t>novels,</a:t>
            </a:r>
            <a:r>
              <a:rPr dirty="0" spc="-15"/>
              <a:t> </a:t>
            </a:r>
            <a:r>
              <a:rPr dirty="0"/>
              <a:t>recipes,</a:t>
            </a:r>
            <a:r>
              <a:rPr dirty="0" spc="-30"/>
              <a:t> </a:t>
            </a:r>
            <a:r>
              <a:rPr dirty="0"/>
              <a:t>radio</a:t>
            </a:r>
            <a:r>
              <a:rPr dirty="0" spc="-20"/>
              <a:t> </a:t>
            </a:r>
            <a:r>
              <a:rPr dirty="0"/>
              <a:t>broadcasts</a:t>
            </a:r>
            <a:r>
              <a:rPr dirty="0" spc="-30"/>
              <a:t> </a:t>
            </a:r>
            <a:r>
              <a:rPr dirty="0" spc="-25"/>
              <a:t>to </a:t>
            </a:r>
            <a:r>
              <a:rPr dirty="0"/>
              <a:t>television</a:t>
            </a:r>
            <a:r>
              <a:rPr dirty="0" spc="-35"/>
              <a:t> </a:t>
            </a:r>
            <a:r>
              <a:rPr dirty="0"/>
              <a:t>shows,</a:t>
            </a:r>
            <a:r>
              <a:rPr dirty="0" spc="-10"/>
              <a:t> </a:t>
            </a:r>
            <a:r>
              <a:rPr dirty="0"/>
              <a:t>movies,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tweets.</a:t>
            </a:r>
            <a:r>
              <a:rPr dirty="0" spc="-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natural</a:t>
            </a:r>
            <a:r>
              <a:rPr dirty="0" spc="-5"/>
              <a:t> </a:t>
            </a:r>
            <a:r>
              <a:rPr dirty="0" spc="-10"/>
              <a:t>language </a:t>
            </a:r>
            <a:r>
              <a:rPr dirty="0"/>
              <a:t>processing,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/>
              <a:t>corpus</a:t>
            </a:r>
            <a:r>
              <a:rPr dirty="0" spc="-15"/>
              <a:t> </a:t>
            </a:r>
            <a:r>
              <a:rPr dirty="0"/>
              <a:t>contains</a:t>
            </a:r>
            <a:r>
              <a:rPr dirty="0" spc="-10"/>
              <a:t> </a:t>
            </a:r>
            <a:r>
              <a:rPr dirty="0"/>
              <a:t>text</a:t>
            </a:r>
            <a:r>
              <a:rPr dirty="0" spc="2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speech</a:t>
            </a:r>
            <a:r>
              <a:rPr dirty="0" spc="-5"/>
              <a:t> </a:t>
            </a:r>
            <a:r>
              <a:rPr dirty="0"/>
              <a:t>data</a:t>
            </a:r>
            <a:r>
              <a:rPr dirty="0" spc="-5"/>
              <a:t> </a:t>
            </a:r>
            <a:r>
              <a:rPr dirty="0"/>
              <a:t>that</a:t>
            </a:r>
            <a:r>
              <a:rPr dirty="0" spc="15"/>
              <a:t> </a:t>
            </a:r>
            <a:r>
              <a:rPr dirty="0"/>
              <a:t>can</a:t>
            </a:r>
            <a:r>
              <a:rPr dirty="0" spc="-10"/>
              <a:t> </a:t>
            </a:r>
            <a:r>
              <a:rPr dirty="0"/>
              <a:t>be</a:t>
            </a:r>
            <a:r>
              <a:rPr dirty="0" spc="-5"/>
              <a:t> </a:t>
            </a:r>
            <a:r>
              <a:rPr dirty="0" spc="-20"/>
              <a:t>used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train</a:t>
            </a:r>
            <a:r>
              <a:rPr dirty="0" spc="-105"/>
              <a:t> </a:t>
            </a:r>
            <a:r>
              <a:rPr dirty="0"/>
              <a:t>AI and</a:t>
            </a:r>
            <a:r>
              <a:rPr dirty="0" spc="10"/>
              <a:t> </a:t>
            </a:r>
            <a:r>
              <a:rPr dirty="0"/>
              <a:t>machine</a:t>
            </a:r>
            <a:r>
              <a:rPr dirty="0" spc="-15"/>
              <a:t> </a:t>
            </a:r>
            <a:r>
              <a:rPr dirty="0"/>
              <a:t>learning</a:t>
            </a:r>
            <a:r>
              <a:rPr dirty="0" spc="-10"/>
              <a:t> </a:t>
            </a:r>
            <a:r>
              <a:rPr dirty="0"/>
              <a:t>systems.</a:t>
            </a:r>
            <a:r>
              <a:rPr dirty="0" spc="5"/>
              <a:t> </a:t>
            </a:r>
            <a:r>
              <a:rPr dirty="0"/>
              <a:t>If a</a:t>
            </a:r>
            <a:r>
              <a:rPr dirty="0" spc="10"/>
              <a:t> </a:t>
            </a:r>
            <a:r>
              <a:rPr dirty="0"/>
              <a:t>user</a:t>
            </a:r>
            <a:r>
              <a:rPr dirty="0" spc="10"/>
              <a:t> </a:t>
            </a:r>
            <a:r>
              <a:rPr dirty="0"/>
              <a:t>has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5"/>
              <a:t> </a:t>
            </a:r>
            <a:r>
              <a:rPr dirty="0" spc="-10"/>
              <a:t>specific </a:t>
            </a:r>
            <a:r>
              <a:rPr dirty="0"/>
              <a:t>problem</a:t>
            </a:r>
            <a:r>
              <a:rPr dirty="0" spc="-20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/>
              <a:t>objective</a:t>
            </a:r>
            <a:r>
              <a:rPr dirty="0" spc="-15"/>
              <a:t> </a:t>
            </a:r>
            <a:r>
              <a:rPr dirty="0"/>
              <a:t>they</a:t>
            </a:r>
            <a:r>
              <a:rPr dirty="0" spc="-5"/>
              <a:t> </a:t>
            </a:r>
            <a:r>
              <a:rPr dirty="0"/>
              <a:t>want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address,</a:t>
            </a:r>
            <a:r>
              <a:rPr dirty="0" spc="-20"/>
              <a:t> </a:t>
            </a:r>
            <a:r>
              <a:rPr dirty="0"/>
              <a:t>they’ll</a:t>
            </a:r>
            <a:r>
              <a:rPr dirty="0" spc="-5"/>
              <a:t> </a:t>
            </a:r>
            <a:r>
              <a:rPr dirty="0"/>
              <a:t>need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collection</a:t>
            </a:r>
            <a:r>
              <a:rPr dirty="0" spc="-40"/>
              <a:t> </a:t>
            </a:r>
            <a:r>
              <a:rPr dirty="0" spc="-25"/>
              <a:t>of </a:t>
            </a:r>
            <a:r>
              <a:rPr dirty="0"/>
              <a:t>data that</a:t>
            </a:r>
            <a:r>
              <a:rPr dirty="0" spc="-10"/>
              <a:t> </a:t>
            </a:r>
            <a:r>
              <a:rPr dirty="0"/>
              <a:t>supports, or</a:t>
            </a:r>
            <a:r>
              <a:rPr dirty="0" spc="5"/>
              <a:t> </a:t>
            </a:r>
            <a:r>
              <a:rPr dirty="0"/>
              <a:t>at least</a:t>
            </a:r>
            <a:r>
              <a:rPr dirty="0" spc="-5"/>
              <a:t> </a:t>
            </a:r>
            <a:r>
              <a:rPr dirty="0"/>
              <a:t>is a</a:t>
            </a:r>
            <a:r>
              <a:rPr dirty="0" spc="-10"/>
              <a:t> </a:t>
            </a:r>
            <a:r>
              <a:rPr dirty="0"/>
              <a:t>representation</a:t>
            </a:r>
            <a:r>
              <a:rPr dirty="0" spc="-15"/>
              <a:t> </a:t>
            </a:r>
            <a:r>
              <a:rPr dirty="0"/>
              <a:t>of, what</a:t>
            </a:r>
            <a:r>
              <a:rPr dirty="0" spc="5"/>
              <a:t> </a:t>
            </a:r>
            <a:r>
              <a:rPr dirty="0" spc="-10"/>
              <a:t>they’re </a:t>
            </a:r>
            <a:r>
              <a:rPr dirty="0"/>
              <a:t>looking</a:t>
            </a:r>
            <a:r>
              <a:rPr dirty="0" spc="-25"/>
              <a:t> </a:t>
            </a:r>
            <a:r>
              <a:rPr dirty="0"/>
              <a:t>to achieve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10"/>
              <a:t> </a:t>
            </a:r>
            <a:r>
              <a:rPr dirty="0"/>
              <a:t>machine</a:t>
            </a:r>
            <a:r>
              <a:rPr dirty="0" spc="-15"/>
              <a:t> </a:t>
            </a:r>
            <a:r>
              <a:rPr dirty="0"/>
              <a:t>learning</a:t>
            </a:r>
            <a:r>
              <a:rPr dirty="0" spc="-30"/>
              <a:t> </a:t>
            </a:r>
            <a:r>
              <a:rPr dirty="0"/>
              <a:t>and </a:t>
            </a:r>
            <a:r>
              <a:rPr dirty="0" spc="-20"/>
              <a:t>NLP.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Text</a:t>
            </a:r>
            <a:r>
              <a:rPr dirty="0" spc="-135"/>
              <a:t> </a:t>
            </a:r>
            <a:r>
              <a:rPr dirty="0" spc="-10"/>
              <a:t>normalization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291830" cy="335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409575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normalization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very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important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integral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step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Natural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processing.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used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speech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recognition,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text-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speech,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spam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email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identification,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many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other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of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NLP.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Consider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words: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"collection",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"collective","collect",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"collectively".These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base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word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"collect".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80340" algn="l"/>
                <a:tab pos="254635" algn="l"/>
              </a:tabLst>
            </a:pPr>
            <a:r>
              <a:rPr dirty="0" sz="2100">
                <a:solidFill>
                  <a:srgbClr val="005093"/>
                </a:solidFill>
                <a:latin typeface="Microsoft Sans Serif"/>
                <a:cs typeface="Microsoft Sans Serif"/>
              </a:rPr>
              <a:t>	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take 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 form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 and use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its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random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states.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is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important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remove this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randomness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our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computers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are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good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handling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this.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normalization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to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raw text to reduce this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randomness.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diagram of a natural language processing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724" y="1088135"/>
            <a:ext cx="5426964" cy="36911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Minimum</a:t>
            </a:r>
            <a:r>
              <a:rPr dirty="0" spc="-65"/>
              <a:t> </a:t>
            </a:r>
            <a:r>
              <a:rPr dirty="0"/>
              <a:t>edit</a:t>
            </a:r>
            <a:r>
              <a:rPr dirty="0" spc="-55"/>
              <a:t> </a:t>
            </a:r>
            <a:r>
              <a:rPr dirty="0" spc="-10"/>
              <a:t>distance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Regular</a:t>
            </a:r>
            <a:r>
              <a:rPr dirty="0" spc="-15"/>
              <a:t> </a:t>
            </a:r>
            <a:r>
              <a:rPr dirty="0" spc="-1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7902575" cy="296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Regular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 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class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 can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be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represented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finite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automata,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regular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expressions,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regular grammar.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have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predictable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are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computationally</a:t>
            </a:r>
            <a:r>
              <a:rPr dirty="0" sz="2100" spc="-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recognize.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Properties</a:t>
            </a:r>
            <a:r>
              <a:rPr dirty="0" sz="21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of</a:t>
            </a:r>
            <a:r>
              <a:rPr dirty="0" sz="2100" spc="-1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Regular</a:t>
            </a:r>
            <a:r>
              <a:rPr dirty="0" sz="2100" spc="-10" b="1">
                <a:solidFill>
                  <a:srgbClr val="525252"/>
                </a:solidFill>
                <a:latin typeface="Arial"/>
                <a:cs typeface="Arial"/>
              </a:rPr>
              <a:t> Languages</a:t>
            </a:r>
            <a:endParaRPr sz="21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1.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Closure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Properties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Regular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closed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operations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union,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concatenation,</a:t>
            </a:r>
            <a:r>
              <a:rPr dirty="0" sz="2100" spc="-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Kleene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star.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52116"/>
            <a:ext cx="8320405" cy="236220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1090"/>
              </a:spcBef>
            </a:pPr>
            <a:r>
              <a:rPr dirty="0" sz="2000" b="1">
                <a:solidFill>
                  <a:srgbClr val="273139"/>
                </a:solidFill>
                <a:latin typeface="Arial"/>
                <a:cs typeface="Arial"/>
              </a:rPr>
              <a:t>2.</a:t>
            </a:r>
            <a:r>
              <a:rPr dirty="0" sz="2000" spc="-3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73139"/>
                </a:solidFill>
                <a:latin typeface="Arial"/>
                <a:cs typeface="Arial"/>
              </a:rPr>
              <a:t>Finite</a:t>
            </a:r>
            <a:r>
              <a:rPr dirty="0" sz="2000" spc="-9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Arial"/>
                <a:cs typeface="Arial"/>
              </a:rPr>
              <a:t>Automata:</a:t>
            </a:r>
            <a:endParaRPr sz="20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Every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regular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language can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recognized</a:t>
            </a:r>
            <a:r>
              <a:rPr dirty="0" sz="20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by</a:t>
            </a:r>
            <a:r>
              <a:rPr dirty="0" sz="20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finite</a:t>
            </a:r>
            <a:r>
              <a:rPr dirty="0" sz="20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automaton</a:t>
            </a:r>
            <a:r>
              <a:rPr dirty="0" sz="20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30">
                <a:solidFill>
                  <a:srgbClr val="273139"/>
                </a:solidFill>
                <a:latin typeface="Microsoft Sans Serif"/>
                <a:cs typeface="Microsoft Sans Serif"/>
              </a:rPr>
              <a:t>(DFA</a:t>
            </a:r>
            <a:r>
              <a:rPr dirty="0" sz="2000" spc="-1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NFA).</a:t>
            </a:r>
            <a:endParaRPr sz="2000">
              <a:latin typeface="Microsoft Sans Serif"/>
              <a:cs typeface="Microsoft Sans Serif"/>
            </a:endParaRPr>
          </a:p>
          <a:p>
            <a:pPr marL="82550">
              <a:lnSpc>
                <a:spcPct val="100000"/>
              </a:lnSpc>
              <a:spcBef>
                <a:spcPts val="1005"/>
              </a:spcBef>
            </a:pPr>
            <a:r>
              <a:rPr dirty="0" sz="2000" b="1">
                <a:solidFill>
                  <a:srgbClr val="273139"/>
                </a:solidFill>
                <a:latin typeface="Arial"/>
                <a:cs typeface="Arial"/>
              </a:rPr>
              <a:t>3.</a:t>
            </a:r>
            <a:r>
              <a:rPr dirty="0" sz="2000" spc="-5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73139"/>
                </a:solidFill>
                <a:latin typeface="Arial"/>
                <a:cs typeface="Arial"/>
              </a:rPr>
              <a:t>Decision</a:t>
            </a:r>
            <a:r>
              <a:rPr dirty="0" sz="2000" spc="-50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Arial"/>
                <a:cs typeface="Arial"/>
              </a:rPr>
              <a:t>Problems:</a:t>
            </a:r>
            <a:endParaRPr sz="20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Problems</a:t>
            </a:r>
            <a:r>
              <a:rPr dirty="0" sz="20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membership</a:t>
            </a:r>
            <a:r>
              <a:rPr dirty="0" sz="2000" spc="-4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testing,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emptiness,</a:t>
            </a:r>
            <a:r>
              <a:rPr dirty="0" sz="2000" spc="-4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equivalence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Microsoft Sans Serif"/>
                <a:cs typeface="Microsoft Sans Serif"/>
              </a:rPr>
              <a:t>be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solved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for</a:t>
            </a:r>
            <a:r>
              <a:rPr dirty="0" sz="20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73139"/>
                </a:solidFill>
                <a:latin typeface="Microsoft Sans Serif"/>
                <a:cs typeface="Microsoft Sans Serif"/>
              </a:rPr>
              <a:t>regular</a:t>
            </a:r>
            <a:r>
              <a:rPr dirty="0" sz="20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Microsoft Sans Serif"/>
                <a:cs typeface="Microsoft Sans Serif"/>
              </a:rPr>
              <a:t>languages.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FSA(Finite</a:t>
            </a:r>
            <a:r>
              <a:rPr dirty="0" spc="-80"/>
              <a:t> </a:t>
            </a:r>
            <a:r>
              <a:rPr dirty="0"/>
              <a:t>State</a:t>
            </a:r>
            <a:r>
              <a:rPr dirty="0" spc="-200"/>
              <a:t> </a:t>
            </a:r>
            <a:r>
              <a:rPr dirty="0" spc="-10"/>
              <a:t>Automata)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195309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Finite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automata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(deterministic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non-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deterministic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finite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automata)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provide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decisions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regarding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acceptance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rejection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string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while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transducers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provide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some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output for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input.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Thus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two machines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quite useful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processing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tasks.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Finite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automata 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useful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deciding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whether 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given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belongs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particular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not.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128142"/>
            <a:ext cx="63398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Raw</a:t>
            </a:r>
            <a:r>
              <a:rPr dirty="0" spc="-120"/>
              <a:t> </a:t>
            </a:r>
            <a:r>
              <a:rPr dirty="0" spc="-50"/>
              <a:t>Text </a:t>
            </a:r>
            <a:r>
              <a:rPr dirty="0"/>
              <a:t>Extraction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114"/>
              <a:t> </a:t>
            </a:r>
            <a:r>
              <a:rPr dirty="0" spc="-1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269568"/>
            <a:ext cx="8301990" cy="226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 extraction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refer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extracting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raw textual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content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input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removing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irrelevant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formatting,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metadata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other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non-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 elements.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goal is to convert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 into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required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encoding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processing.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exact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depends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formats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organization,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static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PDFs,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HTML</a:t>
            </a:r>
            <a:r>
              <a:rPr dirty="0" sz="2100" spc="-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pages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plain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 files,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continuous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stream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7544"/>
            <a:ext cx="8254365" cy="271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Tokenization</a:t>
            </a:r>
            <a:r>
              <a:rPr dirty="0" sz="2100" spc="-4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fundamental</a:t>
            </a:r>
            <a:r>
              <a:rPr dirty="0" sz="2100" spc="-3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step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Processing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(NLP).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involves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dividing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6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Textual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input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smaller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units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known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as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tokens.</a:t>
            </a:r>
            <a:r>
              <a:rPr dirty="0" sz="2100" spc="-4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These tokens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 the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form of words, characters,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sub-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words,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or sentences.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helps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improving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interpretability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 text</a:t>
            </a:r>
            <a:r>
              <a:rPr dirty="0" sz="2100" spc="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by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-6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models</a:t>
            </a:r>
            <a:endParaRPr sz="2100">
              <a:latin typeface="Microsoft Sans Serif"/>
              <a:cs typeface="Microsoft Sans Serif"/>
            </a:endParaRPr>
          </a:p>
          <a:p>
            <a:pPr marL="180340" marR="2730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Tokens: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Sub-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context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language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processing.</a:t>
            </a:r>
            <a:r>
              <a:rPr dirty="0" sz="2100" spc="-10">
                <a:solidFill>
                  <a:srgbClr val="273139"/>
                </a:solidFill>
                <a:latin typeface="Microsoft Sans Serif"/>
                <a:cs typeface="Microsoft Sans Serif"/>
              </a:rPr>
              <a:t> Example:</a:t>
            </a:r>
            <a:r>
              <a:rPr dirty="0" sz="2100" spc="-1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token in a</a:t>
            </a:r>
            <a:r>
              <a:rPr dirty="0" sz="21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sentence,</a:t>
            </a:r>
            <a:r>
              <a:rPr dirty="0" sz="2100" spc="-1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character </a:t>
            </a:r>
            <a:r>
              <a:rPr dirty="0" sz="2100" spc="-25">
                <a:solidFill>
                  <a:srgbClr val="273139"/>
                </a:solidFill>
                <a:latin typeface="Microsoft Sans Serif"/>
                <a:cs typeface="Microsoft Sans Serif"/>
              </a:rPr>
              <a:t>is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token in a</a:t>
            </a:r>
            <a:r>
              <a:rPr dirty="0" sz="21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word,</a:t>
            </a:r>
            <a:r>
              <a:rPr dirty="0" sz="2100" spc="15">
                <a:solidFill>
                  <a:srgbClr val="273139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273139"/>
                </a:solidFill>
                <a:latin typeface="Microsoft Sans Serif"/>
                <a:cs typeface="Microsoft Sans Serif"/>
              </a:rPr>
              <a:t>etc.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diagram of a machine learning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147" y="1197863"/>
            <a:ext cx="6867144" cy="34122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128142"/>
            <a:ext cx="50298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Extracting</a:t>
            </a:r>
            <a:r>
              <a:rPr dirty="0" spc="-120"/>
              <a:t> </a:t>
            </a:r>
            <a:r>
              <a:rPr dirty="0" spc="-50"/>
              <a:t>Terms</a:t>
            </a:r>
            <a:r>
              <a:rPr dirty="0" spc="-75"/>
              <a:t> </a:t>
            </a:r>
            <a:r>
              <a:rPr dirty="0"/>
              <a:t>from</a:t>
            </a:r>
            <a:r>
              <a:rPr dirty="0" spc="-120"/>
              <a:t> </a:t>
            </a:r>
            <a:r>
              <a:rPr dirty="0" spc="-10"/>
              <a:t>Tokens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Extracting</a:t>
            </a:r>
            <a:r>
              <a:rPr dirty="0" spc="-30"/>
              <a:t> </a:t>
            </a:r>
            <a:r>
              <a:rPr dirty="0"/>
              <a:t>terms</a:t>
            </a:r>
            <a:r>
              <a:rPr dirty="0" spc="-5"/>
              <a:t> </a:t>
            </a:r>
            <a:r>
              <a:rPr dirty="0"/>
              <a:t>from</a:t>
            </a:r>
            <a:r>
              <a:rPr dirty="0" spc="-20"/>
              <a:t> </a:t>
            </a:r>
            <a:r>
              <a:rPr dirty="0"/>
              <a:t>tokens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NLP</a:t>
            </a:r>
            <a:r>
              <a:rPr dirty="0" spc="-45"/>
              <a:t> </a:t>
            </a:r>
            <a:r>
              <a:rPr dirty="0"/>
              <a:t>means</a:t>
            </a:r>
            <a:r>
              <a:rPr dirty="0" spc="-5"/>
              <a:t> </a:t>
            </a:r>
            <a:r>
              <a:rPr dirty="0"/>
              <a:t>identifying</a:t>
            </a:r>
            <a:r>
              <a:rPr dirty="0" spc="-35"/>
              <a:t> </a:t>
            </a:r>
            <a:r>
              <a:rPr dirty="0" spc="-10"/>
              <a:t>meaningful </a:t>
            </a:r>
            <a:r>
              <a:rPr dirty="0"/>
              <a:t>words</a:t>
            </a:r>
            <a:r>
              <a:rPr dirty="0" spc="10"/>
              <a:t> </a:t>
            </a:r>
            <a:r>
              <a:rPr dirty="0"/>
              <a:t>or phrases</a:t>
            </a:r>
            <a:r>
              <a:rPr dirty="0" spc="5"/>
              <a:t> </a:t>
            </a:r>
            <a:r>
              <a:rPr dirty="0"/>
              <a:t>(terms)</a:t>
            </a:r>
            <a:r>
              <a:rPr dirty="0" spc="10"/>
              <a:t> </a:t>
            </a:r>
            <a:r>
              <a:rPr dirty="0"/>
              <a:t>after breaking</a:t>
            </a:r>
            <a:r>
              <a:rPr dirty="0" spc="-25"/>
              <a:t> </a:t>
            </a:r>
            <a:r>
              <a:rPr dirty="0"/>
              <a:t>text</a:t>
            </a:r>
            <a:r>
              <a:rPr dirty="0" spc="25"/>
              <a:t> </a:t>
            </a:r>
            <a:r>
              <a:rPr dirty="0"/>
              <a:t>into</a:t>
            </a:r>
            <a:r>
              <a:rPr dirty="0" spc="-5"/>
              <a:t> </a:t>
            </a:r>
            <a:r>
              <a:rPr dirty="0"/>
              <a:t>smaller</a:t>
            </a:r>
            <a:r>
              <a:rPr dirty="0" spc="-25"/>
              <a:t> </a:t>
            </a:r>
            <a:r>
              <a:rPr dirty="0" spc="-10"/>
              <a:t>units </a:t>
            </a:r>
            <a:r>
              <a:rPr dirty="0"/>
              <a:t>(tokens)</a:t>
            </a:r>
            <a:r>
              <a:rPr dirty="0" spc="-15"/>
              <a:t> </a:t>
            </a:r>
            <a:r>
              <a:rPr dirty="0"/>
              <a:t>using</a:t>
            </a:r>
            <a:r>
              <a:rPr dirty="0" spc="-10"/>
              <a:t> </a:t>
            </a:r>
            <a:r>
              <a:rPr dirty="0"/>
              <a:t>methods like</a:t>
            </a:r>
            <a:r>
              <a:rPr dirty="0" spc="-25"/>
              <a:t> </a:t>
            </a:r>
            <a:r>
              <a:rPr dirty="0"/>
              <a:t>space</a:t>
            </a:r>
            <a:r>
              <a:rPr dirty="0" spc="-10"/>
              <a:t> </a:t>
            </a:r>
            <a:r>
              <a:rPr dirty="0"/>
              <a:t>splitting</a:t>
            </a:r>
            <a:r>
              <a:rPr dirty="0" spc="-35"/>
              <a:t> </a:t>
            </a:r>
            <a:r>
              <a:rPr dirty="0"/>
              <a:t>or</a:t>
            </a:r>
            <a:r>
              <a:rPr dirty="0" spc="-10"/>
              <a:t> </a:t>
            </a:r>
            <a:r>
              <a:rPr dirty="0"/>
              <a:t>advanced</a:t>
            </a:r>
            <a:r>
              <a:rPr dirty="0" spc="-5"/>
              <a:t> </a:t>
            </a:r>
            <a:r>
              <a:rPr dirty="0" spc="-10"/>
              <a:t>tokenizers </a:t>
            </a:r>
            <a:r>
              <a:rPr dirty="0"/>
              <a:t>(e.g., spaCy) and then</a:t>
            </a:r>
            <a:r>
              <a:rPr dirty="0" spc="-15"/>
              <a:t> </a:t>
            </a:r>
            <a:r>
              <a:rPr dirty="0"/>
              <a:t>applying</a:t>
            </a:r>
            <a:r>
              <a:rPr dirty="0" spc="-15"/>
              <a:t> </a:t>
            </a:r>
            <a:r>
              <a:rPr dirty="0"/>
              <a:t>techniques</a:t>
            </a:r>
            <a:r>
              <a:rPr dirty="0" spc="-15"/>
              <a:t> </a:t>
            </a:r>
            <a:r>
              <a:rPr dirty="0"/>
              <a:t>such</a:t>
            </a:r>
            <a:r>
              <a:rPr dirty="0" spc="-25"/>
              <a:t> </a:t>
            </a:r>
            <a:r>
              <a:rPr dirty="0"/>
              <a:t>as</a:t>
            </a:r>
            <a:r>
              <a:rPr dirty="0" spc="20"/>
              <a:t> </a:t>
            </a:r>
            <a:r>
              <a:rPr dirty="0" spc="-10"/>
              <a:t>Keyword </a:t>
            </a:r>
            <a:r>
              <a:rPr dirty="0"/>
              <a:t>Extraction</a:t>
            </a:r>
            <a:r>
              <a:rPr dirty="0" spc="-25"/>
              <a:t> (TextRank,</a:t>
            </a:r>
            <a:r>
              <a:rPr dirty="0" spc="-40"/>
              <a:t> </a:t>
            </a:r>
            <a:r>
              <a:rPr dirty="0" spc="-20"/>
              <a:t>TF-</a:t>
            </a:r>
            <a:r>
              <a:rPr dirty="0"/>
              <a:t>IDF)</a:t>
            </a:r>
            <a:r>
              <a:rPr dirty="0" spc="-5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/>
              <a:t>Named</a:t>
            </a:r>
            <a:r>
              <a:rPr dirty="0" spc="-15"/>
              <a:t> </a:t>
            </a:r>
            <a:r>
              <a:rPr dirty="0"/>
              <a:t>Entity</a:t>
            </a:r>
            <a:r>
              <a:rPr dirty="0" spc="-30"/>
              <a:t> </a:t>
            </a:r>
            <a:r>
              <a:rPr dirty="0"/>
              <a:t>Recognition</a:t>
            </a:r>
            <a:r>
              <a:rPr dirty="0" spc="-35"/>
              <a:t> </a:t>
            </a:r>
            <a:r>
              <a:rPr dirty="0"/>
              <a:t>(NER)</a:t>
            </a:r>
            <a:r>
              <a:rPr dirty="0" spc="-15"/>
              <a:t> </a:t>
            </a:r>
            <a:r>
              <a:rPr dirty="0" spc="-25"/>
              <a:t>to </a:t>
            </a:r>
            <a:r>
              <a:rPr dirty="0"/>
              <a:t>find</a:t>
            </a:r>
            <a:r>
              <a:rPr dirty="0" spc="-30"/>
              <a:t> </a:t>
            </a:r>
            <a:r>
              <a:rPr dirty="0"/>
              <a:t>important</a:t>
            </a:r>
            <a:r>
              <a:rPr dirty="0" spc="-10"/>
              <a:t> </a:t>
            </a:r>
            <a:r>
              <a:rPr dirty="0"/>
              <a:t>concepts,</a:t>
            </a:r>
            <a:r>
              <a:rPr dirty="0" spc="-30"/>
              <a:t> </a:t>
            </a:r>
            <a:r>
              <a:rPr dirty="0"/>
              <a:t>entities,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20"/>
              <a:t> </a:t>
            </a:r>
            <a:r>
              <a:rPr dirty="0"/>
              <a:t>keywords</a:t>
            </a:r>
            <a:r>
              <a:rPr dirty="0" spc="-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analysis,</a:t>
            </a:r>
            <a:r>
              <a:rPr dirty="0" spc="-25"/>
              <a:t> </a:t>
            </a:r>
            <a:r>
              <a:rPr dirty="0" spc="-10"/>
              <a:t>sentiment,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/>
              <a:t>information</a:t>
            </a:r>
            <a:r>
              <a:rPr dirty="0" spc="-15"/>
              <a:t> </a:t>
            </a:r>
            <a:r>
              <a:rPr dirty="0" spc="-10"/>
              <a:t>retrieval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Normalization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Normalization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 b="1">
                <a:latin typeface="Arial"/>
                <a:cs typeface="Arial"/>
              </a:rPr>
              <a:t>NLP</a:t>
            </a:r>
            <a:r>
              <a:rPr dirty="0" spc="-80" b="1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basically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25"/>
              <a:t> </a:t>
            </a:r>
            <a:r>
              <a:rPr dirty="0" b="1">
                <a:latin typeface="Arial"/>
                <a:cs typeface="Arial"/>
              </a:rPr>
              <a:t>cleaning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standardizing </a:t>
            </a:r>
            <a:r>
              <a:rPr dirty="0" b="1">
                <a:latin typeface="Arial"/>
                <a:cs typeface="Arial"/>
              </a:rPr>
              <a:t>text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/>
              <a:t>so the</a:t>
            </a:r>
            <a:r>
              <a:rPr dirty="0" spc="-2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doesn’t</a:t>
            </a:r>
            <a:r>
              <a:rPr dirty="0" spc="-10"/>
              <a:t> </a:t>
            </a:r>
            <a:r>
              <a:rPr dirty="0"/>
              <a:t>get</a:t>
            </a:r>
            <a:r>
              <a:rPr dirty="0" spc="5"/>
              <a:t> </a:t>
            </a:r>
            <a:r>
              <a:rPr dirty="0"/>
              <a:t>confused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20"/>
              <a:t> </a:t>
            </a:r>
            <a:r>
              <a:rPr dirty="0"/>
              <a:t>different</a:t>
            </a:r>
            <a:r>
              <a:rPr dirty="0" spc="-10"/>
              <a:t> </a:t>
            </a:r>
            <a:r>
              <a:rPr dirty="0"/>
              <a:t>ways</a:t>
            </a:r>
            <a:r>
              <a:rPr dirty="0" spc="5"/>
              <a:t> </a:t>
            </a:r>
            <a:r>
              <a:rPr dirty="0" spc="-25"/>
              <a:t>of</a:t>
            </a:r>
            <a:r>
              <a:rPr dirty="0" spc="525"/>
              <a:t> </a:t>
            </a:r>
            <a:r>
              <a:rPr dirty="0"/>
              <a:t>writing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i="1">
                <a:latin typeface="Arial"/>
                <a:cs typeface="Arial"/>
              </a:rPr>
              <a:t>same</a:t>
            </a:r>
            <a:r>
              <a:rPr dirty="0" spc="-2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thing.</a:t>
            </a:r>
          </a:p>
          <a:p>
            <a:pPr marL="204470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>
                <a:solidFill>
                  <a:srgbClr val="273139"/>
                </a:solidFill>
              </a:rPr>
              <a:t>Here</a:t>
            </a:r>
            <a:r>
              <a:rPr dirty="0" spc="5">
                <a:solidFill>
                  <a:srgbClr val="273139"/>
                </a:solidFill>
              </a:rPr>
              <a:t> </a:t>
            </a:r>
            <a:r>
              <a:rPr dirty="0">
                <a:solidFill>
                  <a:srgbClr val="273139"/>
                </a:solidFill>
              </a:rPr>
              <a:t>are</a:t>
            </a:r>
            <a:r>
              <a:rPr dirty="0" spc="10">
                <a:solidFill>
                  <a:srgbClr val="273139"/>
                </a:solidFill>
              </a:rPr>
              <a:t> </a:t>
            </a:r>
            <a:r>
              <a:rPr dirty="0">
                <a:solidFill>
                  <a:srgbClr val="273139"/>
                </a:solidFill>
              </a:rPr>
              <a:t>some</a:t>
            </a:r>
            <a:r>
              <a:rPr dirty="0" spc="5">
                <a:solidFill>
                  <a:srgbClr val="273139"/>
                </a:solidFill>
              </a:rPr>
              <a:t> </a:t>
            </a:r>
            <a:r>
              <a:rPr dirty="0">
                <a:solidFill>
                  <a:srgbClr val="273139"/>
                </a:solidFill>
              </a:rPr>
              <a:t>of</a:t>
            </a:r>
            <a:r>
              <a:rPr dirty="0" spc="15">
                <a:solidFill>
                  <a:srgbClr val="273139"/>
                </a:solidFill>
              </a:rPr>
              <a:t> </a:t>
            </a:r>
            <a:r>
              <a:rPr dirty="0">
                <a:solidFill>
                  <a:srgbClr val="273139"/>
                </a:solidFill>
              </a:rPr>
              <a:t>the</a:t>
            </a:r>
            <a:r>
              <a:rPr dirty="0" spc="10">
                <a:solidFill>
                  <a:srgbClr val="273139"/>
                </a:solidFill>
              </a:rPr>
              <a:t> </a:t>
            </a:r>
            <a:r>
              <a:rPr dirty="0">
                <a:solidFill>
                  <a:srgbClr val="273139"/>
                </a:solidFill>
              </a:rPr>
              <a:t>key NLP</a:t>
            </a:r>
            <a:r>
              <a:rPr dirty="0" spc="-20">
                <a:solidFill>
                  <a:srgbClr val="273139"/>
                </a:solidFill>
              </a:rPr>
              <a:t> </a:t>
            </a:r>
            <a:r>
              <a:rPr dirty="0" spc="-10">
                <a:solidFill>
                  <a:srgbClr val="273139"/>
                </a:solidFill>
              </a:rPr>
              <a:t>techniques:</a:t>
            </a:r>
          </a:p>
          <a:p>
            <a:pPr marL="204470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>
                <a:solidFill>
                  <a:srgbClr val="273139"/>
                </a:solidFill>
              </a:rPr>
              <a:t>1.</a:t>
            </a:r>
            <a:r>
              <a:rPr dirty="0" spc="-45">
                <a:solidFill>
                  <a:srgbClr val="273139"/>
                </a:solidFill>
              </a:rPr>
              <a:t> </a:t>
            </a:r>
            <a:r>
              <a:rPr dirty="0" spc="-40">
                <a:solidFill>
                  <a:srgbClr val="273139"/>
                </a:solidFill>
              </a:rPr>
              <a:t>Text</a:t>
            </a:r>
            <a:r>
              <a:rPr dirty="0" spc="-10">
                <a:solidFill>
                  <a:srgbClr val="273139"/>
                </a:solidFill>
              </a:rPr>
              <a:t> </a:t>
            </a:r>
            <a:r>
              <a:rPr dirty="0">
                <a:solidFill>
                  <a:srgbClr val="273139"/>
                </a:solidFill>
              </a:rPr>
              <a:t>Processing</a:t>
            </a:r>
            <a:r>
              <a:rPr dirty="0" spc="-50">
                <a:solidFill>
                  <a:srgbClr val="273139"/>
                </a:solidFill>
              </a:rPr>
              <a:t> </a:t>
            </a:r>
            <a:r>
              <a:rPr dirty="0">
                <a:solidFill>
                  <a:srgbClr val="273139"/>
                </a:solidFill>
              </a:rPr>
              <a:t>and</a:t>
            </a:r>
            <a:r>
              <a:rPr dirty="0" spc="-15">
                <a:solidFill>
                  <a:srgbClr val="273139"/>
                </a:solidFill>
              </a:rPr>
              <a:t> </a:t>
            </a:r>
            <a:r>
              <a:rPr dirty="0" spc="-10">
                <a:solidFill>
                  <a:srgbClr val="273139"/>
                </a:solidFill>
              </a:rPr>
              <a:t>Preprocessing</a:t>
            </a:r>
          </a:p>
          <a:p>
            <a:pPr marL="205104" marR="104140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 u="sng" sz="2000" spc="-10" b="1">
                <a:uFill>
                  <a:solidFill>
                    <a:srgbClr val="525252"/>
                  </a:solidFill>
                </a:uFill>
                <a:latin typeface="Arial"/>
                <a:cs typeface="Arial"/>
                <a:hlinkClick r:id="rId2"/>
              </a:rPr>
              <a:t>Tokenization</a:t>
            </a:r>
            <a:r>
              <a:rPr dirty="0" sz="2000" spc="-10">
                <a:solidFill>
                  <a:srgbClr val="273139"/>
                </a:solidFill>
              </a:rPr>
              <a:t>:</a:t>
            </a:r>
            <a:r>
              <a:rPr dirty="0" sz="2000" spc="-50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Dividing text</a:t>
            </a:r>
            <a:r>
              <a:rPr dirty="0" sz="2000" spc="-25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into</a:t>
            </a:r>
            <a:r>
              <a:rPr dirty="0" sz="2000" spc="-10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smaller</a:t>
            </a:r>
            <a:r>
              <a:rPr dirty="0" sz="2000" spc="-25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units,</a:t>
            </a:r>
            <a:r>
              <a:rPr dirty="0" sz="2000" spc="-25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such</a:t>
            </a:r>
            <a:r>
              <a:rPr dirty="0" sz="2000" spc="-25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as</a:t>
            </a:r>
            <a:r>
              <a:rPr dirty="0" sz="2000" spc="-15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words</a:t>
            </a:r>
            <a:r>
              <a:rPr dirty="0" sz="2000" spc="-40">
                <a:solidFill>
                  <a:srgbClr val="273139"/>
                </a:solidFill>
              </a:rPr>
              <a:t> </a:t>
            </a:r>
            <a:r>
              <a:rPr dirty="0" sz="2000" spc="-25">
                <a:solidFill>
                  <a:srgbClr val="273139"/>
                </a:solidFill>
              </a:rPr>
              <a:t>or </a:t>
            </a:r>
            <a:r>
              <a:rPr dirty="0" sz="2000" spc="-10">
                <a:solidFill>
                  <a:srgbClr val="273139"/>
                </a:solidFill>
              </a:rPr>
              <a:t>sentences.</a:t>
            </a:r>
            <a:endParaRPr sz="2000">
              <a:latin typeface="Arial"/>
              <a:cs typeface="Arial"/>
            </a:endParaRPr>
          </a:p>
          <a:p>
            <a:pPr marL="204470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 u="sng" sz="2000" b="1">
                <a:uFill>
                  <a:solidFill>
                    <a:srgbClr val="525252"/>
                  </a:solidFill>
                </a:uFill>
                <a:latin typeface="Arial"/>
                <a:cs typeface="Arial"/>
                <a:hlinkClick r:id="rId3"/>
              </a:rPr>
              <a:t>Stemming</a:t>
            </a:r>
            <a:r>
              <a:rPr dirty="0" u="sng" sz="2000" spc="-35" b="1">
                <a:uFill>
                  <a:solidFill>
                    <a:srgbClr val="525252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sng" sz="2000" b="1">
                <a:uFill>
                  <a:solidFill>
                    <a:srgbClr val="525252"/>
                  </a:solidFill>
                </a:uFill>
                <a:latin typeface="Arial"/>
                <a:cs typeface="Arial"/>
                <a:hlinkClick r:id="rId3"/>
              </a:rPr>
              <a:t>and</a:t>
            </a:r>
            <a:r>
              <a:rPr dirty="0" u="sng" sz="2000" spc="-20" b="1">
                <a:uFill>
                  <a:solidFill>
                    <a:srgbClr val="525252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sng" sz="2000" b="1">
                <a:uFill>
                  <a:solidFill>
                    <a:srgbClr val="525252"/>
                  </a:solidFill>
                </a:uFill>
                <a:latin typeface="Arial"/>
                <a:cs typeface="Arial"/>
                <a:hlinkClick r:id="rId3"/>
              </a:rPr>
              <a:t>Lemmatization</a:t>
            </a:r>
            <a:r>
              <a:rPr dirty="0" sz="2000">
                <a:solidFill>
                  <a:srgbClr val="273139"/>
                </a:solidFill>
              </a:rPr>
              <a:t>:</a:t>
            </a:r>
            <a:r>
              <a:rPr dirty="0" sz="2000" spc="-35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Reducing</a:t>
            </a:r>
            <a:r>
              <a:rPr dirty="0" sz="2000" spc="-20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words</a:t>
            </a:r>
            <a:r>
              <a:rPr dirty="0" sz="2000" spc="-10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to</a:t>
            </a:r>
            <a:r>
              <a:rPr dirty="0" sz="2000" spc="-10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their</a:t>
            </a:r>
            <a:r>
              <a:rPr dirty="0" sz="2000" spc="-5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base</a:t>
            </a:r>
            <a:r>
              <a:rPr dirty="0" sz="2000" spc="-10">
                <a:solidFill>
                  <a:srgbClr val="273139"/>
                </a:solidFill>
              </a:rPr>
              <a:t> </a:t>
            </a:r>
            <a:r>
              <a:rPr dirty="0" sz="2000">
                <a:solidFill>
                  <a:srgbClr val="273139"/>
                </a:solidFill>
              </a:rPr>
              <a:t>or </a:t>
            </a:r>
            <a:r>
              <a:rPr dirty="0" sz="2000" spc="-20">
                <a:solidFill>
                  <a:srgbClr val="273139"/>
                </a:solidFill>
              </a:rPr>
              <a:t>root</a:t>
            </a:r>
            <a:endParaRPr sz="20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</a:pPr>
            <a:r>
              <a:rPr dirty="0" sz="2000" spc="-10">
                <a:solidFill>
                  <a:srgbClr val="273139"/>
                </a:solidFill>
              </a:rPr>
              <a:t>forms</a:t>
            </a:r>
            <a:r>
              <a:rPr dirty="0" sz="1400" spc="-10">
                <a:solidFill>
                  <a:srgbClr val="273139"/>
                </a:solidFill>
                <a:latin typeface="Bahnschrift"/>
                <a:cs typeface="Bahnschrift"/>
              </a:rPr>
              <a:t>.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400" y="4621860"/>
            <a:ext cx="45720" cy="242570"/>
          </a:xfrm>
          <a:custGeom>
            <a:avLst/>
            <a:gdLst/>
            <a:ahLst/>
            <a:cxnLst/>
            <a:rect l="l" t="t" r="r" b="b"/>
            <a:pathLst>
              <a:path w="45720" h="242570">
                <a:moveTo>
                  <a:pt x="45720" y="0"/>
                </a:moveTo>
                <a:lnTo>
                  <a:pt x="0" y="0"/>
                </a:lnTo>
                <a:lnTo>
                  <a:pt x="0" y="242316"/>
                </a:lnTo>
                <a:lnTo>
                  <a:pt x="45720" y="242316"/>
                </a:lnTo>
                <a:lnTo>
                  <a:pt x="457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0400" y="4963233"/>
            <a:ext cx="45720" cy="180340"/>
          </a:xfrm>
          <a:custGeom>
            <a:avLst/>
            <a:gdLst/>
            <a:ahLst/>
            <a:cxnLst/>
            <a:rect l="l" t="t" r="r" b="b"/>
            <a:pathLst>
              <a:path w="45720" h="180339">
                <a:moveTo>
                  <a:pt x="45720" y="0"/>
                </a:moveTo>
                <a:lnTo>
                  <a:pt x="0" y="0"/>
                </a:lnTo>
                <a:lnTo>
                  <a:pt x="0" y="180266"/>
                </a:lnTo>
                <a:lnTo>
                  <a:pt x="45720" y="180266"/>
                </a:lnTo>
                <a:lnTo>
                  <a:pt x="457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202295" cy="27749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273139"/>
                </a:solidFill>
                <a:latin typeface="Microsoft Sans Serif"/>
                <a:cs typeface="Microsoft Sans Serif"/>
              </a:rPr>
              <a:t>2.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Syntax</a:t>
            </a:r>
            <a:r>
              <a:rPr dirty="0" sz="2100" spc="-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273139"/>
                </a:solidFill>
                <a:latin typeface="Arial"/>
                <a:cs typeface="Arial"/>
              </a:rPr>
              <a:t>and</a:t>
            </a:r>
            <a:r>
              <a:rPr dirty="0" sz="2100" spc="-25" b="1">
                <a:solidFill>
                  <a:srgbClr val="273139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273139"/>
                </a:solidFill>
                <a:latin typeface="Arial"/>
                <a:cs typeface="Arial"/>
              </a:rPr>
              <a:t>Parsing</a:t>
            </a:r>
            <a:endParaRPr sz="21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Part-of-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Speech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(POS)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Tagging:</a:t>
            </a:r>
            <a:r>
              <a:rPr dirty="0" sz="2100" spc="-10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Assigning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parts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speech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each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(e.g.,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noun,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verb,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adjective).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Dependency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Parsing:</a:t>
            </a:r>
            <a:r>
              <a:rPr dirty="0" sz="2100" spc="-1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identify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relationships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between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Constituency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Parsing: Breaking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down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sentence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its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constituent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phrases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(e.g.,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noun phrases,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verb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phrases).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245475" cy="27749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3.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</a:t>
            </a:r>
            <a:r>
              <a:rPr dirty="0" sz="2100" spc="-114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Named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Entity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Recognition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(NER):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classifying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entities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text, such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names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people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organizations,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locations,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dates,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etc.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Sense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Disambiguation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(WSD):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Determining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which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context.</a:t>
            </a:r>
            <a:endParaRPr sz="2100">
              <a:latin typeface="Microsoft Sans Serif"/>
              <a:cs typeface="Microsoft Sans Serif"/>
            </a:endParaRPr>
          </a:p>
          <a:p>
            <a:pPr marL="180340" marR="1143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Coreference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Resolution: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refer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same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entity 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text (e.g.,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"he"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refers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"John").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978"/>
            <a:ext cx="8187055" cy="245491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234950" indent="-224154">
              <a:lnSpc>
                <a:spcPct val="100000"/>
              </a:lnSpc>
              <a:spcBef>
                <a:spcPts val="1105"/>
              </a:spcBef>
              <a:buSzPct val="95238"/>
              <a:buAutoNum type="arabicPeriod" startAt="4"/>
              <a:tabLst>
                <a:tab pos="234950" algn="l"/>
              </a:tabLst>
            </a:pP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Classification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endParaRPr sz="2100">
              <a:latin typeface="Microsoft Sans Serif"/>
              <a:cs typeface="Microsoft Sans Serif"/>
            </a:endParaRPr>
          </a:p>
          <a:p>
            <a:pPr lvl="1"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Sentiment</a:t>
            </a:r>
            <a:r>
              <a:rPr dirty="0" sz="2100" spc="-1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Analysis: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Determining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sentiment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emotional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tone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expressed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(e.g.,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positive,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negative,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neutral).</a:t>
            </a:r>
            <a:endParaRPr sz="2100">
              <a:latin typeface="Microsoft Sans Serif"/>
              <a:cs typeface="Microsoft Sans Serif"/>
            </a:endParaRPr>
          </a:p>
          <a:p>
            <a:pPr lvl="1"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Topic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Modeling: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Identifying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topics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themes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within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large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collection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documents.</a:t>
            </a:r>
            <a:endParaRPr sz="2100">
              <a:latin typeface="Microsoft Sans Serif"/>
              <a:cs typeface="Microsoft Sans Serif"/>
            </a:endParaRPr>
          </a:p>
          <a:p>
            <a:pPr lvl="1"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Spam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Detection: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Classifying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 spam or not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spam.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4229" y="2344927"/>
            <a:ext cx="2190750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1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3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75" b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3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502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9216" y="1036446"/>
            <a:ext cx="719200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Course</a:t>
            </a:r>
            <a:r>
              <a:rPr dirty="0" sz="2400" spc="-114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Title</a:t>
            </a:r>
            <a:r>
              <a:rPr dirty="0" sz="2400" spc="-50">
                <a:solidFill>
                  <a:srgbClr val="FFFFFF"/>
                </a:solidFill>
              </a:rPr>
              <a:t> </a:t>
            </a:r>
            <a:r>
              <a:rPr dirty="0" sz="2400" spc="635">
                <a:solidFill>
                  <a:srgbClr val="FFFFFF"/>
                </a:solidFill>
              </a:rPr>
              <a:t>–</a:t>
            </a:r>
            <a:r>
              <a:rPr dirty="0" sz="2400" spc="-30">
                <a:solidFill>
                  <a:srgbClr val="FFFFFF"/>
                </a:solidFill>
              </a:rPr>
              <a:t>NATURAL</a:t>
            </a:r>
            <a:r>
              <a:rPr dirty="0" sz="2400" spc="-130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LANGUAGE</a:t>
            </a:r>
            <a:r>
              <a:rPr dirty="0" sz="2400" spc="-75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PROCESSING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39216" y="1792300"/>
            <a:ext cx="6408420" cy="95186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25"/>
              </a:spcBef>
            </a:pPr>
            <a:r>
              <a:rPr dirty="0" sz="3200" spc="-65">
                <a:solidFill>
                  <a:srgbClr val="FFFFFF"/>
                </a:solidFill>
                <a:latin typeface="Microsoft Sans Serif"/>
                <a:cs typeface="Microsoft Sans Serif"/>
              </a:rPr>
              <a:t>Topic</a:t>
            </a:r>
            <a:r>
              <a:rPr dirty="0" sz="3200" spc="-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FFFFFF"/>
                </a:solidFill>
                <a:latin typeface="Microsoft Sans Serif"/>
                <a:cs typeface="Microsoft Sans Serif"/>
              </a:rPr>
              <a:t>Title:</a:t>
            </a:r>
            <a:r>
              <a:rPr dirty="0" sz="32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r>
              <a:rPr dirty="0" sz="32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Microsoft Sans Serif"/>
                <a:cs typeface="Microsoft Sans Serif"/>
              </a:rPr>
              <a:t>N-</a:t>
            </a:r>
            <a:r>
              <a:rPr dirty="0" sz="3200">
                <a:solidFill>
                  <a:srgbClr val="FFFFFF"/>
                </a:solidFill>
                <a:latin typeface="Microsoft Sans Serif"/>
                <a:cs typeface="Microsoft Sans Serif"/>
              </a:rPr>
              <a:t>GRAM</a:t>
            </a:r>
            <a:r>
              <a:rPr dirty="0" sz="32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Microsoft Sans Serif"/>
                <a:cs typeface="Microsoft Sans Serif"/>
              </a:rPr>
              <a:t>LANGUAGE MODELS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972" y="3295269"/>
            <a:ext cx="428752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B.</a:t>
            </a:r>
            <a:r>
              <a:rPr dirty="0" sz="1800" spc="1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Lakshmi</a:t>
            </a:r>
            <a:r>
              <a:rPr dirty="0" sz="1800" spc="-20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Prasanna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ID</a:t>
            </a:r>
            <a:r>
              <a:rPr dirty="0" sz="18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IARE10706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8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1702" y="4934924"/>
            <a:ext cx="110489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923" y="497585"/>
            <a:ext cx="8412480" cy="3769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082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5093"/>
                </a:solidFill>
                <a:latin typeface="Microsoft Sans Serif"/>
                <a:cs typeface="Microsoft Sans Serif"/>
              </a:rPr>
              <a:t>COURSE</a:t>
            </a:r>
            <a:r>
              <a:rPr dirty="0" sz="1800" spc="-10">
                <a:solidFill>
                  <a:srgbClr val="005093"/>
                </a:solidFill>
                <a:latin typeface="Microsoft Sans Serif"/>
                <a:cs typeface="Microsoft Sans Serif"/>
              </a:rPr>
              <a:t> OVERVIEW: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algn="just" marL="179705" indent="-167005">
              <a:lnSpc>
                <a:spcPct val="100000"/>
              </a:lnSpc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study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process,</a:t>
            </a:r>
            <a:endParaRPr sz="2100">
              <a:latin typeface="Microsoft Sans Serif"/>
              <a:cs typeface="Microsoft Sans Serif"/>
            </a:endParaRPr>
          </a:p>
          <a:p>
            <a:pPr algn="just"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understand,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communicate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human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primary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 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course will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 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understanding various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NLP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effectively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solving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problems,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evaluating their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performance.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9525" indent="-167640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intended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31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theoretical</a:t>
            </a:r>
            <a:r>
              <a:rPr dirty="0" sz="2100" spc="32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methodological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widely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current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techniques,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strategies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toolkits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natural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primary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those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Python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programming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766"/>
            <a:ext cx="8224520" cy="277685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try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learn</a:t>
            </a:r>
            <a:endParaRPr sz="21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252729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I.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 based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CORPUS.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II.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essentials</a:t>
            </a:r>
            <a:r>
              <a:rPr dirty="0" sz="2100" spc="-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text.</a:t>
            </a:r>
            <a:endParaRPr sz="21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52729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III.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learning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cutting-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edge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deep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learning.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670001"/>
            <a:ext cx="3653154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COURSES</a:t>
            </a:r>
            <a:r>
              <a:rPr dirty="0" sz="24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OBJECTIVES: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766"/>
            <a:ext cx="8228330" cy="245681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 the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should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able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CO1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Remember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knowledge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behavior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terms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phonetics,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CO2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pragmatics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processing.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CO3</a:t>
            </a:r>
            <a:r>
              <a:rPr dirty="0" sz="2100" spc="-1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CORPUS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compile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texts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digestive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games.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670001"/>
            <a:ext cx="359854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525252"/>
                </a:solidFill>
              </a:rPr>
              <a:t>III.</a:t>
            </a:r>
            <a:r>
              <a:rPr dirty="0" sz="2400" spc="-25">
                <a:solidFill>
                  <a:srgbClr val="525252"/>
                </a:solidFill>
              </a:rPr>
              <a:t> </a:t>
            </a:r>
            <a:r>
              <a:rPr dirty="0" sz="2400">
                <a:solidFill>
                  <a:srgbClr val="525252"/>
                </a:solidFill>
              </a:rPr>
              <a:t>COURSE</a:t>
            </a:r>
            <a:r>
              <a:rPr dirty="0" sz="2400" spc="30">
                <a:solidFill>
                  <a:srgbClr val="525252"/>
                </a:solidFill>
              </a:rPr>
              <a:t> </a:t>
            </a:r>
            <a:r>
              <a:rPr dirty="0" sz="2400" spc="-10">
                <a:solidFill>
                  <a:srgbClr val="525252"/>
                </a:solidFill>
              </a:rPr>
              <a:t>OUTCOMES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670001"/>
            <a:ext cx="359854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525252"/>
                </a:solidFill>
              </a:rPr>
              <a:t>III.</a:t>
            </a:r>
            <a:r>
              <a:rPr dirty="0" sz="2400" spc="-25">
                <a:solidFill>
                  <a:srgbClr val="525252"/>
                </a:solidFill>
              </a:rPr>
              <a:t> </a:t>
            </a:r>
            <a:r>
              <a:rPr dirty="0" sz="2400">
                <a:solidFill>
                  <a:srgbClr val="525252"/>
                </a:solidFill>
              </a:rPr>
              <a:t>COURSE</a:t>
            </a:r>
            <a:r>
              <a:rPr dirty="0" sz="2400" spc="30">
                <a:solidFill>
                  <a:srgbClr val="525252"/>
                </a:solidFill>
              </a:rPr>
              <a:t> </a:t>
            </a:r>
            <a:r>
              <a:rPr dirty="0" sz="2400" spc="-10">
                <a:solidFill>
                  <a:srgbClr val="525252"/>
                </a:solidFill>
              </a:rPr>
              <a:t>OUTCOMES</a:t>
            </a:r>
            <a:endParaRPr sz="2400"/>
          </a:p>
        </p:txBody>
      </p:sp>
      <p:sp>
        <p:nvSpPr>
          <p:cNvPr id="2" name="object 2"/>
          <p:cNvSpPr txBox="1"/>
          <p:nvPr/>
        </p:nvSpPr>
        <p:spPr>
          <a:xfrm>
            <a:off x="430174" y="1175969"/>
            <a:ext cx="8206740" cy="22021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CO4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various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approaches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machine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translation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CO5</a:t>
            </a:r>
            <a:r>
              <a:rPr dirty="0" sz="2100" spc="-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of-speech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(POS)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suitable modeling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CO6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text-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respect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3326" y="1049766"/>
            <a:ext cx="7932420" cy="264858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endParaRPr sz="2100">
              <a:latin typeface="Microsoft Sans Serif"/>
              <a:cs typeface="Microsoft Sans Serif"/>
            </a:endParaRPr>
          </a:p>
          <a:p>
            <a:pPr marL="228600" marR="5080">
              <a:lnSpc>
                <a:spcPct val="100000"/>
              </a:lnSpc>
              <a:spcBef>
                <a:spcPts val="101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N-grams,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models,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Generalization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zeros,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smoothing,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kneser-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huge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stupid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back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off.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Perplexity’s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relation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entropy.</a:t>
            </a:r>
            <a:endParaRPr sz="2100">
              <a:latin typeface="Microsoft Sans Serif"/>
              <a:cs typeface="Microsoft Sans Serif"/>
            </a:endParaRPr>
          </a:p>
          <a:p>
            <a:pPr marL="228600" marR="25400">
              <a:lnSpc>
                <a:spcPct val="100000"/>
              </a:lnSpc>
              <a:spcBef>
                <a:spcPts val="98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Inflection,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Derivational</a:t>
            </a:r>
            <a:r>
              <a:rPr dirty="0" sz="21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Morphology,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Finite-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Morphological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Parsing,</a:t>
            </a:r>
            <a:r>
              <a:rPr dirty="0" sz="2100" spc="-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Lexicon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Morphotactics,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Morphological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Parsing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Finite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Transducers,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Combining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FST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rules.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grams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7"/>
            <a:ext cx="8293100" cy="1854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contiguous</a:t>
            </a:r>
            <a:r>
              <a:rPr dirty="0" sz="20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0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'N'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items</a:t>
            </a:r>
            <a:r>
              <a:rPr dirty="0" sz="20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characters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0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speech.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items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letters,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0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base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pairs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according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application.</a:t>
            </a:r>
            <a:r>
              <a:rPr dirty="0" sz="20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value of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’N’</a:t>
            </a:r>
            <a:r>
              <a:rPr dirty="0" sz="20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determines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order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gram.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0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are fundamental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concept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 various</a:t>
            </a:r>
            <a:r>
              <a:rPr dirty="0" sz="20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0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modeling,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0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classification,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machine</a:t>
            </a:r>
            <a:r>
              <a:rPr dirty="0" sz="20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translation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383234"/>
            <a:ext cx="126174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grams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988239"/>
            <a:ext cx="6038850" cy="171005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 various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types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value of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n:</a:t>
            </a:r>
            <a:endParaRPr sz="18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Unigrams(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Unigrams</a:t>
            </a:r>
            <a:r>
              <a:rPr dirty="0" sz="20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(1-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grams)</a:t>
            </a:r>
            <a:r>
              <a:rPr dirty="0" sz="2000" spc="-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single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Bigrams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(2-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grams)</a:t>
            </a:r>
            <a:r>
              <a:rPr dirty="0" sz="20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pairs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consecutive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Trigrams</a:t>
            </a:r>
            <a:r>
              <a:rPr dirty="0" sz="2000" spc="-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(3-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grams)</a:t>
            </a:r>
            <a:r>
              <a:rPr dirty="0" sz="2000" spc="-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triplets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consecutive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711" y="2825495"/>
            <a:ext cx="3541776" cy="17678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gram</a:t>
            </a:r>
            <a:r>
              <a:rPr dirty="0" sz="2400" spc="1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Language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 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5969"/>
            <a:ext cx="8353425" cy="2748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predict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previous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n−1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Example: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phrase: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i="1">
                <a:solidFill>
                  <a:srgbClr val="525252"/>
                </a:solidFill>
                <a:latin typeface="Arial"/>
                <a:cs typeface="Arial"/>
              </a:rPr>
              <a:t>“This</a:t>
            </a:r>
            <a:r>
              <a:rPr dirty="0" sz="2100" spc="-6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i="1">
                <a:solidFill>
                  <a:srgbClr val="525252"/>
                </a:solidFill>
                <a:latin typeface="Arial"/>
                <a:cs typeface="Arial"/>
              </a:rPr>
              <a:t>article</a:t>
            </a:r>
            <a:r>
              <a:rPr dirty="0" sz="2100" spc="-4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i="1">
                <a:solidFill>
                  <a:srgbClr val="525252"/>
                </a:solidFill>
                <a:latin typeface="Arial"/>
                <a:cs typeface="Arial"/>
              </a:rPr>
              <a:t>is</a:t>
            </a:r>
            <a:r>
              <a:rPr dirty="0" sz="2100" spc="-4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i="1">
                <a:solidFill>
                  <a:srgbClr val="525252"/>
                </a:solidFill>
                <a:latin typeface="Arial"/>
                <a:cs typeface="Arial"/>
              </a:rPr>
              <a:t>on…”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,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if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we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want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predict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likelihood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i="1">
                <a:solidFill>
                  <a:srgbClr val="525252"/>
                </a:solidFill>
                <a:latin typeface="Arial"/>
                <a:cs typeface="Arial"/>
              </a:rPr>
              <a:t>“NLP”</a:t>
            </a:r>
            <a:r>
              <a:rPr dirty="0" sz="2100" spc="-7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next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word:</a:t>
            </a:r>
            <a:endParaRPr sz="2100">
              <a:latin typeface="Microsoft Sans Serif"/>
              <a:cs typeface="Microsoft Sans Serif"/>
            </a:endParaRPr>
          </a:p>
          <a:p>
            <a:pPr algn="ctr" marL="19050">
              <a:lnSpc>
                <a:spcPct val="100000"/>
              </a:lnSpc>
              <a:spcBef>
                <a:spcPts val="890"/>
              </a:spcBef>
            </a:pPr>
            <a:r>
              <a:rPr dirty="0" sz="2100" spc="-10" i="1">
                <a:solidFill>
                  <a:srgbClr val="525252"/>
                </a:solidFill>
                <a:latin typeface="Arial"/>
                <a:cs typeface="Arial"/>
              </a:rPr>
              <a:t>p("NLP"</a:t>
            </a:r>
            <a:r>
              <a:rPr dirty="0" sz="2200" spc="-10">
                <a:solidFill>
                  <a:srgbClr val="525252"/>
                </a:solidFill>
                <a:latin typeface="Cambria Math"/>
                <a:cs typeface="Cambria Math"/>
              </a:rPr>
              <a:t>∣</a:t>
            </a:r>
            <a:r>
              <a:rPr dirty="0" sz="2100" spc="-10" i="1">
                <a:solidFill>
                  <a:srgbClr val="525252"/>
                </a:solidFill>
                <a:latin typeface="Arial"/>
                <a:cs typeface="Arial"/>
              </a:rPr>
              <a:t>"This","article","is","on")</a:t>
            </a:r>
            <a:endParaRPr sz="21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Chain</a:t>
            </a:r>
            <a:r>
              <a:rPr dirty="0" sz="20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Rule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000" spc="-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Assumption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Evaluating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Language</a:t>
            </a:r>
            <a:r>
              <a:rPr dirty="0" sz="2400" spc="-6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Models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6"/>
            <a:ext cx="8053705" cy="2456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7005" marR="256540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67005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Entropy: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Measures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uncertainty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content</a:t>
            </a:r>
            <a:r>
              <a:rPr dirty="0" sz="18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distribution.</a:t>
            </a:r>
            <a:r>
              <a:rPr dirty="0" sz="1800" spc="-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  <a:p>
            <a:pPr algn="ctr" marR="50673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always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give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non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negative.</a:t>
            </a:r>
            <a:endParaRPr sz="1800">
              <a:latin typeface="Microsoft Sans Serif"/>
              <a:cs typeface="Microsoft Sans Serif"/>
            </a:endParaRPr>
          </a:p>
          <a:p>
            <a:pPr algn="ctr" marL="320675">
              <a:lnSpc>
                <a:spcPct val="100000"/>
              </a:lnSpc>
              <a:spcBef>
                <a:spcPts val="1010"/>
              </a:spcBef>
            </a:pPr>
            <a:r>
              <a:rPr dirty="0" sz="1800" i="1">
                <a:solidFill>
                  <a:srgbClr val="525252"/>
                </a:solidFill>
                <a:latin typeface="Arial"/>
                <a:cs typeface="Arial"/>
              </a:rPr>
              <a:t>H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(</a:t>
            </a:r>
            <a:r>
              <a:rPr dirty="0" sz="1800" i="1">
                <a:solidFill>
                  <a:srgbClr val="525252"/>
                </a:solidFill>
                <a:latin typeface="Arial"/>
                <a:cs typeface="Arial"/>
              </a:rPr>
              <a:t>p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)=∑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 i="1">
                <a:solidFill>
                  <a:srgbClr val="525252"/>
                </a:solidFill>
                <a:latin typeface="Arial"/>
                <a:cs typeface="Arial"/>
              </a:rPr>
              <a:t>p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(</a:t>
            </a:r>
            <a:r>
              <a:rPr dirty="0" sz="1800" spc="-10" i="1">
                <a:solidFill>
                  <a:srgbClr val="525252"/>
                </a:solidFill>
                <a:latin typeface="Arial"/>
                <a:cs typeface="Arial"/>
              </a:rPr>
              <a:t>x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)</a:t>
            </a:r>
            <a:r>
              <a:rPr dirty="0" sz="1800" spc="-10">
                <a:solidFill>
                  <a:srgbClr val="525252"/>
                </a:solidFill>
                <a:latin typeface="Cambria Math"/>
                <a:cs typeface="Cambria Math"/>
              </a:rPr>
              <a:t>⋅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(−log(</a:t>
            </a:r>
            <a:r>
              <a:rPr dirty="0" sz="1800" spc="-10" i="1">
                <a:solidFill>
                  <a:srgbClr val="525252"/>
                </a:solidFill>
                <a:latin typeface="Arial"/>
                <a:cs typeface="Arial"/>
              </a:rPr>
              <a:t>p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(</a:t>
            </a:r>
            <a:r>
              <a:rPr dirty="0" sz="1800" spc="-10" i="1">
                <a:solidFill>
                  <a:srgbClr val="525252"/>
                </a:solidFill>
                <a:latin typeface="Arial"/>
                <a:cs typeface="Arial"/>
              </a:rPr>
              <a:t>x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)))</a:t>
            </a:r>
            <a:endParaRPr sz="1800">
              <a:latin typeface="Microsoft Sans Serif"/>
              <a:cs typeface="Microsoft Sans Serif"/>
            </a:endParaRPr>
          </a:p>
          <a:p>
            <a:pPr algn="ctr" marL="167005" marR="10160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67005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Cross-Entropy: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Measures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well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8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distribution</a:t>
            </a:r>
            <a:r>
              <a:rPr dirty="0" sz="18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predicts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sample</a:t>
            </a:r>
            <a:endParaRPr sz="1800">
              <a:latin typeface="Microsoft Sans Serif"/>
              <a:cs typeface="Microsoft Sans Serif"/>
            </a:endParaRPr>
          </a:p>
          <a:p>
            <a:pPr algn="ctr" marR="187325">
              <a:lnSpc>
                <a:spcPct val="100000"/>
              </a:lnSpc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test data.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Usually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≥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entropy;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reflects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“surprise”</a:t>
            </a:r>
            <a:r>
              <a:rPr dirty="0" sz="18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test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1800">
              <a:latin typeface="Microsoft Sans Serif"/>
              <a:cs typeface="Microsoft Sans Serif"/>
            </a:endParaRPr>
          </a:p>
          <a:p>
            <a:pPr algn="ctr" marL="320675">
              <a:lnSpc>
                <a:spcPct val="100000"/>
              </a:lnSpc>
              <a:spcBef>
                <a:spcPts val="1010"/>
              </a:spcBef>
            </a:pPr>
            <a:r>
              <a:rPr dirty="0" sz="1800" i="1">
                <a:solidFill>
                  <a:srgbClr val="525252"/>
                </a:solidFill>
                <a:latin typeface="Arial"/>
                <a:cs typeface="Arial"/>
              </a:rPr>
              <a:t>H(p,q)=−∑</a:t>
            </a:r>
            <a:r>
              <a:rPr dirty="0" sz="1800" spc="-3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525252"/>
                </a:solidFill>
                <a:latin typeface="Arial"/>
                <a:cs typeface="Arial"/>
              </a:rPr>
              <a:t>p(x)log(q(x))</a:t>
            </a:r>
            <a:endParaRPr sz="18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Perplexity: Exponential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 cross-entropy;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lower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values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indicate</a:t>
            </a:r>
            <a:r>
              <a:rPr dirty="0" sz="18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better</a:t>
            </a:r>
            <a:r>
              <a:rPr dirty="0" sz="18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46346" y="3672458"/>
            <a:ext cx="1730375" cy="763905"/>
          </a:xfrm>
          <a:custGeom>
            <a:avLst/>
            <a:gdLst/>
            <a:ahLst/>
            <a:cxnLst/>
            <a:rect l="l" t="t" r="r" b="b"/>
            <a:pathLst>
              <a:path w="1730375" h="763904">
                <a:moveTo>
                  <a:pt x="1730375" y="0"/>
                </a:moveTo>
                <a:lnTo>
                  <a:pt x="169799" y="0"/>
                </a:lnTo>
                <a:lnTo>
                  <a:pt x="169799" y="1396"/>
                </a:lnTo>
                <a:lnTo>
                  <a:pt x="144399" y="1396"/>
                </a:lnTo>
                <a:lnTo>
                  <a:pt x="97154" y="719797"/>
                </a:lnTo>
                <a:lnTo>
                  <a:pt x="40131" y="614426"/>
                </a:lnTo>
                <a:lnTo>
                  <a:pt x="0" y="635736"/>
                </a:lnTo>
                <a:lnTo>
                  <a:pt x="4317" y="643661"/>
                </a:lnTo>
                <a:lnTo>
                  <a:pt x="25400" y="632396"/>
                </a:lnTo>
                <a:lnTo>
                  <a:pt x="96647" y="763549"/>
                </a:lnTo>
                <a:lnTo>
                  <a:pt x="107061" y="763549"/>
                </a:lnTo>
                <a:lnTo>
                  <a:pt x="156972" y="16255"/>
                </a:lnTo>
                <a:lnTo>
                  <a:pt x="179324" y="16255"/>
                </a:lnTo>
                <a:lnTo>
                  <a:pt x="179324" y="15239"/>
                </a:lnTo>
                <a:lnTo>
                  <a:pt x="1730375" y="15239"/>
                </a:lnTo>
                <a:lnTo>
                  <a:pt x="1730375" y="0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45890" y="3793032"/>
            <a:ext cx="680720" cy="4006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ts val="1010"/>
              </a:lnSpc>
              <a:spcBef>
                <a:spcPts val="130"/>
              </a:spcBef>
            </a:pPr>
            <a:r>
              <a:rPr dirty="0" sz="1050" spc="80">
                <a:solidFill>
                  <a:srgbClr val="525252"/>
                </a:solidFill>
                <a:latin typeface="Cambria Math"/>
                <a:cs typeface="Cambria Math"/>
              </a:rPr>
              <a:t>𝑁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910"/>
              </a:lnSpc>
            </a:pPr>
            <a:r>
              <a:rPr dirty="0" sz="1800">
                <a:solidFill>
                  <a:srgbClr val="525252"/>
                </a:solidFill>
                <a:latin typeface="Cambria Math"/>
                <a:cs typeface="Cambria Math"/>
              </a:rPr>
              <a:t>𝑊</a:t>
            </a:r>
            <a:r>
              <a:rPr dirty="0" sz="1800" spc="150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525252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9442" y="3807967"/>
            <a:ext cx="3746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37">
                <a:solidFill>
                  <a:srgbClr val="525252"/>
                </a:solidFill>
                <a:latin typeface="Cambria Math"/>
                <a:cs typeface="Cambria Math"/>
              </a:rPr>
              <a:t>𝛱</a:t>
            </a:r>
            <a:r>
              <a:rPr dirty="0" sz="1300" spc="25">
                <a:solidFill>
                  <a:srgbClr val="525252"/>
                </a:solidFill>
                <a:latin typeface="Cambria Math"/>
                <a:cs typeface="Cambria Math"/>
              </a:rPr>
              <a:t>𝑁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9502" y="3719576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525252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94682" y="4059504"/>
            <a:ext cx="1082040" cy="264160"/>
          </a:xfrm>
          <a:custGeom>
            <a:avLst/>
            <a:gdLst/>
            <a:ahLst/>
            <a:cxnLst/>
            <a:rect l="l" t="t" r="r" b="b"/>
            <a:pathLst>
              <a:path w="1082039" h="264160">
                <a:moveTo>
                  <a:pt x="221742" y="60655"/>
                </a:moveTo>
                <a:lnTo>
                  <a:pt x="218694" y="52070"/>
                </a:lnTo>
                <a:lnTo>
                  <a:pt x="203352" y="57619"/>
                </a:lnTo>
                <a:lnTo>
                  <a:pt x="189903" y="65646"/>
                </a:lnTo>
                <a:lnTo>
                  <a:pt x="160997" y="104178"/>
                </a:lnTo>
                <a:lnTo>
                  <a:pt x="151307" y="156883"/>
                </a:lnTo>
                <a:lnTo>
                  <a:pt x="151257" y="157988"/>
                </a:lnTo>
                <a:lnTo>
                  <a:pt x="152222" y="175564"/>
                </a:lnTo>
                <a:lnTo>
                  <a:pt x="152323" y="177457"/>
                </a:lnTo>
                <a:lnTo>
                  <a:pt x="168656" y="226809"/>
                </a:lnTo>
                <a:lnTo>
                  <a:pt x="203327" y="258279"/>
                </a:lnTo>
                <a:lnTo>
                  <a:pt x="218694" y="263804"/>
                </a:lnTo>
                <a:lnTo>
                  <a:pt x="221361" y="255219"/>
                </a:lnTo>
                <a:lnTo>
                  <a:pt x="209308" y="249885"/>
                </a:lnTo>
                <a:lnTo>
                  <a:pt x="198894" y="242443"/>
                </a:lnTo>
                <a:lnTo>
                  <a:pt x="177571" y="207759"/>
                </a:lnTo>
                <a:lnTo>
                  <a:pt x="170599" y="157988"/>
                </a:lnTo>
                <a:lnTo>
                  <a:pt x="170561" y="156883"/>
                </a:lnTo>
                <a:lnTo>
                  <a:pt x="171335" y="138823"/>
                </a:lnTo>
                <a:lnTo>
                  <a:pt x="183007" y="94208"/>
                </a:lnTo>
                <a:lnTo>
                  <a:pt x="209524" y="65989"/>
                </a:lnTo>
                <a:lnTo>
                  <a:pt x="221742" y="60655"/>
                </a:lnTo>
                <a:close/>
              </a:path>
              <a:path w="1082039" h="264160">
                <a:moveTo>
                  <a:pt x="1065403" y="157988"/>
                </a:moveTo>
                <a:lnTo>
                  <a:pt x="1064310" y="138823"/>
                </a:lnTo>
                <a:lnTo>
                  <a:pt x="1064298" y="138582"/>
                </a:lnTo>
                <a:lnTo>
                  <a:pt x="1061034" y="120650"/>
                </a:lnTo>
                <a:lnTo>
                  <a:pt x="1038301" y="76174"/>
                </a:lnTo>
                <a:lnTo>
                  <a:pt x="997839" y="52070"/>
                </a:lnTo>
                <a:lnTo>
                  <a:pt x="994918" y="60655"/>
                </a:lnTo>
                <a:lnTo>
                  <a:pt x="1007122" y="65989"/>
                </a:lnTo>
                <a:lnTo>
                  <a:pt x="1017663" y="73355"/>
                </a:lnTo>
                <a:lnTo>
                  <a:pt x="1039075" y="107480"/>
                </a:lnTo>
                <a:lnTo>
                  <a:pt x="1045273" y="138582"/>
                </a:lnTo>
                <a:lnTo>
                  <a:pt x="1045311" y="138823"/>
                </a:lnTo>
                <a:lnTo>
                  <a:pt x="1046099" y="156883"/>
                </a:lnTo>
                <a:lnTo>
                  <a:pt x="1045311" y="175564"/>
                </a:lnTo>
                <a:lnTo>
                  <a:pt x="1042949" y="192519"/>
                </a:lnTo>
                <a:lnTo>
                  <a:pt x="1026414" y="232918"/>
                </a:lnTo>
                <a:lnTo>
                  <a:pt x="995172" y="255219"/>
                </a:lnTo>
                <a:lnTo>
                  <a:pt x="997839" y="263804"/>
                </a:lnTo>
                <a:lnTo>
                  <a:pt x="1038352" y="239776"/>
                </a:lnTo>
                <a:lnTo>
                  <a:pt x="1061034" y="195414"/>
                </a:lnTo>
                <a:lnTo>
                  <a:pt x="1064298" y="177457"/>
                </a:lnTo>
                <a:lnTo>
                  <a:pt x="1065403" y="157988"/>
                </a:lnTo>
                <a:close/>
              </a:path>
              <a:path w="1082039" h="264160">
                <a:moveTo>
                  <a:pt x="1082040" y="0"/>
                </a:moveTo>
                <a:lnTo>
                  <a:pt x="0" y="0"/>
                </a:lnTo>
                <a:lnTo>
                  <a:pt x="0" y="15240"/>
                </a:lnTo>
                <a:lnTo>
                  <a:pt x="1082040" y="15240"/>
                </a:lnTo>
                <a:lnTo>
                  <a:pt x="1082040" y="0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32096" y="4092041"/>
            <a:ext cx="1383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44871" sz="1950">
                <a:solidFill>
                  <a:srgbClr val="525252"/>
                </a:solidFill>
                <a:latin typeface="Cambria Math"/>
                <a:cs typeface="Cambria Math"/>
              </a:rPr>
              <a:t>𝑖=1</a:t>
            </a:r>
            <a:r>
              <a:rPr dirty="0" baseline="44871" sz="1950" spc="142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baseline="10802" sz="2700">
                <a:solidFill>
                  <a:srgbClr val="525252"/>
                </a:solidFill>
                <a:latin typeface="Cambria Math"/>
                <a:cs typeface="Cambria Math"/>
              </a:rPr>
              <a:t>𝑝</a:t>
            </a:r>
            <a:r>
              <a:rPr dirty="0" baseline="10802" sz="2700" spc="644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baseline="10802" sz="2700">
                <a:solidFill>
                  <a:srgbClr val="525252"/>
                </a:solidFill>
                <a:latin typeface="Cambria Math"/>
                <a:cs typeface="Cambria Math"/>
              </a:rPr>
              <a:t>𝜔</a:t>
            </a:r>
            <a:r>
              <a:rPr dirty="0" sz="1300" spc="130">
                <a:solidFill>
                  <a:srgbClr val="525252"/>
                </a:solidFill>
                <a:latin typeface="Cambria Math"/>
                <a:cs typeface="Cambria Math"/>
              </a:rPr>
              <a:t>𝑖</a:t>
            </a:r>
            <a:r>
              <a:rPr dirty="0" baseline="13888" sz="2700" spc="30">
                <a:solidFill>
                  <a:srgbClr val="525252"/>
                </a:solidFill>
                <a:latin typeface="Cambria Math"/>
                <a:cs typeface="Cambria Math"/>
              </a:rPr>
              <a:t>ȁ</a:t>
            </a:r>
            <a:r>
              <a:rPr dirty="0" baseline="10802" sz="2700">
                <a:solidFill>
                  <a:srgbClr val="525252"/>
                </a:solidFill>
                <a:latin typeface="Cambria Math"/>
                <a:cs typeface="Cambria Math"/>
              </a:rPr>
              <a:t>𝜔</a:t>
            </a:r>
            <a:r>
              <a:rPr dirty="0" sz="1300" spc="-15">
                <a:solidFill>
                  <a:srgbClr val="525252"/>
                </a:solidFill>
                <a:latin typeface="Cambria Math"/>
                <a:cs typeface="Cambria Math"/>
              </a:rPr>
              <a:t>𝜄</a:t>
            </a:r>
            <a:r>
              <a:rPr dirty="0" sz="1300" spc="-1230">
                <a:solidFill>
                  <a:srgbClr val="525252"/>
                </a:solidFill>
                <a:latin typeface="Cambria Math"/>
                <a:cs typeface="Cambria Math"/>
              </a:rPr>
              <a:t>ሶ</a:t>
            </a:r>
            <a:r>
              <a:rPr dirty="0" sz="1300" spc="5">
                <a:solidFill>
                  <a:srgbClr val="525252"/>
                </a:solidFill>
                <a:latin typeface="Cambria Math"/>
                <a:cs typeface="Cambria Math"/>
              </a:rPr>
              <a:t>−</a:t>
            </a:r>
            <a:r>
              <a:rPr dirty="0" sz="1300" spc="15">
                <a:solidFill>
                  <a:srgbClr val="525252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grams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5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NLP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50985"/>
            <a:ext cx="7908290" cy="313372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grams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for:</a:t>
            </a:r>
            <a:endParaRPr sz="18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Capturing</a:t>
            </a:r>
            <a:r>
              <a:rPr dirty="0" sz="1800" spc="-2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Context</a:t>
            </a:r>
            <a:r>
              <a:rPr dirty="0" sz="1800" spc="-2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dirty="0" sz="1800" spc="-1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Semantics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grams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help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meaning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endParaRPr sz="18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looking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18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appear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together</a:t>
            </a:r>
            <a:endParaRPr sz="18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Improving</a:t>
            </a:r>
            <a:r>
              <a:rPr dirty="0" sz="18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Language</a:t>
            </a:r>
            <a:r>
              <a:rPr dirty="0" sz="18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Models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grams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help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predict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 next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endParaRPr sz="18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more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accurately.</a:t>
            </a:r>
            <a:endParaRPr sz="18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Enhancing</a:t>
            </a:r>
            <a:r>
              <a:rPr dirty="0" sz="1800" spc="-5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25252"/>
                </a:solidFill>
                <a:latin typeface="Arial"/>
                <a:cs typeface="Arial"/>
              </a:rPr>
              <a:t>Text </a:t>
            </a: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Prediction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grams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suggest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next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make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typing</a:t>
            </a:r>
            <a:endParaRPr sz="18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faster.</a:t>
            </a:r>
            <a:endParaRPr sz="18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Information</a:t>
            </a:r>
            <a:r>
              <a:rPr dirty="0" sz="18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25252"/>
                </a:solidFill>
                <a:latin typeface="Arial"/>
                <a:cs typeface="Arial"/>
              </a:rPr>
              <a:t>Retrieval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grams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help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search</a:t>
            </a:r>
            <a:r>
              <a:rPr dirty="0" sz="18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engines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find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rank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relevant</a:t>
            </a:r>
            <a:endParaRPr sz="18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information.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Generalization</a:t>
            </a:r>
            <a:r>
              <a:rPr dirty="0" sz="2400" spc="-8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dirty="0" sz="24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Zeros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 N-grams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6096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 sz="1800" i="1">
                <a:latin typeface="Arial"/>
                <a:cs typeface="Arial"/>
              </a:rPr>
              <a:t>Generalization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/>
              <a:t>in</a:t>
            </a:r>
            <a:r>
              <a:rPr dirty="0" sz="1800" spc="-15"/>
              <a:t> </a:t>
            </a:r>
            <a:r>
              <a:rPr dirty="0" sz="1800"/>
              <a:t>the</a:t>
            </a:r>
            <a:r>
              <a:rPr dirty="0" sz="1800" spc="-10"/>
              <a:t> </a:t>
            </a:r>
            <a:r>
              <a:rPr dirty="0" sz="1800"/>
              <a:t>field</a:t>
            </a:r>
            <a:r>
              <a:rPr dirty="0" sz="1800" spc="-15"/>
              <a:t> </a:t>
            </a:r>
            <a:r>
              <a:rPr dirty="0" sz="1800"/>
              <a:t>of</a:t>
            </a:r>
            <a:r>
              <a:rPr dirty="0" sz="1800" spc="-10"/>
              <a:t> </a:t>
            </a:r>
            <a:r>
              <a:rPr dirty="0" sz="1800"/>
              <a:t>natural</a:t>
            </a:r>
            <a:r>
              <a:rPr dirty="0" sz="1800" spc="-30"/>
              <a:t> </a:t>
            </a:r>
            <a:r>
              <a:rPr dirty="0" sz="1800"/>
              <a:t>language</a:t>
            </a:r>
            <a:r>
              <a:rPr dirty="0" sz="1800" spc="-60"/>
              <a:t> </a:t>
            </a:r>
            <a:r>
              <a:rPr dirty="0" sz="1800"/>
              <a:t>processing</a:t>
            </a:r>
            <a:r>
              <a:rPr dirty="0" sz="1800" spc="-55"/>
              <a:t> </a:t>
            </a:r>
            <a:r>
              <a:rPr dirty="0" sz="1800"/>
              <a:t>(NLP)</a:t>
            </a:r>
            <a:r>
              <a:rPr dirty="0" sz="1800" spc="-20"/>
              <a:t> </a:t>
            </a:r>
            <a:r>
              <a:rPr dirty="0" sz="1800"/>
              <a:t>is the</a:t>
            </a:r>
            <a:r>
              <a:rPr dirty="0" sz="1800" spc="-15"/>
              <a:t> </a:t>
            </a:r>
            <a:r>
              <a:rPr dirty="0" sz="1800"/>
              <a:t>ability</a:t>
            </a:r>
            <a:r>
              <a:rPr dirty="0" sz="1800" spc="-20"/>
              <a:t> </a:t>
            </a:r>
            <a:r>
              <a:rPr dirty="0" sz="1800" spc="-25"/>
              <a:t>of </a:t>
            </a:r>
            <a:r>
              <a:rPr dirty="0" sz="1800"/>
              <a:t>models</a:t>
            </a:r>
            <a:r>
              <a:rPr dirty="0" sz="1800" spc="-15"/>
              <a:t> </a:t>
            </a:r>
            <a:r>
              <a:rPr dirty="0" sz="1800"/>
              <a:t>to</a:t>
            </a:r>
            <a:r>
              <a:rPr dirty="0" sz="1800" spc="10"/>
              <a:t> </a:t>
            </a:r>
            <a:r>
              <a:rPr dirty="0" sz="1800"/>
              <a:t>efficiently</a:t>
            </a:r>
            <a:r>
              <a:rPr dirty="0" sz="1800" spc="-40"/>
              <a:t> </a:t>
            </a:r>
            <a:r>
              <a:rPr dirty="0" sz="1800"/>
              <a:t>make</a:t>
            </a:r>
            <a:r>
              <a:rPr dirty="0" sz="1800" spc="-20"/>
              <a:t> </a:t>
            </a:r>
            <a:r>
              <a:rPr dirty="0" sz="1800"/>
              <a:t>predictions</a:t>
            </a:r>
            <a:r>
              <a:rPr dirty="0" sz="1800" spc="-60"/>
              <a:t> </a:t>
            </a:r>
            <a:r>
              <a:rPr dirty="0" sz="1800"/>
              <a:t>on</a:t>
            </a:r>
            <a:r>
              <a:rPr dirty="0" sz="1800" spc="5"/>
              <a:t> </a:t>
            </a:r>
            <a:r>
              <a:rPr dirty="0" sz="1800"/>
              <a:t>previously</a:t>
            </a:r>
            <a:r>
              <a:rPr dirty="0" sz="1800" spc="-15"/>
              <a:t> </a:t>
            </a:r>
            <a:r>
              <a:rPr dirty="0" sz="1800"/>
              <a:t>unseen</a:t>
            </a:r>
            <a:r>
              <a:rPr dirty="0" sz="1800" spc="-40"/>
              <a:t> </a:t>
            </a:r>
            <a:r>
              <a:rPr dirty="0" sz="1800"/>
              <a:t>data</a:t>
            </a:r>
            <a:r>
              <a:rPr dirty="0" sz="1800" spc="10"/>
              <a:t> </a:t>
            </a:r>
            <a:r>
              <a:rPr dirty="0" sz="1800"/>
              <a:t>based</a:t>
            </a:r>
            <a:r>
              <a:rPr dirty="0" sz="1800" spc="-20"/>
              <a:t> </a:t>
            </a:r>
            <a:r>
              <a:rPr dirty="0" sz="1800"/>
              <a:t>on</a:t>
            </a:r>
            <a:r>
              <a:rPr dirty="0" sz="1800" spc="5"/>
              <a:t> </a:t>
            </a:r>
            <a:r>
              <a:rPr dirty="0" sz="1800" spc="-20"/>
              <a:t>what </a:t>
            </a:r>
            <a:r>
              <a:rPr dirty="0" sz="1800"/>
              <a:t>it</a:t>
            </a:r>
            <a:r>
              <a:rPr dirty="0" sz="1800" spc="-5"/>
              <a:t> </a:t>
            </a:r>
            <a:r>
              <a:rPr dirty="0" sz="1800"/>
              <a:t>has learned</a:t>
            </a:r>
            <a:r>
              <a:rPr dirty="0" sz="1800" spc="-25"/>
              <a:t> </a:t>
            </a:r>
            <a:r>
              <a:rPr dirty="0" sz="1800"/>
              <a:t>from the</a:t>
            </a:r>
            <a:r>
              <a:rPr dirty="0" sz="1800" spc="-5"/>
              <a:t> </a:t>
            </a:r>
            <a:r>
              <a:rPr dirty="0" sz="1800"/>
              <a:t>training</a:t>
            </a:r>
            <a:r>
              <a:rPr dirty="0" sz="1800" spc="-50"/>
              <a:t> </a:t>
            </a:r>
            <a:r>
              <a:rPr dirty="0" sz="1800" spc="-10"/>
              <a:t>data.</a:t>
            </a:r>
            <a:endParaRPr sz="1800">
              <a:latin typeface="Arial"/>
              <a:cs typeface="Arial"/>
            </a:endParaRPr>
          </a:p>
          <a:p>
            <a:pPr marL="204470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 sz="1800"/>
              <a:t>Generalization</a:t>
            </a:r>
            <a:r>
              <a:rPr dirty="0" sz="1800" spc="-60"/>
              <a:t> </a:t>
            </a:r>
            <a:r>
              <a:rPr dirty="0" sz="1800"/>
              <a:t>is</a:t>
            </a:r>
            <a:r>
              <a:rPr dirty="0" sz="1800" spc="-10"/>
              <a:t> </a:t>
            </a:r>
            <a:r>
              <a:rPr dirty="0" sz="1800"/>
              <a:t>typically</a:t>
            </a:r>
            <a:r>
              <a:rPr dirty="0" sz="1800" spc="-30"/>
              <a:t> </a:t>
            </a:r>
            <a:r>
              <a:rPr dirty="0" sz="1800"/>
              <a:t>most</a:t>
            </a:r>
            <a:r>
              <a:rPr dirty="0" sz="1800" spc="-35"/>
              <a:t> </a:t>
            </a:r>
            <a:r>
              <a:rPr dirty="0" sz="1800"/>
              <a:t>closely</a:t>
            </a:r>
            <a:r>
              <a:rPr dirty="0" sz="1800" spc="-50"/>
              <a:t> </a:t>
            </a:r>
            <a:r>
              <a:rPr dirty="0" sz="1800"/>
              <a:t>related</a:t>
            </a:r>
            <a:r>
              <a:rPr dirty="0" sz="1800" spc="-35"/>
              <a:t> </a:t>
            </a:r>
            <a:r>
              <a:rPr dirty="0" sz="1800"/>
              <a:t>to</a:t>
            </a:r>
            <a:r>
              <a:rPr dirty="0" sz="1800" spc="-10"/>
              <a:t> </a:t>
            </a:r>
            <a:r>
              <a:rPr dirty="0" sz="1800"/>
              <a:t>two</a:t>
            </a:r>
            <a:r>
              <a:rPr dirty="0" sz="1800" spc="35"/>
              <a:t> </a:t>
            </a:r>
            <a:r>
              <a:rPr dirty="0" sz="1800"/>
              <a:t>main</a:t>
            </a:r>
            <a:r>
              <a:rPr dirty="0" sz="1800" spc="-35"/>
              <a:t> </a:t>
            </a:r>
            <a:r>
              <a:rPr dirty="0" sz="1800"/>
              <a:t>factors,</a:t>
            </a:r>
            <a:r>
              <a:rPr dirty="0" sz="1800" spc="-35"/>
              <a:t> </a:t>
            </a:r>
            <a:r>
              <a:rPr dirty="0" sz="1800"/>
              <a:t>overfitting</a:t>
            </a:r>
            <a:r>
              <a:rPr dirty="0" sz="1800" spc="-35"/>
              <a:t> </a:t>
            </a:r>
            <a:r>
              <a:rPr dirty="0" sz="1800" spc="-25"/>
              <a:t>or</a:t>
            </a:r>
            <a:endParaRPr sz="1800"/>
          </a:p>
          <a:p>
            <a:pPr marL="205104">
              <a:lnSpc>
                <a:spcPct val="100000"/>
              </a:lnSpc>
            </a:pPr>
            <a:r>
              <a:rPr dirty="0" sz="1800"/>
              <a:t>underfitting</a:t>
            </a:r>
            <a:r>
              <a:rPr dirty="0" sz="1800" spc="-45"/>
              <a:t> </a:t>
            </a:r>
            <a:r>
              <a:rPr dirty="0" sz="1800" spc="-10"/>
              <a:t>conditions.</a:t>
            </a:r>
            <a:endParaRPr sz="1800"/>
          </a:p>
          <a:p>
            <a:pPr marL="205104" marR="5080" indent="-167640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 sz="1800"/>
              <a:t>The</a:t>
            </a:r>
            <a:r>
              <a:rPr dirty="0" sz="1800" spc="15"/>
              <a:t> </a:t>
            </a:r>
            <a:r>
              <a:rPr dirty="0" sz="1800"/>
              <a:t>concept</a:t>
            </a:r>
            <a:r>
              <a:rPr dirty="0" sz="1800" spc="-55"/>
              <a:t> </a:t>
            </a:r>
            <a:r>
              <a:rPr dirty="0" sz="1800"/>
              <a:t>of</a:t>
            </a:r>
            <a:r>
              <a:rPr dirty="0" sz="1800" spc="40"/>
              <a:t> </a:t>
            </a:r>
            <a:r>
              <a:rPr dirty="0" sz="1800" i="1">
                <a:latin typeface="Arial"/>
                <a:cs typeface="Arial"/>
              </a:rPr>
              <a:t>zeros</a:t>
            </a:r>
            <a:r>
              <a:rPr dirty="0" sz="1800" spc="30" i="1">
                <a:latin typeface="Arial"/>
                <a:cs typeface="Arial"/>
              </a:rPr>
              <a:t> </a:t>
            </a:r>
            <a:r>
              <a:rPr dirty="0" sz="1800"/>
              <a:t>in</a:t>
            </a:r>
            <a:r>
              <a:rPr dirty="0" sz="1800" spc="-5"/>
              <a:t> </a:t>
            </a:r>
            <a:r>
              <a:rPr dirty="0" sz="1800"/>
              <a:t>NLP</a:t>
            </a:r>
            <a:r>
              <a:rPr dirty="0" sz="1800" spc="-35"/>
              <a:t> </a:t>
            </a:r>
            <a:r>
              <a:rPr dirty="0" sz="1800"/>
              <a:t>refers to</a:t>
            </a:r>
            <a:r>
              <a:rPr dirty="0" sz="1800" spc="-5"/>
              <a:t> </a:t>
            </a:r>
            <a:r>
              <a:rPr dirty="0" sz="1800"/>
              <a:t>the</a:t>
            </a:r>
            <a:r>
              <a:rPr dirty="0" sz="1800" spc="-5"/>
              <a:t> </a:t>
            </a:r>
            <a:r>
              <a:rPr dirty="0" sz="1800"/>
              <a:t>presence</a:t>
            </a:r>
            <a:r>
              <a:rPr dirty="0" sz="1800" spc="-55"/>
              <a:t> </a:t>
            </a:r>
            <a:r>
              <a:rPr dirty="0" sz="1800"/>
              <a:t>of</a:t>
            </a:r>
            <a:r>
              <a:rPr dirty="0" sz="1800" spc="15"/>
              <a:t> </a:t>
            </a:r>
            <a:r>
              <a:rPr dirty="0" sz="1800"/>
              <a:t>zero-valued</a:t>
            </a:r>
            <a:r>
              <a:rPr dirty="0" sz="1800" spc="-25"/>
              <a:t> </a:t>
            </a:r>
            <a:r>
              <a:rPr dirty="0" sz="1800"/>
              <a:t>words</a:t>
            </a:r>
            <a:r>
              <a:rPr dirty="0" sz="1800" spc="20"/>
              <a:t> </a:t>
            </a:r>
            <a:r>
              <a:rPr dirty="0" sz="1800"/>
              <a:t>in</a:t>
            </a:r>
            <a:r>
              <a:rPr dirty="0" sz="1800" spc="-10"/>
              <a:t> </a:t>
            </a:r>
            <a:r>
              <a:rPr dirty="0" sz="1800" spc="-25"/>
              <a:t>the </a:t>
            </a:r>
            <a:r>
              <a:rPr dirty="0" sz="1800"/>
              <a:t>corpus</a:t>
            </a:r>
            <a:r>
              <a:rPr dirty="0" sz="1800" spc="-20"/>
              <a:t> </a:t>
            </a:r>
            <a:r>
              <a:rPr dirty="0" sz="1800"/>
              <a:t>which are</a:t>
            </a:r>
            <a:r>
              <a:rPr dirty="0" sz="1800" spc="25"/>
              <a:t> </a:t>
            </a:r>
            <a:r>
              <a:rPr dirty="0" sz="1800"/>
              <a:t>words</a:t>
            </a:r>
            <a:r>
              <a:rPr dirty="0" sz="1800" spc="5"/>
              <a:t> </a:t>
            </a:r>
            <a:r>
              <a:rPr dirty="0" sz="1800"/>
              <a:t>that</a:t>
            </a:r>
            <a:r>
              <a:rPr dirty="0" sz="1800" spc="5"/>
              <a:t> </a:t>
            </a:r>
            <a:r>
              <a:rPr dirty="0" sz="1800"/>
              <a:t>do not appear in a</a:t>
            </a:r>
            <a:r>
              <a:rPr dirty="0" sz="1800" spc="5"/>
              <a:t> </a:t>
            </a:r>
            <a:r>
              <a:rPr dirty="0" sz="1800"/>
              <a:t>given input</a:t>
            </a:r>
            <a:r>
              <a:rPr dirty="0" sz="1800" spc="5"/>
              <a:t> </a:t>
            </a:r>
            <a:r>
              <a:rPr dirty="0" sz="1800"/>
              <a:t>text. The</a:t>
            </a:r>
            <a:r>
              <a:rPr dirty="0" sz="1800" spc="20"/>
              <a:t> </a:t>
            </a:r>
            <a:r>
              <a:rPr dirty="0" sz="1800"/>
              <a:t>presence</a:t>
            </a:r>
            <a:r>
              <a:rPr dirty="0" sz="1800" spc="-45"/>
              <a:t> </a:t>
            </a:r>
            <a:r>
              <a:rPr dirty="0" sz="1800" spc="-25"/>
              <a:t>of </a:t>
            </a:r>
            <a:r>
              <a:rPr dirty="0" sz="1800"/>
              <a:t>zeros</a:t>
            </a:r>
            <a:r>
              <a:rPr dirty="0" sz="1800" spc="5"/>
              <a:t> </a:t>
            </a:r>
            <a:r>
              <a:rPr dirty="0" sz="1800"/>
              <a:t>has</a:t>
            </a:r>
            <a:r>
              <a:rPr dirty="0" sz="1800" spc="5"/>
              <a:t> </a:t>
            </a:r>
            <a:r>
              <a:rPr dirty="0" sz="1800"/>
              <a:t>a significant</a:t>
            </a:r>
            <a:r>
              <a:rPr dirty="0" sz="1800" spc="-50"/>
              <a:t> </a:t>
            </a:r>
            <a:r>
              <a:rPr dirty="0" sz="1800"/>
              <a:t>impact</a:t>
            </a:r>
            <a:r>
              <a:rPr dirty="0" sz="1800" spc="-45"/>
              <a:t> </a:t>
            </a:r>
            <a:r>
              <a:rPr dirty="0" sz="1800"/>
              <a:t>on</a:t>
            </a:r>
            <a:r>
              <a:rPr dirty="0" sz="1800" spc="-5"/>
              <a:t> </a:t>
            </a:r>
            <a:r>
              <a:rPr dirty="0" sz="1800"/>
              <a:t>the performance</a:t>
            </a:r>
            <a:r>
              <a:rPr dirty="0" sz="1800" spc="-50"/>
              <a:t> </a:t>
            </a:r>
            <a:r>
              <a:rPr dirty="0" sz="1800"/>
              <a:t>of</a:t>
            </a:r>
            <a:r>
              <a:rPr dirty="0" sz="1800" spc="5"/>
              <a:t> </a:t>
            </a:r>
            <a:r>
              <a:rPr dirty="0" sz="1800"/>
              <a:t>models</a:t>
            </a:r>
            <a:r>
              <a:rPr dirty="0" sz="1800" spc="-20"/>
              <a:t> </a:t>
            </a:r>
            <a:r>
              <a:rPr dirty="0" sz="1800"/>
              <a:t>in</a:t>
            </a:r>
            <a:r>
              <a:rPr dirty="0" sz="1800" spc="-5"/>
              <a:t> </a:t>
            </a:r>
            <a:r>
              <a:rPr dirty="0" sz="1800" spc="-25"/>
              <a:t>NLP </a:t>
            </a:r>
            <a:r>
              <a:rPr dirty="0" sz="1800" spc="-10"/>
              <a:t>generalization.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Generalization</a:t>
            </a:r>
            <a:r>
              <a:rPr dirty="0" sz="2400" spc="-8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grams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51710"/>
            <a:ext cx="8366759" cy="34728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Ways</a:t>
            </a:r>
            <a:r>
              <a:rPr dirty="0" sz="16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improve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generalization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NLP:</a:t>
            </a:r>
            <a:endParaRPr sz="16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16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Incorporating</a:t>
            </a:r>
            <a:r>
              <a:rPr dirty="0" u="sng" sz="1600" spc="-2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6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Inductive</a:t>
            </a:r>
            <a:r>
              <a:rPr dirty="0" u="sng" sz="1600" spc="-35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6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Biases</a:t>
            </a:r>
            <a:r>
              <a:rPr dirty="0" u="sng" sz="1600" spc="-5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6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into</a:t>
            </a:r>
            <a:r>
              <a:rPr dirty="0" u="sng" sz="1600" spc="1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6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Model</a:t>
            </a:r>
            <a:r>
              <a:rPr dirty="0" u="sng" sz="1600" spc="45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600" spc="-1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Learning: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Inductive</a:t>
            </a:r>
            <a:r>
              <a:rPr dirty="0" sz="16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biases</a:t>
            </a:r>
            <a:r>
              <a:rPr dirty="0" sz="16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16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assumptions</a:t>
            </a:r>
            <a:r>
              <a:rPr dirty="0" sz="16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1600" spc="50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 model</a:t>
            </a:r>
            <a:r>
              <a:rPr dirty="0" sz="16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makes</a:t>
            </a:r>
            <a:r>
              <a:rPr dirty="0" sz="16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about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16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it is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trained on.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6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help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 model</a:t>
            </a:r>
            <a:r>
              <a:rPr dirty="0" sz="16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learn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more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efficiently</a:t>
            </a:r>
            <a:r>
              <a:rPr dirty="0" sz="16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guiding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towards</a:t>
            </a:r>
            <a:r>
              <a:rPr dirty="0" sz="16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solutions</a:t>
            </a:r>
            <a:r>
              <a:rPr dirty="0" sz="16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16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likely</a:t>
            </a:r>
            <a:r>
              <a:rPr dirty="0" sz="16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correct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 data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 it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has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seen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so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far.</a:t>
            </a:r>
            <a:endParaRPr sz="1600">
              <a:latin typeface="Microsoft Sans Serif"/>
              <a:cs typeface="Microsoft Sans Serif"/>
            </a:endParaRPr>
          </a:p>
          <a:p>
            <a:pPr marL="180340" marR="534035" indent="-167640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1600" spc="-1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Regularization: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6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common</a:t>
            </a:r>
            <a:r>
              <a:rPr dirty="0" sz="16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16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that can be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prevent</a:t>
            </a:r>
            <a:r>
              <a:rPr dirty="0" sz="16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overfitting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general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where</a:t>
            </a:r>
            <a:r>
              <a:rPr dirty="0" sz="16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16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performs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well on</a:t>
            </a:r>
            <a:r>
              <a:rPr dirty="0" sz="16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6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but poorly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6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new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data.</a:t>
            </a:r>
            <a:endParaRPr sz="16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u="sng" sz="16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Data</a:t>
            </a:r>
            <a:r>
              <a:rPr dirty="0" u="sng" sz="1600" spc="-95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600" spc="-1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Augmentation: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involves</a:t>
            </a:r>
            <a:r>
              <a:rPr dirty="0" sz="16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generating additional</a:t>
            </a:r>
            <a:r>
              <a:rPr dirty="0" sz="16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applying</a:t>
            </a:r>
            <a:r>
              <a:rPr dirty="0" sz="16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random</a:t>
            </a:r>
            <a:endParaRPr sz="16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transformations</a:t>
            </a:r>
            <a:r>
              <a:rPr dirty="0" sz="16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existing</a:t>
            </a:r>
            <a:r>
              <a:rPr dirty="0" sz="16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6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1600">
              <a:latin typeface="Microsoft Sans Serif"/>
              <a:cs typeface="Microsoft Sans Serif"/>
            </a:endParaRPr>
          </a:p>
          <a:p>
            <a:pPr algn="ctr" marL="4445">
              <a:lnSpc>
                <a:spcPct val="100000"/>
              </a:lnSpc>
              <a:spcBef>
                <a:spcPts val="1005"/>
              </a:spcBef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“The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dog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sat on</a:t>
            </a:r>
            <a:r>
              <a:rPr dirty="0" sz="16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mat”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+</a:t>
            </a:r>
            <a:r>
              <a:rPr dirty="0" sz="16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"The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cat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slept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bed”</a:t>
            </a:r>
            <a:endParaRPr sz="1600">
              <a:latin typeface="Microsoft Sans Serif"/>
              <a:cs typeface="Microsoft Sans Serif"/>
            </a:endParaRPr>
          </a:p>
          <a:p>
            <a:pPr algn="ctr" marL="1270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"The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dog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sat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mat,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while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cat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slept in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bed."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Generalization</a:t>
            </a:r>
            <a:r>
              <a:rPr dirty="0" sz="2400" spc="-8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grams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6"/>
            <a:ext cx="8360409" cy="1800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2832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u="sng" sz="18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Domain</a:t>
            </a:r>
            <a:r>
              <a:rPr dirty="0" u="sng" sz="1800" spc="-12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Adaptation: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adapt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18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trained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type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data called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the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source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domain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type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under the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target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domain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that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made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flexible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capable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performing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well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wider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range of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18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u="sng" sz="18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Transfer</a:t>
            </a:r>
            <a:r>
              <a:rPr dirty="0" u="sng" sz="1800" spc="-5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Learning: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involves</a:t>
            </a:r>
            <a:r>
              <a:rPr dirty="0" sz="18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knowledge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representations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learned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endParaRPr sz="18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pre-trained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task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applying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them to a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but related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task.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Smoothing</a:t>
            </a:r>
            <a:r>
              <a:rPr dirty="0" sz="24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for</a:t>
            </a:r>
            <a:r>
              <a:rPr dirty="0" sz="2400" spc="-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grams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6"/>
            <a:ext cx="8246109" cy="2350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working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N-grams,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one of the major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challenges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sparsity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especially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higher-order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grams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4-grams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or 5-grams.</a:t>
            </a:r>
            <a:r>
              <a:rPr dirty="0" sz="1800" spc="-1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value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N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increases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number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possible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N-grams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grows</a:t>
            </a:r>
            <a:r>
              <a:rPr dirty="0" sz="18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exponentially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many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of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them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may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appear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 training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data resulting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zero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18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for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unseen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sequences.</a:t>
            </a:r>
            <a:endParaRPr sz="1800">
              <a:latin typeface="Microsoft Sans Serif"/>
              <a:cs typeface="Microsoft Sans Serif"/>
            </a:endParaRPr>
          </a:p>
          <a:p>
            <a:pPr marL="180340" marR="17145" indent="-167640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800" spc="-8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resolve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we</a:t>
            </a:r>
            <a:r>
              <a:rPr dirty="0" sz="18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use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Laplace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also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known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-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Additive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Smoothing.</a:t>
            </a:r>
            <a:r>
              <a:rPr dirty="0" sz="18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It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adds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constant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(typically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1)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each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count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ensuring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no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N-gram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has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zero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8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even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was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seen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set.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9007" y="3613150"/>
            <a:ext cx="4857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025775" algn="l"/>
                <a:tab pos="4819015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Smoothed Count </a:t>
            </a:r>
            <a:r>
              <a:rPr dirty="0" sz="1800">
                <a:solidFill>
                  <a:srgbClr val="525252"/>
                </a:solidFill>
                <a:latin typeface="Cambria Math"/>
                <a:cs typeface="Cambria Math"/>
              </a:rPr>
              <a:t>=</a:t>
            </a:r>
            <a:r>
              <a:rPr dirty="0" sz="1800" spc="95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u="sng" baseline="32407" sz="27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32407" sz="2700" spc="-15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count+1</a:t>
            </a:r>
            <a:r>
              <a:rPr dirty="0" u="sng" baseline="32407" sz="27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</a:rPr>
              <a:t>	</a:t>
            </a:r>
            <a:endParaRPr baseline="32407" sz="27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0174" y="3615541"/>
            <a:ext cx="7870190" cy="108775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3592195">
              <a:lnSpc>
                <a:spcPct val="100000"/>
              </a:lnSpc>
              <a:spcBef>
                <a:spcPts val="1040"/>
              </a:spcBef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total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N−grams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+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vocab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size</a:t>
            </a:r>
            <a:endParaRPr sz="18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4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ensures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even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N-grams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never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appeared</a:t>
            </a:r>
            <a:r>
              <a:rPr dirty="0" sz="18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 the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endParaRPr sz="18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have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non-zero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probability.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Kneser-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Ney</a:t>
            </a:r>
            <a:r>
              <a:rPr dirty="0" sz="24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Smoothing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6"/>
            <a:ext cx="8130540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Kneser-Ney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r>
              <a:rPr dirty="0" sz="18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is one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sophisticated</a:t>
            </a:r>
            <a:r>
              <a:rPr dirty="0" sz="18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widely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used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discounting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techniques.</a:t>
            </a:r>
            <a:r>
              <a:rPr dirty="0" sz="18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extends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absolute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discounting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adjusting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only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observed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n-gram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but</a:t>
            </a:r>
            <a:r>
              <a:rPr dirty="0" sz="18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also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back-off</a:t>
            </a:r>
            <a:r>
              <a:rPr dirty="0" sz="18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distribution.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0697" y="2246452"/>
            <a:ext cx="209486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-44">
                <a:solidFill>
                  <a:srgbClr val="525252"/>
                </a:solidFill>
                <a:latin typeface="Cambria Math"/>
                <a:cs typeface="Cambria Math"/>
              </a:rPr>
              <a:t>𝑃</a:t>
            </a:r>
            <a:r>
              <a:rPr dirty="0" sz="1300" spc="-30">
                <a:solidFill>
                  <a:srgbClr val="525252"/>
                </a:solidFill>
                <a:latin typeface="Cambria Math"/>
                <a:cs typeface="Cambria Math"/>
              </a:rPr>
              <a:t>𝐾𝑁</a:t>
            </a:r>
            <a:r>
              <a:rPr dirty="0" baseline="10802" sz="2700" spc="-44">
                <a:solidFill>
                  <a:srgbClr val="525252"/>
                </a:solidFill>
                <a:latin typeface="Microsoft Sans Serif"/>
                <a:cs typeface="Microsoft Sans Serif"/>
              </a:rPr>
              <a:t>(</a:t>
            </a:r>
            <a:r>
              <a:rPr dirty="0" baseline="10802" sz="2700" spc="-44">
                <a:solidFill>
                  <a:srgbClr val="525252"/>
                </a:solidFill>
                <a:latin typeface="Cambria Math"/>
                <a:cs typeface="Cambria Math"/>
              </a:rPr>
              <a:t>𝑤</a:t>
            </a:r>
            <a:r>
              <a:rPr dirty="0" sz="1300" spc="-30">
                <a:solidFill>
                  <a:srgbClr val="525252"/>
                </a:solidFill>
                <a:latin typeface="Cambria Math"/>
                <a:cs typeface="Cambria Math"/>
              </a:rPr>
              <a:t>𝑛</a:t>
            </a:r>
            <a:r>
              <a:rPr dirty="0" baseline="10802" sz="2700" spc="-44">
                <a:solidFill>
                  <a:srgbClr val="525252"/>
                </a:solidFill>
                <a:latin typeface="Cambria Math"/>
                <a:cs typeface="Cambria Math"/>
              </a:rPr>
              <a:t>ȁ</a:t>
            </a:r>
            <a:r>
              <a:rPr dirty="0" baseline="10802" sz="2700" spc="15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baseline="10802" sz="2700">
                <a:solidFill>
                  <a:srgbClr val="525252"/>
                </a:solidFill>
                <a:latin typeface="Cambria Math"/>
                <a:cs typeface="Cambria Math"/>
              </a:rPr>
              <a:t>𝑤</a:t>
            </a:r>
            <a:r>
              <a:rPr dirty="0" sz="1300">
                <a:solidFill>
                  <a:srgbClr val="525252"/>
                </a:solidFill>
                <a:latin typeface="Cambria Math"/>
                <a:cs typeface="Cambria Math"/>
              </a:rPr>
              <a:t>𝑛−1</a:t>
            </a:r>
            <a:r>
              <a:rPr dirty="0" sz="1300" spc="165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baseline="10802" sz="2700">
                <a:solidFill>
                  <a:srgbClr val="525252"/>
                </a:solidFill>
                <a:latin typeface="Microsoft Sans Serif"/>
                <a:cs typeface="Microsoft Sans Serif"/>
              </a:rPr>
              <a:t>,</a:t>
            </a:r>
            <a:r>
              <a:rPr dirty="0" baseline="10802" sz="2700" spc="22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baseline="10802" sz="2700" spc="-30">
                <a:solidFill>
                  <a:srgbClr val="525252"/>
                </a:solidFill>
                <a:latin typeface="Cambria Math"/>
                <a:cs typeface="Cambria Math"/>
              </a:rPr>
              <a:t>𝑤</a:t>
            </a:r>
            <a:r>
              <a:rPr dirty="0" sz="1300" spc="-20">
                <a:solidFill>
                  <a:srgbClr val="525252"/>
                </a:solidFill>
                <a:latin typeface="Cambria Math"/>
                <a:cs typeface="Cambria Math"/>
              </a:rPr>
              <a:t>𝑛−2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2675" y="2200732"/>
            <a:ext cx="5283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525252"/>
                </a:solidFill>
                <a:latin typeface="Microsoft Sans Serif"/>
                <a:cs typeface="Microsoft Sans Serif"/>
              </a:rPr>
              <a:t>,…)=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7858" y="2182494"/>
            <a:ext cx="1393190" cy="200660"/>
          </a:xfrm>
          <a:custGeom>
            <a:avLst/>
            <a:gdLst/>
            <a:ahLst/>
            <a:cxnLst/>
            <a:rect l="l" t="t" r="r" b="b"/>
            <a:pathLst>
              <a:path w="1393189" h="200660">
                <a:moveTo>
                  <a:pt x="639572" y="6350"/>
                </a:moveTo>
                <a:lnTo>
                  <a:pt x="637286" y="0"/>
                </a:lnTo>
                <a:lnTo>
                  <a:pt x="626046" y="4076"/>
                </a:lnTo>
                <a:lnTo>
                  <a:pt x="616165" y="9994"/>
                </a:lnTo>
                <a:lnTo>
                  <a:pt x="590969" y="50330"/>
                </a:lnTo>
                <a:lnTo>
                  <a:pt x="587756" y="77724"/>
                </a:lnTo>
                <a:lnTo>
                  <a:pt x="588479" y="90576"/>
                </a:lnTo>
                <a:lnTo>
                  <a:pt x="588556" y="91960"/>
                </a:lnTo>
                <a:lnTo>
                  <a:pt x="600583" y="128143"/>
                </a:lnTo>
                <a:lnTo>
                  <a:pt x="637286" y="155321"/>
                </a:lnTo>
                <a:lnTo>
                  <a:pt x="639318" y="148971"/>
                </a:lnTo>
                <a:lnTo>
                  <a:pt x="630428" y="145072"/>
                </a:lnTo>
                <a:lnTo>
                  <a:pt x="622782" y="139623"/>
                </a:lnTo>
                <a:lnTo>
                  <a:pt x="604266" y="103035"/>
                </a:lnTo>
                <a:lnTo>
                  <a:pt x="601980" y="76835"/>
                </a:lnTo>
                <a:lnTo>
                  <a:pt x="602551" y="63627"/>
                </a:lnTo>
                <a:lnTo>
                  <a:pt x="616381" y="22593"/>
                </a:lnTo>
                <a:lnTo>
                  <a:pt x="630580" y="10261"/>
                </a:lnTo>
                <a:lnTo>
                  <a:pt x="639572" y="6350"/>
                </a:lnTo>
                <a:close/>
              </a:path>
              <a:path w="1393189" h="200660">
                <a:moveTo>
                  <a:pt x="935736" y="77724"/>
                </a:moveTo>
                <a:lnTo>
                  <a:pt x="928547" y="38265"/>
                </a:lnTo>
                <a:lnTo>
                  <a:pt x="897483" y="4076"/>
                </a:lnTo>
                <a:lnTo>
                  <a:pt x="886206" y="0"/>
                </a:lnTo>
                <a:lnTo>
                  <a:pt x="884047" y="6350"/>
                </a:lnTo>
                <a:lnTo>
                  <a:pt x="893025" y="10261"/>
                </a:lnTo>
                <a:lnTo>
                  <a:pt x="900722" y="15671"/>
                </a:lnTo>
                <a:lnTo>
                  <a:pt x="919327" y="51587"/>
                </a:lnTo>
                <a:lnTo>
                  <a:pt x="921639" y="76835"/>
                </a:lnTo>
                <a:lnTo>
                  <a:pt x="921042" y="90576"/>
                </a:lnTo>
                <a:lnTo>
                  <a:pt x="907173" y="132638"/>
                </a:lnTo>
                <a:lnTo>
                  <a:pt x="884301" y="148971"/>
                </a:lnTo>
                <a:lnTo>
                  <a:pt x="886206" y="155321"/>
                </a:lnTo>
                <a:lnTo>
                  <a:pt x="923036" y="128143"/>
                </a:lnTo>
                <a:lnTo>
                  <a:pt x="934935" y="91960"/>
                </a:lnTo>
                <a:lnTo>
                  <a:pt x="935736" y="77724"/>
                </a:lnTo>
                <a:close/>
              </a:path>
              <a:path w="1393189" h="200660">
                <a:moveTo>
                  <a:pt x="1392936" y="185420"/>
                </a:moveTo>
                <a:lnTo>
                  <a:pt x="0" y="185420"/>
                </a:lnTo>
                <a:lnTo>
                  <a:pt x="0" y="200660"/>
                </a:lnTo>
                <a:lnTo>
                  <a:pt x="1392936" y="200660"/>
                </a:lnTo>
                <a:lnTo>
                  <a:pt x="1392936" y="185420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86554" y="2066925"/>
            <a:ext cx="142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3294" algn="l"/>
              </a:tabLst>
            </a:pPr>
            <a:r>
              <a:rPr dirty="0" sz="1800">
                <a:solidFill>
                  <a:srgbClr val="525252"/>
                </a:solidFill>
                <a:latin typeface="Cambria Math"/>
                <a:cs typeface="Cambria Math"/>
              </a:rPr>
              <a:t>max</a:t>
            </a:r>
            <a:r>
              <a:rPr dirty="0" sz="1300">
                <a:solidFill>
                  <a:srgbClr val="525252"/>
                </a:solidFill>
                <a:latin typeface="Cambria Math"/>
                <a:cs typeface="Cambria Math"/>
              </a:rPr>
              <a:t>(𝑐</a:t>
            </a:r>
            <a:r>
              <a:rPr dirty="0" sz="1300" spc="350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sz="1300" spc="65">
                <a:solidFill>
                  <a:srgbClr val="525252"/>
                </a:solidFill>
                <a:latin typeface="Cambria Math"/>
                <a:cs typeface="Cambria Math"/>
              </a:rPr>
              <a:t>𝑤</a:t>
            </a:r>
            <a:r>
              <a:rPr dirty="0" sz="1300">
                <a:solidFill>
                  <a:srgbClr val="525252"/>
                </a:solidFill>
                <a:latin typeface="Cambria Math"/>
                <a:cs typeface="Cambria Math"/>
              </a:rPr>
              <a:t>	</a:t>
            </a:r>
            <a:r>
              <a:rPr dirty="0" sz="1300" spc="-20">
                <a:solidFill>
                  <a:srgbClr val="525252"/>
                </a:solidFill>
                <a:latin typeface="Cambria Math"/>
                <a:cs typeface="Cambria Math"/>
              </a:rPr>
              <a:t>−𝐷,0)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0778" y="2191892"/>
            <a:ext cx="1393190" cy="4248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255270">
              <a:lnSpc>
                <a:spcPts val="1105"/>
              </a:lnSpc>
              <a:spcBef>
                <a:spcPts val="130"/>
              </a:spcBef>
            </a:pPr>
            <a:r>
              <a:rPr dirty="0" sz="1050" spc="110">
                <a:solidFill>
                  <a:srgbClr val="525252"/>
                </a:solidFill>
                <a:latin typeface="Cambria Math"/>
                <a:cs typeface="Cambria Math"/>
              </a:rPr>
              <a:t>𝑛</a:t>
            </a:r>
            <a:endParaRPr sz="1050">
              <a:latin typeface="Cambria Math"/>
              <a:cs typeface="Cambria Math"/>
            </a:endParaRPr>
          </a:p>
          <a:p>
            <a:pPr marL="38100">
              <a:lnSpc>
                <a:spcPts val="2005"/>
              </a:lnSpc>
            </a:pPr>
            <a:r>
              <a:rPr dirty="0" sz="1800" spc="55">
                <a:solidFill>
                  <a:srgbClr val="525252"/>
                </a:solidFill>
                <a:latin typeface="Cambria Math"/>
                <a:cs typeface="Cambria Math"/>
              </a:rPr>
              <a:t>c</a:t>
            </a:r>
            <a:r>
              <a:rPr dirty="0" sz="1300" spc="55">
                <a:solidFill>
                  <a:srgbClr val="525252"/>
                </a:solidFill>
                <a:latin typeface="Cambria Math"/>
                <a:cs typeface="Cambria Math"/>
              </a:rPr>
              <a:t>(𝑤</a:t>
            </a:r>
            <a:r>
              <a:rPr dirty="0" baseline="-13227" sz="1575" spc="82">
                <a:solidFill>
                  <a:srgbClr val="525252"/>
                </a:solidFill>
                <a:latin typeface="Cambria Math"/>
                <a:cs typeface="Cambria Math"/>
              </a:rPr>
              <a:t>𝑛−1</a:t>
            </a:r>
            <a:r>
              <a:rPr dirty="0" sz="1300" spc="55">
                <a:solidFill>
                  <a:srgbClr val="525252"/>
                </a:solidFill>
                <a:latin typeface="Cambria Math"/>
                <a:cs typeface="Cambria Math"/>
              </a:rPr>
              <a:t>,𝑤</a:t>
            </a:r>
            <a:r>
              <a:rPr dirty="0" baseline="-13227" sz="1575" spc="82">
                <a:solidFill>
                  <a:srgbClr val="525252"/>
                </a:solidFill>
                <a:latin typeface="Cambria Math"/>
                <a:cs typeface="Cambria Math"/>
              </a:rPr>
              <a:t>𝑛−2</a:t>
            </a:r>
            <a:r>
              <a:rPr dirty="0" sz="1300" spc="55">
                <a:solidFill>
                  <a:srgbClr val="525252"/>
                </a:solidFill>
                <a:latin typeface="Cambria Math"/>
                <a:cs typeface="Cambria Math"/>
              </a:rPr>
              <a:t>,…</a:t>
            </a:r>
            <a:r>
              <a:rPr dirty="0" sz="1300" spc="30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sz="1300" spc="-50">
                <a:solidFill>
                  <a:srgbClr val="525252"/>
                </a:solidFill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1964" y="2307412"/>
            <a:ext cx="125412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97205" algn="l"/>
                <a:tab pos="908685" algn="l"/>
              </a:tabLst>
            </a:pPr>
            <a:r>
              <a:rPr dirty="0" sz="1300" spc="-25">
                <a:solidFill>
                  <a:srgbClr val="525252"/>
                </a:solidFill>
                <a:latin typeface="Cambria Math"/>
                <a:cs typeface="Cambria Math"/>
              </a:rPr>
              <a:t>𝐾𝑁</a:t>
            </a:r>
            <a:r>
              <a:rPr dirty="0" sz="1300">
                <a:solidFill>
                  <a:srgbClr val="525252"/>
                </a:solidFill>
                <a:latin typeface="Cambria Math"/>
                <a:cs typeface="Cambria Math"/>
              </a:rPr>
              <a:t>	</a:t>
            </a:r>
            <a:r>
              <a:rPr dirty="0" sz="1300" spc="55">
                <a:solidFill>
                  <a:srgbClr val="525252"/>
                </a:solidFill>
                <a:latin typeface="Cambria Math"/>
                <a:cs typeface="Cambria Math"/>
              </a:rPr>
              <a:t>𝑛</a:t>
            </a:r>
            <a:r>
              <a:rPr dirty="0" sz="1300">
                <a:solidFill>
                  <a:srgbClr val="525252"/>
                </a:solidFill>
                <a:latin typeface="Cambria Math"/>
                <a:cs typeface="Cambria Math"/>
              </a:rPr>
              <a:t>	</a:t>
            </a:r>
            <a:r>
              <a:rPr dirty="0" sz="1300" spc="-25">
                <a:solidFill>
                  <a:srgbClr val="525252"/>
                </a:solidFill>
                <a:latin typeface="Cambria Math"/>
                <a:cs typeface="Cambria Math"/>
              </a:rPr>
              <a:t>𝑛−1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1941" y="2200732"/>
            <a:ext cx="20593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8500" algn="l"/>
                <a:tab pos="1677035" algn="l"/>
              </a:tabLst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+</a:t>
            </a:r>
            <a:r>
              <a:rPr dirty="0" sz="1800" i="1">
                <a:solidFill>
                  <a:srgbClr val="525252"/>
                </a:solidFill>
                <a:latin typeface="Arial"/>
                <a:cs typeface="Arial"/>
              </a:rPr>
              <a:t>λ</a:t>
            </a:r>
            <a:r>
              <a:rPr dirty="0" sz="1800" spc="-1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525252"/>
                </a:solidFill>
                <a:latin typeface="Cambria Math"/>
                <a:cs typeface="Cambria Math"/>
              </a:rPr>
              <a:t>𝑃</a:t>
            </a:r>
            <a:r>
              <a:rPr dirty="0" sz="1800">
                <a:solidFill>
                  <a:srgbClr val="525252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(</a:t>
            </a:r>
            <a:r>
              <a:rPr dirty="0" sz="1800">
                <a:solidFill>
                  <a:srgbClr val="525252"/>
                </a:solidFill>
                <a:latin typeface="Cambria Math"/>
                <a:cs typeface="Cambria Math"/>
              </a:rPr>
              <a:t>𝑤</a:t>
            </a:r>
            <a:r>
              <a:rPr dirty="0" sz="1800" spc="430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525252"/>
                </a:solidFill>
                <a:latin typeface="Cambria Math"/>
                <a:cs typeface="Cambria Math"/>
              </a:rPr>
              <a:t>∣</a:t>
            </a:r>
            <a:r>
              <a:rPr dirty="0" sz="1800" spc="80">
                <a:solidFill>
                  <a:srgbClr val="525252"/>
                </a:solidFill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525252"/>
                </a:solidFill>
                <a:latin typeface="Cambria Math"/>
                <a:cs typeface="Cambria Math"/>
              </a:rPr>
              <a:t>𝑤</a:t>
            </a:r>
            <a:r>
              <a:rPr dirty="0" sz="1800">
                <a:solidFill>
                  <a:srgbClr val="525252"/>
                </a:solidFill>
                <a:latin typeface="Cambria Math"/>
                <a:cs typeface="Cambria Math"/>
              </a:rPr>
              <a:t>	</a:t>
            </a:r>
            <a:r>
              <a:rPr dirty="0" sz="1800" spc="235">
                <a:solidFill>
                  <a:srgbClr val="525252"/>
                </a:solidFill>
                <a:latin typeface="Microsoft Sans Serif"/>
                <a:cs typeface="Microsoft Sans Serif"/>
              </a:rPr>
              <a:t>,…)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174" y="2700985"/>
            <a:ext cx="826706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is a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unique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that it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takes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account</a:t>
            </a:r>
            <a:r>
              <a:rPr dirty="0" sz="18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diversity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contexts</a:t>
            </a:r>
            <a:r>
              <a:rPr dirty="0" sz="18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word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appears.</a:t>
            </a:r>
            <a:r>
              <a:rPr dirty="0" sz="18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effectively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balances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8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estimates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across</a:t>
            </a:r>
            <a:r>
              <a:rPr dirty="0" sz="18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both</a:t>
            </a:r>
            <a:r>
              <a:rPr dirty="0" sz="18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frequent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rare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n-grams,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making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particularly</a:t>
            </a:r>
            <a:r>
              <a:rPr dirty="0" sz="18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18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handling</a:t>
            </a:r>
            <a:r>
              <a:rPr dirty="0" sz="18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25252"/>
                </a:solidFill>
                <a:latin typeface="Microsoft Sans Serif"/>
                <a:cs typeface="Microsoft Sans Serif"/>
              </a:rPr>
              <a:t>rare</a:t>
            </a:r>
            <a:r>
              <a:rPr dirty="0" sz="18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25252"/>
                </a:solidFill>
                <a:latin typeface="Microsoft Sans Serif"/>
                <a:cs typeface="Microsoft Sans Serif"/>
              </a:rPr>
              <a:t>events.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Stupid</a:t>
            </a:r>
            <a:r>
              <a:rPr dirty="0" sz="24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Back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off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Method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spc="-20" b="1">
                <a:solidFill>
                  <a:srgbClr val="525252"/>
                </a:solidFill>
                <a:latin typeface="Arial"/>
                <a:cs typeface="Arial"/>
              </a:rPr>
              <a:t>gram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7"/>
            <a:ext cx="8272145" cy="2287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stupid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backoff</a:t>
            </a:r>
            <a:r>
              <a:rPr dirty="0" sz="2000" spc="-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0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0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2000" spc="-1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Microsoft Sans Serif"/>
                <a:cs typeface="Microsoft Sans Serif"/>
                <a:hlinkClick r:id="rId2"/>
              </a:rPr>
              <a:t>language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modeling,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especially</a:t>
            </a:r>
            <a:r>
              <a:rPr dirty="0" sz="20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huge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datasets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web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text,</a:t>
            </a:r>
            <a:r>
              <a:rPr dirty="0" sz="20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predicts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word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000" spc="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"backing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off"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shorter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grams</a:t>
            </a:r>
            <a:r>
              <a:rPr dirty="0" sz="20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(e.g.,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0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trigram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to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bigram,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then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unigram)</a:t>
            </a:r>
            <a:endParaRPr sz="2000">
              <a:latin typeface="Microsoft Sans Serif"/>
              <a:cs typeface="Microsoft Sans Serif"/>
            </a:endParaRPr>
          </a:p>
          <a:p>
            <a:pPr marL="180340" marR="11430" indent="-167640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higher-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order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n-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isn't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found,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simple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fixed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weight</a:t>
            </a:r>
            <a:r>
              <a:rPr dirty="0" sz="20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(like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0.4)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instead</a:t>
            </a:r>
            <a:r>
              <a:rPr dirty="0" sz="20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complex</a:t>
            </a:r>
            <a:r>
              <a:rPr dirty="0" sz="20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smoothing,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making</a:t>
            </a:r>
            <a:r>
              <a:rPr dirty="0" sz="20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fast</a:t>
            </a:r>
            <a:r>
              <a:rPr dirty="0" sz="20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20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without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normalizing</a:t>
            </a:r>
            <a:r>
              <a:rPr dirty="0" sz="2000" spc="-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probabilities.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Stupid</a:t>
            </a:r>
            <a:r>
              <a:rPr dirty="0" sz="24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Back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off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Method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N-</a:t>
            </a:r>
            <a:r>
              <a:rPr dirty="0" sz="2400" spc="-20" b="1">
                <a:solidFill>
                  <a:srgbClr val="525252"/>
                </a:solidFill>
                <a:latin typeface="Arial"/>
                <a:cs typeface="Arial"/>
              </a:rPr>
              <a:t>gram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051432"/>
            <a:ext cx="8221345" cy="37312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356870" algn="l"/>
              </a:tabLst>
            </a:pP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Check</a:t>
            </a:r>
            <a:r>
              <a:rPr dirty="0" u="sng" sz="1800" spc="-5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Trigram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Look for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trigram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"raining</a:t>
            </a:r>
            <a:r>
              <a:rPr dirty="0" sz="18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cats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and")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your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data.</a:t>
            </a:r>
            <a:endParaRPr sz="1800">
              <a:latin typeface="Microsoft Sans Serif"/>
              <a:cs typeface="Microsoft Sans Serif"/>
            </a:endParaRPr>
          </a:p>
          <a:p>
            <a:pPr marL="356870" indent="-344170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356870" algn="l"/>
              </a:tabLst>
            </a:pP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If</a:t>
            </a:r>
            <a:r>
              <a:rPr dirty="0" u="sng" sz="1800" spc="2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Found:</a:t>
            </a:r>
            <a:r>
              <a:rPr dirty="0" u="sng" sz="1800" spc="-15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Calculate</a:t>
            </a:r>
            <a:r>
              <a:rPr dirty="0" sz="18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800" spc="-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(count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trigram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/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count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bigram).</a:t>
            </a:r>
            <a:endParaRPr sz="1800">
              <a:latin typeface="Microsoft Sans Serif"/>
              <a:cs typeface="Microsoft Sans Serif"/>
            </a:endParaRPr>
          </a:p>
          <a:p>
            <a:pPr marL="356870" indent="-34417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6870" algn="l"/>
              </a:tabLst>
            </a:pP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If</a:t>
            </a:r>
            <a:r>
              <a:rPr dirty="0" u="sng" sz="1800" spc="2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Not Found</a:t>
            </a:r>
            <a:r>
              <a:rPr dirty="0" u="sng" sz="1800" spc="-2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(Zero </a:t>
            </a:r>
            <a:r>
              <a:rPr dirty="0" u="sng" sz="1800" spc="-1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Count):</a:t>
            </a:r>
            <a:endParaRPr sz="1800">
              <a:latin typeface="Microsoft Sans Serif"/>
              <a:cs typeface="Microsoft Sans Serif"/>
            </a:endParaRPr>
          </a:p>
          <a:p>
            <a:pPr lvl="1" marL="641985" indent="-340360">
              <a:lnSpc>
                <a:spcPct val="100000"/>
              </a:lnSpc>
              <a:spcBef>
                <a:spcPts val="1080"/>
              </a:spcBef>
              <a:buAutoNum type="alphaLcPeriod"/>
              <a:tabLst>
                <a:tab pos="641985" algn="l"/>
              </a:tabLst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Back</a:t>
            </a:r>
            <a:r>
              <a:rPr dirty="0" sz="1800" spc="-3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Off:</a:t>
            </a:r>
            <a:r>
              <a:rPr dirty="0" sz="1800" spc="-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Move</a:t>
            </a:r>
            <a:r>
              <a:rPr dirty="0" sz="1800" spc="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bigram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18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"cats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and").</a:t>
            </a:r>
            <a:endParaRPr sz="1800">
              <a:latin typeface="Microsoft Sans Serif"/>
              <a:cs typeface="Microsoft Sans Serif"/>
            </a:endParaRPr>
          </a:p>
          <a:p>
            <a:pPr lvl="1" marL="641985" indent="-340360">
              <a:lnSpc>
                <a:spcPct val="100000"/>
              </a:lnSpc>
              <a:spcBef>
                <a:spcPts val="1085"/>
              </a:spcBef>
              <a:buAutoNum type="alphaLcPeriod"/>
              <a:tabLst>
                <a:tab pos="641985" algn="l"/>
              </a:tabLst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Multiply</a:t>
            </a:r>
            <a:r>
              <a:rPr dirty="0" sz="1800" spc="-5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by</a:t>
            </a:r>
            <a:r>
              <a:rPr dirty="0" sz="1800" spc="-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0.4:</a:t>
            </a:r>
            <a:r>
              <a:rPr dirty="0" sz="1800" spc="-2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Multiply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bigram's</a:t>
            </a:r>
            <a:r>
              <a:rPr dirty="0" sz="18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8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fixed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factor</a:t>
            </a:r>
            <a:r>
              <a:rPr dirty="0" sz="18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(λ =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0.4).</a:t>
            </a:r>
            <a:endParaRPr sz="1800">
              <a:latin typeface="Microsoft Sans Serif"/>
              <a:cs typeface="Microsoft Sans Serif"/>
            </a:endParaRPr>
          </a:p>
          <a:p>
            <a:pPr lvl="1" marL="641985" indent="-340360">
              <a:lnSpc>
                <a:spcPct val="100000"/>
              </a:lnSpc>
              <a:spcBef>
                <a:spcPts val="1080"/>
              </a:spcBef>
              <a:buAutoNum type="alphaLcPeriod"/>
              <a:tabLst>
                <a:tab pos="641985" algn="l"/>
              </a:tabLst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If</a:t>
            </a:r>
            <a:r>
              <a:rPr dirty="0" sz="1800" spc="-1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Bigram</a:t>
            </a:r>
            <a:r>
              <a:rPr dirty="0" sz="1800" spc="-9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Also</a:t>
            </a:r>
            <a:r>
              <a:rPr dirty="0" sz="1800" spc="-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Not</a:t>
            </a:r>
            <a:r>
              <a:rPr dirty="0" sz="1800" spc="-1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Found:</a:t>
            </a:r>
            <a:r>
              <a:rPr dirty="0" sz="1800" spc="-1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Back off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to the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unigram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18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"and")</a:t>
            </a:r>
            <a:r>
              <a:rPr dirty="0" sz="18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endParaRPr sz="1800">
              <a:latin typeface="Microsoft Sans Serif"/>
              <a:cs typeface="Microsoft Sans Serif"/>
            </a:endParaRPr>
          </a:p>
          <a:p>
            <a:pPr marL="64389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multiply</a:t>
            </a:r>
            <a:r>
              <a:rPr dirty="0" sz="18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0.42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(or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continue</a:t>
            </a:r>
            <a:r>
              <a:rPr dirty="0" sz="18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process).</a:t>
            </a:r>
            <a:endParaRPr sz="1800">
              <a:latin typeface="Microsoft Sans Serif"/>
              <a:cs typeface="Microsoft Sans Serif"/>
            </a:endParaRPr>
          </a:p>
          <a:p>
            <a:pPr marL="264160" indent="-251460">
              <a:lnSpc>
                <a:spcPct val="100000"/>
              </a:lnSpc>
              <a:spcBef>
                <a:spcPts val="1080"/>
              </a:spcBef>
              <a:buAutoNum type="arabicPeriod" startAt="4"/>
              <a:tabLst>
                <a:tab pos="264160" algn="l"/>
              </a:tabLst>
            </a:pP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Unigram</a:t>
            </a:r>
            <a:r>
              <a:rPr dirty="0" u="sng" sz="1800" spc="5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Base:</a:t>
            </a:r>
            <a:r>
              <a:rPr dirty="0" u="sng" sz="1800" spc="-7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stops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at the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unigram,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uses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simple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count-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based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8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(count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 word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/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total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words).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Inflection</a:t>
            </a:r>
            <a:r>
              <a:rPr dirty="0" sz="2400" spc="-6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1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NLP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7"/>
            <a:ext cx="8284209" cy="2287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0340" marR="5080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-50">
                <a:solidFill>
                  <a:srgbClr val="525252"/>
                </a:solidFill>
                <a:latin typeface="Microsoft Sans Serif"/>
                <a:cs typeface="Microsoft Sans Serif"/>
              </a:rPr>
              <a:t> NLP,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inflection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modifying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(like</a:t>
            </a:r>
            <a:r>
              <a:rPr dirty="0" sz="20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adding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'-s',</a:t>
            </a:r>
            <a:r>
              <a:rPr dirty="0" sz="20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'-ed',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'-ing')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show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0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info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(plural,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tense,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etc.)</a:t>
            </a:r>
            <a:r>
              <a:rPr dirty="0" sz="20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without</a:t>
            </a:r>
            <a:r>
              <a:rPr dirty="0" sz="20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changing</a:t>
            </a:r>
            <a:r>
              <a:rPr dirty="0" sz="20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core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meaning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(e.g.,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run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-&gt;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runs,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ran),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distinct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derivation</a:t>
            </a:r>
            <a:r>
              <a:rPr dirty="0" sz="20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(creating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new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words</a:t>
            </a:r>
            <a:endParaRPr sz="2000">
              <a:latin typeface="Microsoft Sans Serif"/>
              <a:cs typeface="Microsoft Sans Serif"/>
            </a:endParaRPr>
          </a:p>
          <a:p>
            <a:pPr algn="just"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happy</a:t>
            </a:r>
            <a:r>
              <a:rPr dirty="0" sz="20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to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happiness)</a:t>
            </a:r>
            <a:endParaRPr sz="2000">
              <a:latin typeface="Microsoft Sans Serif"/>
              <a:cs typeface="Microsoft Sans Serif"/>
            </a:endParaRPr>
          </a:p>
          <a:p>
            <a:pPr marL="180340" marR="20129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its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study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(morphology)</a:t>
            </a:r>
            <a:r>
              <a:rPr dirty="0" sz="20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key</a:t>
            </a:r>
            <a:r>
              <a:rPr dirty="0" sz="20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0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0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search,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translation,</a:t>
            </a:r>
            <a:r>
              <a:rPr dirty="0" sz="20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spell-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checking,</a:t>
            </a:r>
            <a:r>
              <a:rPr dirty="0" sz="20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often</a:t>
            </a:r>
            <a:r>
              <a:rPr dirty="0" sz="20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tools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NLTK</a:t>
            </a:r>
            <a:r>
              <a:rPr dirty="0" sz="20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0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Microsoft Sans Serif"/>
                <a:cs typeface="Microsoft Sans Serif"/>
              </a:rPr>
              <a:t>like </a:t>
            </a:r>
            <a:r>
              <a:rPr dirty="0" sz="2000" spc="-10">
                <a:solidFill>
                  <a:srgbClr val="525252"/>
                </a:solidFill>
                <a:latin typeface="Microsoft Sans Serif"/>
                <a:cs typeface="Microsoft Sans Serif"/>
              </a:rPr>
              <a:t>lemmatization.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Derivational</a:t>
            </a:r>
            <a:r>
              <a:rPr dirty="0" sz="2400" spc="-5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Morphology</a:t>
            </a:r>
            <a:r>
              <a:rPr dirty="0" sz="2400" spc="-6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7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NLP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26035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 sz="1800">
                <a:solidFill>
                  <a:srgbClr val="292929"/>
                </a:solidFill>
              </a:rPr>
              <a:t>Derivational</a:t>
            </a:r>
            <a:r>
              <a:rPr dirty="0" sz="1800" spc="-3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morphology</a:t>
            </a:r>
            <a:r>
              <a:rPr dirty="0" sz="1800" spc="-7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in</a:t>
            </a:r>
            <a:r>
              <a:rPr dirty="0" sz="1800" spc="-1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NLP</a:t>
            </a:r>
            <a:r>
              <a:rPr dirty="0" sz="1800" spc="2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studies</a:t>
            </a:r>
            <a:r>
              <a:rPr dirty="0" sz="1800" spc="-5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how</a:t>
            </a:r>
            <a:r>
              <a:rPr dirty="0" sz="1800" spc="-2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new words are</a:t>
            </a:r>
            <a:r>
              <a:rPr dirty="0" sz="1800" spc="1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formed,</a:t>
            </a:r>
            <a:r>
              <a:rPr dirty="0" sz="1800" spc="-35">
                <a:solidFill>
                  <a:srgbClr val="292929"/>
                </a:solidFill>
              </a:rPr>
              <a:t> </a:t>
            </a:r>
            <a:r>
              <a:rPr dirty="0" sz="1800" spc="-10">
                <a:solidFill>
                  <a:srgbClr val="292929"/>
                </a:solidFill>
              </a:rPr>
              <a:t>changing </a:t>
            </a:r>
            <a:r>
              <a:rPr dirty="0" sz="1800">
                <a:solidFill>
                  <a:srgbClr val="292929"/>
                </a:solidFill>
              </a:rPr>
              <a:t>meaning</a:t>
            </a:r>
            <a:r>
              <a:rPr dirty="0" sz="1800" spc="-4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or</a:t>
            </a:r>
            <a:r>
              <a:rPr dirty="0" sz="1800" spc="3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part</a:t>
            </a:r>
            <a:r>
              <a:rPr dirty="0" sz="1800" spc="1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of</a:t>
            </a:r>
            <a:r>
              <a:rPr dirty="0" sz="1800" spc="1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speech</a:t>
            </a:r>
            <a:r>
              <a:rPr dirty="0" sz="1800" spc="2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(like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happy</a:t>
            </a:r>
            <a:r>
              <a:rPr dirty="0" sz="1800" spc="-25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</a:rPr>
              <a:t>to</a:t>
            </a:r>
            <a:r>
              <a:rPr dirty="0" sz="1800" spc="10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happiness</a:t>
            </a:r>
            <a:r>
              <a:rPr dirty="0" sz="1800">
                <a:solidFill>
                  <a:srgbClr val="292929"/>
                </a:solidFill>
              </a:rPr>
              <a:t>),</a:t>
            </a:r>
            <a:r>
              <a:rPr dirty="0" sz="1800" spc="-3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unlike</a:t>
            </a:r>
            <a:r>
              <a:rPr dirty="0" sz="1800" spc="-20">
                <a:solidFill>
                  <a:srgbClr val="292929"/>
                </a:solidFill>
              </a:rPr>
              <a:t> </a:t>
            </a:r>
            <a:r>
              <a:rPr dirty="0" sz="1800" spc="-10">
                <a:solidFill>
                  <a:srgbClr val="292929"/>
                </a:solidFill>
              </a:rPr>
              <a:t>inflectional </a:t>
            </a:r>
            <a:r>
              <a:rPr dirty="0" sz="1800">
                <a:solidFill>
                  <a:srgbClr val="292929"/>
                </a:solidFill>
              </a:rPr>
              <a:t>morphology</a:t>
            </a:r>
            <a:r>
              <a:rPr dirty="0" sz="1800" spc="-2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which</a:t>
            </a:r>
            <a:r>
              <a:rPr dirty="0" sz="1800" spc="-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just adds</a:t>
            </a:r>
            <a:r>
              <a:rPr dirty="0" sz="1800" spc="-2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grammar</a:t>
            </a:r>
            <a:r>
              <a:rPr dirty="0" sz="1800" spc="-3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(like</a:t>
            </a:r>
            <a:r>
              <a:rPr dirty="0" sz="1800" spc="25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cat</a:t>
            </a:r>
            <a:r>
              <a:rPr dirty="0" sz="1800" spc="-20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</a:rPr>
              <a:t>to </a:t>
            </a:r>
            <a:r>
              <a:rPr dirty="0" sz="1800" spc="-10" i="1">
                <a:solidFill>
                  <a:srgbClr val="292929"/>
                </a:solidFill>
                <a:latin typeface="Arial"/>
                <a:cs typeface="Arial"/>
              </a:rPr>
              <a:t>cats</a:t>
            </a:r>
            <a:r>
              <a:rPr dirty="0" sz="1800" spc="-10">
                <a:solidFill>
                  <a:srgbClr val="292929"/>
                </a:solidFill>
              </a:rPr>
              <a:t>).</a:t>
            </a:r>
            <a:endParaRPr sz="1800">
              <a:latin typeface="Arial"/>
              <a:cs typeface="Arial"/>
            </a:endParaRPr>
          </a:p>
          <a:p>
            <a:pPr algn="r" marL="24765" marR="419798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Key</a:t>
            </a:r>
            <a:r>
              <a:rPr dirty="0" sz="1800" spc="-3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Concepts</a:t>
            </a:r>
            <a:r>
              <a:rPr dirty="0" sz="1800" spc="-2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in</a:t>
            </a:r>
            <a:r>
              <a:rPr dirty="0" sz="1800" spc="-2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NLP</a:t>
            </a:r>
            <a:r>
              <a:rPr dirty="0" sz="1800" spc="-3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&amp;</a:t>
            </a:r>
            <a:r>
              <a:rPr dirty="0" sz="1800" spc="-1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92929"/>
                </a:solidFill>
                <a:latin typeface="Arial"/>
                <a:cs typeface="Arial"/>
              </a:rPr>
              <a:t>Derivation:</a:t>
            </a:r>
            <a:endParaRPr sz="1800">
              <a:latin typeface="Arial"/>
              <a:cs typeface="Arial"/>
            </a:endParaRPr>
          </a:p>
          <a:p>
            <a:pPr lvl="1" marL="613410" indent="-287020">
              <a:lnSpc>
                <a:spcPct val="100000"/>
              </a:lnSpc>
              <a:buFont typeface="Wingdings"/>
              <a:buChar char=""/>
              <a:tabLst>
                <a:tab pos="614045" algn="l"/>
              </a:tabLst>
            </a:pPr>
            <a:r>
              <a:rPr dirty="0" sz="1800" spc="-10" b="1">
                <a:solidFill>
                  <a:srgbClr val="292929"/>
                </a:solidFill>
                <a:latin typeface="Arial"/>
                <a:cs typeface="Arial"/>
              </a:rPr>
              <a:t>Derivation:</a:t>
            </a:r>
            <a:r>
              <a:rPr dirty="0" sz="1800" spc="-114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Adding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prefixes (un-,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re-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)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suffixes (-ness,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-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ly,</a:t>
            </a:r>
            <a:r>
              <a:rPr dirty="0" sz="18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-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able)</a:t>
            </a:r>
            <a:r>
              <a:rPr dirty="0" sz="18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change</a:t>
            </a:r>
            <a:endParaRPr sz="1800">
              <a:latin typeface="Microsoft Sans Serif"/>
              <a:cs typeface="Microsoft Sans Serif"/>
            </a:endParaRPr>
          </a:p>
          <a:p>
            <a:pPr marL="61341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292929"/>
                </a:solidFill>
              </a:rPr>
              <a:t>a</a:t>
            </a:r>
            <a:r>
              <a:rPr dirty="0" sz="1800" spc="2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word's</a:t>
            </a:r>
            <a:r>
              <a:rPr dirty="0" sz="1800" spc="1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meaning</a:t>
            </a:r>
            <a:r>
              <a:rPr dirty="0" sz="1800" spc="-2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or grammatical</a:t>
            </a:r>
            <a:r>
              <a:rPr dirty="0" sz="1800" spc="-70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class</a:t>
            </a:r>
            <a:r>
              <a:rPr dirty="0" sz="1800" spc="-15">
                <a:solidFill>
                  <a:srgbClr val="292929"/>
                </a:solidFill>
              </a:rPr>
              <a:t> </a:t>
            </a:r>
            <a:r>
              <a:rPr dirty="0" sz="1800">
                <a:solidFill>
                  <a:srgbClr val="292929"/>
                </a:solidFill>
              </a:rPr>
              <a:t>(e.g.,</a:t>
            </a:r>
            <a:r>
              <a:rPr dirty="0" sz="1800" spc="60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kind</a:t>
            </a:r>
            <a:r>
              <a:rPr dirty="0" sz="1800" spc="-35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</a:rPr>
              <a:t>(adj) </a:t>
            </a:r>
            <a:r>
              <a:rPr dirty="0" sz="1800" spc="-50">
                <a:solidFill>
                  <a:srgbClr val="292929"/>
                </a:solidFill>
              </a:rPr>
              <a:t>-</a:t>
            </a:r>
            <a:endParaRPr sz="1800">
              <a:latin typeface="Arial"/>
              <a:cs typeface="Arial"/>
            </a:endParaRPr>
          </a:p>
          <a:p>
            <a:pPr marL="613410">
              <a:lnSpc>
                <a:spcPct val="100000"/>
              </a:lnSpc>
            </a:pPr>
            <a:r>
              <a:rPr dirty="0" sz="1800">
                <a:solidFill>
                  <a:srgbClr val="292929"/>
                </a:solidFill>
              </a:rPr>
              <a:t>&gt;</a:t>
            </a:r>
            <a:r>
              <a:rPr dirty="0" sz="1800" spc="25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unkind</a:t>
            </a:r>
            <a:r>
              <a:rPr dirty="0" sz="1800" spc="-50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</a:rPr>
              <a:t>(adj),</a:t>
            </a:r>
            <a:r>
              <a:rPr dirty="0" sz="1800" spc="10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happy</a:t>
            </a:r>
            <a:r>
              <a:rPr dirty="0" sz="1800" spc="-30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</a:rPr>
              <a:t>(adj)</a:t>
            </a:r>
            <a:r>
              <a:rPr dirty="0" sz="1800" spc="10">
                <a:solidFill>
                  <a:srgbClr val="292929"/>
                </a:solidFill>
              </a:rPr>
              <a:t> </a:t>
            </a:r>
            <a:r>
              <a:rPr dirty="0" sz="1800" spc="-10">
                <a:solidFill>
                  <a:srgbClr val="292929"/>
                </a:solidFill>
              </a:rPr>
              <a:t>-</a:t>
            </a:r>
            <a:r>
              <a:rPr dirty="0" sz="1800">
                <a:solidFill>
                  <a:srgbClr val="292929"/>
                </a:solidFill>
              </a:rPr>
              <a:t>&gt;</a:t>
            </a:r>
            <a:r>
              <a:rPr dirty="0" sz="1800" spc="10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happiness</a:t>
            </a:r>
            <a:r>
              <a:rPr dirty="0" sz="1800" spc="-35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92929"/>
                </a:solidFill>
              </a:rPr>
              <a:t>(noun)).</a:t>
            </a:r>
            <a:endParaRPr sz="1800">
              <a:latin typeface="Arial"/>
              <a:cs typeface="Arial"/>
            </a:endParaRPr>
          </a:p>
          <a:p>
            <a:pPr lvl="1" marL="613410" indent="-287020">
              <a:lnSpc>
                <a:spcPct val="100000"/>
              </a:lnSpc>
              <a:buFont typeface="Wingdings"/>
              <a:buChar char=""/>
              <a:tabLst>
                <a:tab pos="614045" algn="l"/>
              </a:tabLst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Inflection:</a:t>
            </a:r>
            <a:r>
              <a:rPr dirty="0" sz="1800" spc="-5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Modifying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words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tense,</a:t>
            </a:r>
            <a:r>
              <a:rPr dirty="0" sz="18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number,</a:t>
            </a:r>
            <a:r>
              <a:rPr dirty="0" sz="18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etc.,</a:t>
            </a:r>
            <a:r>
              <a:rPr dirty="0" sz="18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without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changing</a:t>
            </a:r>
            <a:r>
              <a:rPr dirty="0" sz="1800" spc="-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class</a:t>
            </a:r>
            <a:endParaRPr sz="1800">
              <a:latin typeface="Microsoft Sans Serif"/>
              <a:cs typeface="Microsoft Sans Serif"/>
            </a:endParaRPr>
          </a:p>
          <a:p>
            <a:pPr algn="r" marL="24765" marR="4135754">
              <a:lnSpc>
                <a:spcPct val="100000"/>
              </a:lnSpc>
            </a:pPr>
            <a:r>
              <a:rPr dirty="0" sz="1800">
                <a:solidFill>
                  <a:srgbClr val="292929"/>
                </a:solidFill>
              </a:rPr>
              <a:t>(e.g.,</a:t>
            </a:r>
            <a:r>
              <a:rPr dirty="0" sz="1800" spc="5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walk</a:t>
            </a:r>
            <a:r>
              <a:rPr dirty="0" sz="1800" spc="-5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92929"/>
                </a:solidFill>
              </a:rPr>
              <a:t>-</a:t>
            </a:r>
            <a:r>
              <a:rPr dirty="0" sz="1800">
                <a:solidFill>
                  <a:srgbClr val="292929"/>
                </a:solidFill>
              </a:rPr>
              <a:t>&gt;</a:t>
            </a:r>
            <a:r>
              <a:rPr dirty="0" sz="1800" spc="15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walked</a:t>
            </a:r>
            <a:r>
              <a:rPr dirty="0" sz="1800">
                <a:solidFill>
                  <a:srgbClr val="292929"/>
                </a:solidFill>
              </a:rPr>
              <a:t>,</a:t>
            </a:r>
            <a:r>
              <a:rPr dirty="0" sz="1800" spc="-15">
                <a:solidFill>
                  <a:srgbClr val="292929"/>
                </a:solidFill>
              </a:rPr>
              <a:t> </a:t>
            </a:r>
            <a:r>
              <a:rPr dirty="0" sz="1800" i="1">
                <a:solidFill>
                  <a:srgbClr val="292929"/>
                </a:solidFill>
                <a:latin typeface="Arial"/>
                <a:cs typeface="Arial"/>
              </a:rPr>
              <a:t>dog</a:t>
            </a:r>
            <a:r>
              <a:rPr dirty="0" sz="1800" spc="-5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92929"/>
                </a:solidFill>
              </a:rPr>
              <a:t>-</a:t>
            </a:r>
            <a:r>
              <a:rPr dirty="0" sz="1800">
                <a:solidFill>
                  <a:srgbClr val="292929"/>
                </a:solidFill>
              </a:rPr>
              <a:t>&gt;</a:t>
            </a:r>
            <a:r>
              <a:rPr dirty="0" sz="1800" spc="35">
                <a:solidFill>
                  <a:srgbClr val="292929"/>
                </a:solidFill>
              </a:rPr>
              <a:t> </a:t>
            </a:r>
            <a:r>
              <a:rPr dirty="0" sz="1800" spc="-10" i="1">
                <a:solidFill>
                  <a:srgbClr val="292929"/>
                </a:solidFill>
                <a:latin typeface="Arial"/>
                <a:cs typeface="Arial"/>
              </a:rPr>
              <a:t>dogs</a:t>
            </a:r>
            <a:r>
              <a:rPr dirty="0" sz="1800" spc="-10">
                <a:solidFill>
                  <a:srgbClr val="292929"/>
                </a:solidFill>
              </a:rPr>
              <a:t>).</a:t>
            </a:r>
            <a:endParaRPr sz="1800">
              <a:latin typeface="Arial"/>
              <a:cs typeface="Arial"/>
            </a:endParaRPr>
          </a:p>
          <a:p>
            <a:pPr lvl="1" marL="613410" marR="420370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14045" algn="l"/>
              </a:tabLst>
            </a:pPr>
            <a:r>
              <a:rPr dirty="0" sz="1800" spc="-10" b="1">
                <a:solidFill>
                  <a:srgbClr val="292929"/>
                </a:solidFill>
                <a:latin typeface="Arial"/>
                <a:cs typeface="Arial"/>
              </a:rPr>
              <a:t>Morphological</a:t>
            </a:r>
            <a:r>
              <a:rPr dirty="0" sz="1800" spc="-114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Analysis:</a:t>
            </a:r>
            <a:r>
              <a:rPr dirty="0" sz="1800" spc="3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process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 identifying</a:t>
            </a:r>
            <a:r>
              <a:rPr dirty="0" sz="18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(root </a:t>
            </a:r>
            <a:r>
              <a:rPr dirty="0" sz="1800" spc="-50">
                <a:solidFill>
                  <a:srgbClr val="292929"/>
                </a:solidFill>
                <a:latin typeface="Microsoft Sans Serif"/>
                <a:cs typeface="Microsoft Sans Serif"/>
              </a:rPr>
              <a:t>+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affixes)</a:t>
            </a:r>
            <a:r>
              <a:rPr dirty="0" sz="18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text,</a:t>
            </a:r>
            <a:r>
              <a:rPr dirty="0" sz="1800" spc="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crucial</a:t>
            </a:r>
            <a:r>
              <a:rPr dirty="0" sz="18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tasks</a:t>
            </a:r>
            <a:r>
              <a:rPr dirty="0" sz="18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like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dirty="0" sz="18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Translation,</a:t>
            </a:r>
            <a:r>
              <a:rPr dirty="0" sz="18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Information Retrieval.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Derivational</a:t>
            </a:r>
            <a:r>
              <a:rPr dirty="0" sz="2400" spc="-5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Morphology</a:t>
            </a:r>
            <a:r>
              <a:rPr dirty="0" sz="2400" spc="-6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7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NLP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19734" y="1179017"/>
            <a:ext cx="7924800" cy="2159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3695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Stemming</a:t>
            </a:r>
            <a:r>
              <a:rPr dirty="0" sz="2000" spc="-3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&amp;</a:t>
            </a:r>
            <a:r>
              <a:rPr dirty="0" sz="2000" spc="-5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92929"/>
                </a:solidFill>
                <a:latin typeface="Arial"/>
                <a:cs typeface="Arial"/>
              </a:rPr>
              <a:t>Lemmatization:</a:t>
            </a:r>
            <a:r>
              <a:rPr dirty="0" sz="2000" spc="-13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(like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Porter</a:t>
            </a:r>
            <a:endParaRPr sz="2000">
              <a:latin typeface="Microsoft Sans Serif"/>
              <a:cs typeface="Microsoft Sans Serif"/>
            </a:endParaRPr>
          </a:p>
          <a:p>
            <a:pPr marL="354330" marR="5080">
              <a:lnSpc>
                <a:spcPct val="100000"/>
              </a:lnSpc>
            </a:pP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Stemmer,</a:t>
            </a:r>
            <a:r>
              <a:rPr dirty="0" sz="2000" spc="-1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Yarowsky)</a:t>
            </a:r>
            <a:r>
              <a:rPr dirty="0" sz="2000" spc="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reduce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words</a:t>
            </a:r>
            <a:r>
              <a:rPr dirty="0" sz="20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their</a:t>
            </a:r>
            <a:r>
              <a:rPr dirty="0" sz="20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base/root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form,</a:t>
            </a:r>
            <a:r>
              <a:rPr dirty="0" sz="2000" spc="-10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handling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derived</a:t>
            </a:r>
            <a:r>
              <a:rPr dirty="0" sz="20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forms.</a:t>
            </a:r>
            <a:endParaRPr sz="20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3695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Zero</a:t>
            </a:r>
            <a:r>
              <a:rPr dirty="0" sz="2000" spc="-3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Derivation:</a:t>
            </a:r>
            <a:r>
              <a:rPr dirty="0" sz="2000" spc="-6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When</a:t>
            </a:r>
            <a:r>
              <a:rPr dirty="0" sz="2000" spc="-8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word's</a:t>
            </a:r>
            <a:r>
              <a:rPr dirty="0" sz="2000" spc="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form</a:t>
            </a:r>
            <a:r>
              <a:rPr dirty="0" sz="20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doesn't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change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but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endParaRPr sz="200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category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does</a:t>
            </a:r>
            <a:r>
              <a:rPr dirty="0" sz="20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i="1">
                <a:solidFill>
                  <a:srgbClr val="292929"/>
                </a:solidFill>
                <a:latin typeface="Arial"/>
                <a:cs typeface="Arial"/>
              </a:rPr>
              <a:t>Google</a:t>
            </a:r>
            <a:r>
              <a:rPr dirty="0" sz="2000" spc="-45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(noun)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-&gt;</a:t>
            </a:r>
            <a:r>
              <a:rPr dirty="0" sz="20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i="1">
                <a:solidFill>
                  <a:srgbClr val="292929"/>
                </a:solidFill>
                <a:latin typeface="Arial"/>
                <a:cs typeface="Arial"/>
              </a:rPr>
              <a:t>to</a:t>
            </a:r>
            <a:r>
              <a:rPr dirty="0" sz="2000" spc="-55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292929"/>
                </a:solidFill>
                <a:latin typeface="Arial"/>
                <a:cs typeface="Arial"/>
              </a:rPr>
              <a:t>google</a:t>
            </a:r>
            <a:r>
              <a:rPr dirty="0" sz="2000" spc="10" i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(verb)).</a:t>
            </a:r>
            <a:endParaRPr sz="20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buFont typeface="Wingdings"/>
              <a:buChar char=""/>
              <a:tabLst>
                <a:tab pos="353695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Productivity:</a:t>
            </a:r>
            <a:r>
              <a:rPr dirty="0" sz="2000" spc="-2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How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easily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affix</a:t>
            </a:r>
            <a:r>
              <a:rPr dirty="0" sz="20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(like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-ness)</a:t>
            </a:r>
            <a:r>
              <a:rPr dirty="0" sz="20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creates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new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words,</a:t>
            </a:r>
            <a:endParaRPr sz="200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20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dirty="0" sz="20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rule</a:t>
            </a:r>
            <a:r>
              <a:rPr dirty="0" sz="20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strength.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Finite-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State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Morphological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Parsing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5969"/>
            <a:ext cx="8366125" cy="194945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1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Finite-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Morphological Parsing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uses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Finite-State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Transducers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(FSTs)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break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2100" spc="-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(stems,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prefixes,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suffixes),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handling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both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regular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irregular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through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cascades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automata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lexicon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(word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parts),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morphotactics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(rules),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spelling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changes,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effectively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mapping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surface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deep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 for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stemming,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lemmatization,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tagging.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Finite-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State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Morphological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Parsing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5969"/>
            <a:ext cx="8381365" cy="34436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92929"/>
                </a:solidFill>
                <a:latin typeface="Arial"/>
                <a:cs typeface="Arial"/>
              </a:rPr>
              <a:t>Core</a:t>
            </a:r>
            <a:r>
              <a:rPr dirty="0" sz="2400" spc="-3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292929"/>
                </a:solidFill>
                <a:latin typeface="Arial"/>
                <a:cs typeface="Arial"/>
              </a:rPr>
              <a:t>Concepts:</a:t>
            </a:r>
            <a:endParaRPr sz="2400">
              <a:latin typeface="Arial"/>
              <a:cs typeface="Arial"/>
            </a:endParaRPr>
          </a:p>
          <a:p>
            <a:pPr marL="180340" marR="495934" indent="-16764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180340" algn="l"/>
              </a:tabLst>
            </a:pPr>
            <a:r>
              <a:rPr dirty="0" sz="2000" spc="-10" b="1">
                <a:solidFill>
                  <a:srgbClr val="292929"/>
                </a:solidFill>
                <a:latin typeface="Arial"/>
                <a:cs typeface="Arial"/>
              </a:rPr>
              <a:t>Finite-</a:t>
            </a: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State</a:t>
            </a:r>
            <a:r>
              <a:rPr dirty="0" sz="2000" spc="-6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92929"/>
                </a:solidFill>
                <a:latin typeface="Arial"/>
                <a:cs typeface="Arial"/>
              </a:rPr>
              <a:t>Transducer</a:t>
            </a:r>
            <a:r>
              <a:rPr dirty="0" sz="2000" spc="-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92929"/>
                </a:solidFill>
                <a:latin typeface="Arial"/>
                <a:cs typeface="Arial"/>
              </a:rPr>
              <a:t>(FST):</a:t>
            </a:r>
            <a:r>
              <a:rPr dirty="0" sz="2000" spc="-14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9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takes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input</a:t>
            </a:r>
            <a:r>
              <a:rPr dirty="0" sz="2000" spc="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string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(like</a:t>
            </a:r>
            <a:r>
              <a:rPr dirty="0" sz="20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"cats")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outputs</a:t>
            </a:r>
            <a:r>
              <a:rPr dirty="0" sz="20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another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string</a:t>
            </a:r>
            <a:r>
              <a:rPr dirty="0" sz="20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(like</a:t>
            </a:r>
            <a:r>
              <a:rPr dirty="0" sz="20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"cat"+"plural"),</a:t>
            </a:r>
            <a:r>
              <a:rPr dirty="0" sz="2000" spc="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mapping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letters to</a:t>
            </a:r>
            <a:r>
              <a:rPr dirty="0" sz="20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morphemes.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Morphemes:</a:t>
            </a:r>
            <a:r>
              <a:rPr dirty="0" sz="2000" spc="-9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Smallest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meaningful</a:t>
            </a:r>
            <a:r>
              <a:rPr dirty="0" sz="20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units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20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"run"</a:t>
            </a:r>
            <a:r>
              <a:rPr dirty="0" sz="20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"running",</a:t>
            </a:r>
            <a:r>
              <a:rPr dirty="0" sz="2000" spc="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"-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ing"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plural</a:t>
            </a:r>
            <a:r>
              <a:rPr dirty="0" sz="20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marker).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Lexicon:</a:t>
            </a:r>
            <a:r>
              <a:rPr dirty="0" sz="2000" spc="-3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Stores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stems</a:t>
            </a:r>
            <a:r>
              <a:rPr dirty="0" sz="2000" spc="-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affixes</a:t>
            </a:r>
            <a:r>
              <a:rPr dirty="0" sz="20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(prefixes/suffixes).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Morphotactics:</a:t>
            </a:r>
            <a:r>
              <a:rPr dirty="0" sz="2000" spc="-6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Rules for</a:t>
            </a:r>
            <a:r>
              <a:rPr dirty="0" sz="20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valid</a:t>
            </a:r>
            <a:r>
              <a:rPr dirty="0" sz="2000" spc="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morpheme</a:t>
            </a:r>
            <a:r>
              <a:rPr dirty="0" sz="2000" spc="-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combinations (e.g.,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verb</a:t>
            </a:r>
            <a:r>
              <a:rPr dirty="0" sz="20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stem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+</a:t>
            </a:r>
            <a:r>
              <a:rPr dirty="0" sz="20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-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ed).</a:t>
            </a:r>
            <a:endParaRPr sz="20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Orthographic</a:t>
            </a:r>
            <a:r>
              <a:rPr dirty="0" sz="2000" spc="-5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Rules:</a:t>
            </a:r>
            <a:r>
              <a:rPr dirty="0" sz="2000" spc="-7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Handle</a:t>
            </a:r>
            <a:r>
              <a:rPr dirty="0" sz="20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spelling</a:t>
            </a:r>
            <a:r>
              <a:rPr dirty="0" sz="20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changes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20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'y'</a:t>
            </a:r>
            <a:r>
              <a:rPr dirty="0" sz="20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'i'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"fly"</a:t>
            </a:r>
            <a:r>
              <a:rPr dirty="0" sz="2000" spc="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-</a:t>
            </a:r>
            <a:r>
              <a:rPr dirty="0" sz="2000" spc="-50">
                <a:solidFill>
                  <a:srgbClr val="292929"/>
                </a:solidFill>
                <a:latin typeface="Microsoft Sans Serif"/>
                <a:cs typeface="Microsoft Sans Serif"/>
              </a:rPr>
              <a:t>&gt;</a:t>
            </a:r>
            <a:endParaRPr sz="20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"flies").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Finite-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State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Morphological</a:t>
            </a:r>
            <a:r>
              <a:rPr dirty="0" sz="24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Parsing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803" y="1279093"/>
            <a:ext cx="8286115" cy="22872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solidFill>
                  <a:srgbClr val="292929"/>
                </a:solidFill>
                <a:latin typeface="Arial"/>
                <a:cs typeface="Arial"/>
              </a:rPr>
              <a:t>How</a:t>
            </a:r>
            <a:r>
              <a:rPr dirty="0" sz="2800" spc="-1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292929"/>
                </a:solidFill>
                <a:latin typeface="Arial"/>
                <a:cs typeface="Arial"/>
              </a:rPr>
              <a:t>it</a:t>
            </a:r>
            <a:r>
              <a:rPr dirty="0" sz="2800" spc="-4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292929"/>
                </a:solidFill>
                <a:latin typeface="Arial"/>
                <a:cs typeface="Arial"/>
              </a:rPr>
              <a:t>Works:</a:t>
            </a:r>
            <a:endParaRPr sz="2800">
              <a:latin typeface="Arial"/>
              <a:cs typeface="Arial"/>
            </a:endParaRPr>
          </a:p>
          <a:p>
            <a:pPr marL="222250" indent="-214629">
              <a:lnSpc>
                <a:spcPct val="100000"/>
              </a:lnSpc>
              <a:spcBef>
                <a:spcPts val="35"/>
              </a:spcBef>
              <a:buSzPct val="95000"/>
              <a:buAutoNum type="arabicPeriod"/>
              <a:tabLst>
                <a:tab pos="222250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Input:</a:t>
            </a:r>
            <a:r>
              <a:rPr dirty="0" sz="2000" spc="-14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1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word</a:t>
            </a:r>
            <a:r>
              <a:rPr dirty="0" sz="20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like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 "unhappily".</a:t>
            </a:r>
            <a:endParaRPr sz="2000">
              <a:latin typeface="Microsoft Sans Serif"/>
              <a:cs typeface="Microsoft Sans Serif"/>
            </a:endParaRPr>
          </a:p>
          <a:p>
            <a:pPr marL="12700" marR="5080" indent="-4445">
              <a:lnSpc>
                <a:spcPct val="100000"/>
              </a:lnSpc>
              <a:buSzPct val="95000"/>
              <a:buAutoNum type="arabicPeriod"/>
              <a:tabLst>
                <a:tab pos="222250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FST</a:t>
            </a:r>
            <a:r>
              <a:rPr dirty="0" sz="2000" spc="-5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Processing:</a:t>
            </a:r>
            <a:r>
              <a:rPr dirty="0" sz="2000" spc="-5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FST</a:t>
            </a:r>
            <a:r>
              <a:rPr dirty="0" sz="2000" spc="-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reads</a:t>
            </a:r>
            <a:r>
              <a:rPr dirty="0" sz="20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letters,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transitions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states,</a:t>
            </a:r>
            <a:r>
              <a:rPr dirty="0" sz="2000" spc="-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maps</a:t>
            </a:r>
            <a:r>
              <a:rPr dirty="0" sz="20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them</a:t>
            </a:r>
            <a:r>
              <a:rPr dirty="0" sz="20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output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symbols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(morphemes).</a:t>
            </a:r>
            <a:endParaRPr sz="2000">
              <a:latin typeface="Microsoft Sans Serif"/>
              <a:cs typeface="Microsoft Sans Serif"/>
            </a:endParaRPr>
          </a:p>
          <a:p>
            <a:pPr marL="222250" indent="-214629">
              <a:lnSpc>
                <a:spcPct val="100000"/>
              </a:lnSpc>
              <a:spcBef>
                <a:spcPts val="5"/>
              </a:spcBef>
              <a:buSzPct val="95000"/>
              <a:buAutoNum type="arabicPeriod"/>
              <a:tabLst>
                <a:tab pos="222250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Output:</a:t>
            </a:r>
            <a:r>
              <a:rPr dirty="0" sz="2000" spc="-10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word</a:t>
            </a:r>
            <a:r>
              <a:rPr dirty="0" sz="20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decomposed</a:t>
            </a:r>
            <a:r>
              <a:rPr dirty="0" sz="20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components: </a:t>
            </a:r>
            <a:r>
              <a:rPr dirty="0" sz="1400">
                <a:solidFill>
                  <a:srgbClr val="292929"/>
                </a:solidFill>
                <a:latin typeface="Arial MT"/>
                <a:cs typeface="Arial MT"/>
              </a:rPr>
              <a:t>un-</a:t>
            </a:r>
            <a:r>
              <a:rPr dirty="0" sz="1400" spc="10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(prefix)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+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29"/>
                </a:solidFill>
                <a:latin typeface="Arial MT"/>
                <a:cs typeface="Arial MT"/>
              </a:rPr>
              <a:t>happy</a:t>
            </a:r>
            <a:r>
              <a:rPr dirty="0" sz="1400" spc="19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(stem)</a:t>
            </a:r>
            <a:r>
              <a:rPr dirty="0" sz="2000" spc="-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+ </a:t>
            </a:r>
            <a:r>
              <a:rPr dirty="0" sz="1400" spc="-1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292929"/>
                </a:solidFill>
                <a:latin typeface="Arial MT"/>
                <a:cs typeface="Arial MT"/>
              </a:rPr>
              <a:t>ly</a:t>
            </a:r>
            <a:r>
              <a:rPr dirty="0" sz="1400" spc="17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(suffix).</a:t>
            </a:r>
            <a:endParaRPr sz="2000">
              <a:latin typeface="Microsoft Sans Serif"/>
              <a:cs typeface="Microsoft Sans Serif"/>
            </a:endParaRPr>
          </a:p>
          <a:p>
            <a:pPr marL="222250" indent="-214629">
              <a:lnSpc>
                <a:spcPct val="100000"/>
              </a:lnSpc>
              <a:buSzPct val="95000"/>
              <a:buAutoNum type="arabicPeriod" startAt="4"/>
              <a:tabLst>
                <a:tab pos="222250" algn="l"/>
              </a:tabLst>
            </a:pPr>
            <a:r>
              <a:rPr dirty="0" sz="2000" b="1">
                <a:solidFill>
                  <a:srgbClr val="292929"/>
                </a:solidFill>
                <a:latin typeface="Arial"/>
                <a:cs typeface="Arial"/>
              </a:rPr>
              <a:t>Irregularities:</a:t>
            </a:r>
            <a:r>
              <a:rPr dirty="0" sz="2000" spc="-4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Special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paths</a:t>
            </a:r>
            <a:r>
              <a:rPr dirty="0" sz="20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handle</a:t>
            </a:r>
            <a:r>
              <a:rPr dirty="0" sz="20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irregulars</a:t>
            </a:r>
            <a:r>
              <a:rPr dirty="0" sz="20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2000" spc="-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goose</a:t>
            </a:r>
            <a:r>
              <a:rPr dirty="0" sz="20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29"/>
                </a:solidFill>
                <a:latin typeface="Microsoft Sans Serif"/>
                <a:cs typeface="Microsoft Sans Serif"/>
              </a:rPr>
              <a:t>-&gt;</a:t>
            </a:r>
            <a:r>
              <a:rPr dirty="0" sz="2000" spc="-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29"/>
                </a:solidFill>
                <a:latin typeface="Microsoft Sans Serif"/>
                <a:cs typeface="Microsoft Sans Serif"/>
              </a:rPr>
              <a:t>geese).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Lexicon</a:t>
            </a:r>
            <a:r>
              <a:rPr dirty="0" sz="2400" spc="-5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dirty="0" sz="2400" spc="-1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Morphotactics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5969"/>
            <a:ext cx="8382634" cy="25228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just" marL="179705" indent="-167005">
              <a:lnSpc>
                <a:spcPct val="100000"/>
              </a:lnSpc>
              <a:spcBef>
                <a:spcPts val="1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525252"/>
                </a:solidFill>
                <a:latin typeface="Arial"/>
                <a:cs typeface="Arial"/>
              </a:rPr>
              <a:t>L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exicon</a:t>
            </a:r>
            <a:r>
              <a:rPr dirty="0" sz="2100" spc="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list</a:t>
            </a:r>
            <a:r>
              <a:rPr dirty="0" sz="2100" spc="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language's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words,</a:t>
            </a:r>
            <a:r>
              <a:rPr dirty="0" sz="2100" spc="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stems,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affixes</a:t>
            </a:r>
            <a:endParaRPr sz="2100">
              <a:latin typeface="Microsoft Sans Serif"/>
              <a:cs typeface="Microsoft Sans Serif"/>
            </a:endParaRPr>
          </a:p>
          <a:p>
            <a:pPr algn="just"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associated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(like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speech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meaning)</a:t>
            </a:r>
            <a:endParaRPr sz="2100">
              <a:latin typeface="Microsoft Sans Serif"/>
              <a:cs typeface="Microsoft Sans Serif"/>
            </a:endParaRPr>
          </a:p>
          <a:p>
            <a:pPr algn="just"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Morphotactics</a:t>
            </a:r>
            <a:r>
              <a:rPr dirty="0" sz="2100" spc="50" b="1">
                <a:solidFill>
                  <a:srgbClr val="525252"/>
                </a:solidFill>
                <a:latin typeface="Arial"/>
                <a:cs typeface="Arial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defines</a:t>
            </a:r>
            <a:r>
              <a:rPr dirty="0" sz="2100" spc="8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8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rules</a:t>
            </a:r>
            <a:r>
              <a:rPr dirty="0" sz="2100" spc="8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8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8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allowable</a:t>
            </a:r>
            <a:r>
              <a:rPr dirty="0" sz="2100" spc="7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ordering</a:t>
            </a:r>
            <a:r>
              <a:rPr dirty="0" sz="2100" spc="8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algn="just"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combination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valid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5080" indent="-167640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30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two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components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fundamental</a:t>
            </a:r>
            <a:r>
              <a:rPr dirty="0" sz="2100" spc="3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morphological</a:t>
            </a:r>
            <a:r>
              <a:rPr dirty="0" sz="2100" spc="3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analysis,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often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implemented</a:t>
            </a:r>
            <a:r>
              <a:rPr dirty="0" sz="21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Finite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Transducers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(FSTs)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efficient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structures.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Lexicon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7"/>
            <a:ext cx="8377555" cy="3396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1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lexicon</a:t>
            </a:r>
            <a:r>
              <a:rPr dirty="0" sz="1700" spc="2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2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NLP</a:t>
            </a:r>
            <a:r>
              <a:rPr dirty="0" sz="1700" spc="2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serves</a:t>
            </a:r>
            <a:r>
              <a:rPr dirty="0" sz="1700" spc="2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dirty="0" sz="1700" spc="2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2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1700" spc="2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vocabulary</a:t>
            </a:r>
            <a:r>
              <a:rPr dirty="0" sz="1700" spc="2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database</a:t>
            </a:r>
            <a:r>
              <a:rPr dirty="0" sz="1700" spc="2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2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2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given</a:t>
            </a:r>
            <a:r>
              <a:rPr dirty="0" sz="1700" spc="2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language.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Unlike</a:t>
            </a:r>
            <a:r>
              <a:rPr dirty="0" sz="1700" spc="1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10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simple</a:t>
            </a:r>
            <a:r>
              <a:rPr dirty="0" sz="1700" spc="1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dictionary</a:t>
            </a:r>
            <a:r>
              <a:rPr dirty="0" sz="1700" spc="11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dirty="0" sz="1700" spc="1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might</a:t>
            </a:r>
            <a:r>
              <a:rPr dirty="0" sz="1700" spc="11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list</a:t>
            </a:r>
            <a:r>
              <a:rPr dirty="0" sz="1700" spc="1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every</a:t>
            </a:r>
            <a:r>
              <a:rPr dirty="0" sz="1700" spc="10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inflected</a:t>
            </a:r>
            <a:r>
              <a:rPr dirty="0" sz="1700" spc="11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form,</a:t>
            </a:r>
            <a:r>
              <a:rPr dirty="0" sz="1700" spc="1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dirty="0" sz="1700" spc="1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1700" spc="1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NLP</a:t>
            </a:r>
            <a:r>
              <a:rPr dirty="0" sz="1700" spc="8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lexicon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typically</a:t>
            </a:r>
            <a:r>
              <a:rPr dirty="0" sz="17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stores</a:t>
            </a:r>
            <a:r>
              <a:rPr dirty="0" sz="17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dirty="0" sz="17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base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forms</a:t>
            </a:r>
            <a:r>
              <a:rPr dirty="0" sz="1700" spc="-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(stems)</a:t>
            </a:r>
            <a:r>
              <a:rPr dirty="0" sz="1700" spc="-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various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affixes (prefixes,</a:t>
            </a:r>
            <a:r>
              <a:rPr dirty="0" sz="17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suffixes). </a:t>
            </a:r>
            <a:r>
              <a:rPr dirty="0" u="sng" sz="17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Key</a:t>
            </a:r>
            <a:r>
              <a:rPr dirty="0" u="sng" sz="1700" spc="-5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7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aspects</a:t>
            </a:r>
            <a:r>
              <a:rPr dirty="0" u="sng" sz="1700" spc="5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7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of</a:t>
            </a:r>
            <a:r>
              <a:rPr dirty="0" u="sng" sz="1700" spc="-1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7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the </a:t>
            </a:r>
            <a:r>
              <a:rPr dirty="0" u="sng" sz="1700" spc="-1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lexicon:</a:t>
            </a:r>
            <a:endParaRPr sz="1700">
              <a:latin typeface="Microsoft Sans Serif"/>
              <a:cs typeface="Microsoft Sans Serif"/>
            </a:endParaRPr>
          </a:p>
          <a:p>
            <a:pPr algn="just" marL="12700" marR="5080" indent="-8890">
              <a:lnSpc>
                <a:spcPct val="100000"/>
              </a:lnSpc>
              <a:spcBef>
                <a:spcPts val="5"/>
              </a:spcBef>
              <a:buSzPct val="94117"/>
              <a:buFont typeface="Microsoft Sans Serif"/>
              <a:buChar char="•"/>
              <a:tabLst>
                <a:tab pos="88265" algn="l"/>
              </a:tabLst>
            </a:pP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Storage</a:t>
            </a:r>
            <a:r>
              <a:rPr dirty="0" sz="1700" spc="9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Efficiency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r>
              <a:rPr dirty="0" sz="1700" spc="1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Storing</a:t>
            </a:r>
            <a:r>
              <a:rPr dirty="0" sz="1700" spc="1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dirty="0" sz="1700" spc="9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stems</a:t>
            </a:r>
            <a:r>
              <a:rPr dirty="0" sz="1700" spc="11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8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rules</a:t>
            </a:r>
            <a:r>
              <a:rPr dirty="0" sz="1700" spc="1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1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inflections</a:t>
            </a:r>
            <a:r>
              <a:rPr dirty="0" sz="1700" spc="11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significantly</a:t>
            </a:r>
            <a:r>
              <a:rPr dirty="0" sz="1700" spc="9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reduces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overall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entries</a:t>
            </a:r>
            <a:r>
              <a:rPr dirty="0" sz="17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compared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listing</a:t>
            </a:r>
            <a:r>
              <a:rPr dirty="0" sz="17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every</a:t>
            </a:r>
            <a:r>
              <a:rPr dirty="0" sz="17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possible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word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form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17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storing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"run"</a:t>
            </a:r>
            <a:r>
              <a:rPr dirty="0" sz="17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"-ing"</a:t>
            </a:r>
            <a:r>
              <a:rPr dirty="0" sz="17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morpheme instead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"running"</a:t>
            </a:r>
            <a:r>
              <a:rPr dirty="0" sz="17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separate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entry).</a:t>
            </a:r>
            <a:endParaRPr sz="1700">
              <a:latin typeface="Microsoft Sans Serif"/>
              <a:cs typeface="Microsoft Sans Serif"/>
            </a:endParaRPr>
          </a:p>
          <a:p>
            <a:pPr algn="just" marL="12700" marR="6350" indent="-8890">
              <a:lnSpc>
                <a:spcPct val="100000"/>
              </a:lnSpc>
              <a:spcBef>
                <a:spcPts val="5"/>
              </a:spcBef>
              <a:buSzPct val="94117"/>
              <a:buFont typeface="Microsoft Sans Serif"/>
              <a:buChar char="•"/>
              <a:tabLst>
                <a:tab pos="88265" algn="l"/>
              </a:tabLst>
            </a:pP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Information</a:t>
            </a:r>
            <a:r>
              <a:rPr dirty="0" sz="1700" spc="-2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Richness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r>
              <a:rPr dirty="0" sz="1700" spc="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dirty="0" sz="17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entry</a:t>
            </a:r>
            <a:r>
              <a:rPr dirty="0" sz="17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lexicon includes</a:t>
            </a:r>
            <a:r>
              <a:rPr dirty="0" sz="17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crucial</a:t>
            </a:r>
            <a:r>
              <a:rPr dirty="0" sz="17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information,</a:t>
            </a:r>
            <a:r>
              <a:rPr dirty="0" sz="17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such</a:t>
            </a:r>
            <a:r>
              <a:rPr dirty="0" sz="17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as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17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part</a:t>
            </a:r>
            <a:r>
              <a:rPr dirty="0" sz="1700" spc="19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18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speech</a:t>
            </a:r>
            <a:r>
              <a:rPr dirty="0" sz="1700" spc="18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(noun,</a:t>
            </a:r>
            <a:r>
              <a:rPr dirty="0" sz="1700" spc="18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verb,</a:t>
            </a:r>
            <a:r>
              <a:rPr dirty="0" sz="1700" spc="18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adjective),</a:t>
            </a:r>
            <a:r>
              <a:rPr dirty="0" sz="1700" spc="19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semantic</a:t>
            </a:r>
            <a:r>
              <a:rPr dirty="0" sz="1700" spc="19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relationships</a:t>
            </a:r>
            <a:r>
              <a:rPr dirty="0" sz="1700" spc="19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(synonyms,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antonyms),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other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17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properties.</a:t>
            </a:r>
            <a:endParaRPr sz="1700">
              <a:latin typeface="Microsoft Sans Serif"/>
              <a:cs typeface="Microsoft Sans Serif"/>
            </a:endParaRPr>
          </a:p>
          <a:p>
            <a:pPr algn="just" marL="12700" marR="6985" indent="-8890">
              <a:lnSpc>
                <a:spcPct val="100000"/>
              </a:lnSpc>
              <a:buSzPct val="94117"/>
              <a:buFont typeface="Microsoft Sans Serif"/>
              <a:buChar char="•"/>
              <a:tabLst>
                <a:tab pos="88265" algn="l"/>
              </a:tabLst>
            </a:pP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Dynamic</a:t>
            </a:r>
            <a:r>
              <a:rPr dirty="0" sz="1700" spc="-1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292929"/>
                </a:solidFill>
                <a:latin typeface="Arial"/>
                <a:cs typeface="Arial"/>
              </a:rPr>
              <a:t>Use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r>
              <a:rPr dirty="0" sz="17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lexicon</a:t>
            </a:r>
            <a:r>
              <a:rPr dirty="0" sz="17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dirty="0" sz="1700" spc="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dirty="0" sz="17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dirty="0" sz="17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morphological</a:t>
            </a:r>
            <a:r>
              <a:rPr dirty="0" sz="1700" spc="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rules</a:t>
            </a:r>
            <a:r>
              <a:rPr dirty="0" sz="1700" spc="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derive</a:t>
            </a:r>
            <a:r>
              <a:rPr dirty="0" sz="1700" spc="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analyze</a:t>
            </a:r>
            <a:r>
              <a:rPr dirty="0" sz="17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full</a:t>
            </a:r>
            <a:r>
              <a:rPr dirty="0" sz="1700" spc="8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range</a:t>
            </a:r>
            <a:r>
              <a:rPr dirty="0" sz="1700" spc="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8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word</a:t>
            </a:r>
            <a:r>
              <a:rPr dirty="0" sz="1700" spc="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forms</a:t>
            </a:r>
            <a:r>
              <a:rPr dirty="0" sz="1700" spc="8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language,</a:t>
            </a:r>
            <a:r>
              <a:rPr dirty="0" sz="1700" spc="9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allowing</a:t>
            </a:r>
            <a:r>
              <a:rPr dirty="0" sz="1700" spc="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systems</a:t>
            </a:r>
            <a:r>
              <a:rPr dirty="0" sz="1700" spc="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handle</a:t>
            </a:r>
            <a:r>
              <a:rPr dirty="0" sz="1700" spc="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words</a:t>
            </a:r>
            <a:r>
              <a:rPr dirty="0" sz="1700" spc="8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they</a:t>
            </a:r>
            <a:r>
              <a:rPr dirty="0" sz="1700" spc="9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haven't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encountered</a:t>
            </a:r>
            <a:r>
              <a:rPr dirty="0" sz="1700" spc="-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292929"/>
                </a:solidFill>
                <a:latin typeface="Microsoft Sans Serif"/>
                <a:cs typeface="Microsoft Sans Serif"/>
              </a:rPr>
              <a:t>before</a:t>
            </a:r>
            <a:r>
              <a:rPr dirty="0" sz="1700" spc="-8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292929"/>
                </a:solidFill>
                <a:latin typeface="Microsoft Sans Serif"/>
                <a:cs typeface="Microsoft Sans Serif"/>
              </a:rPr>
              <a:t>(productivity).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792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Morphotactics</a:t>
            </a:r>
            <a:r>
              <a:rPr dirty="0" sz="24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in</a:t>
            </a:r>
            <a:r>
              <a:rPr dirty="0" sz="2400" spc="-6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525252"/>
                </a:solidFill>
                <a:latin typeface="Arial"/>
                <a:cs typeface="Arial"/>
              </a:rPr>
              <a:t>NLP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0174" y="1179016"/>
            <a:ext cx="8381365" cy="359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Morphotactics</a:t>
            </a:r>
            <a:r>
              <a:rPr dirty="0" sz="1800" spc="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refers</a:t>
            </a:r>
            <a:r>
              <a:rPr dirty="0" sz="1800" spc="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model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set</a:t>
            </a:r>
            <a:r>
              <a:rPr dirty="0" sz="18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rules that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governs how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can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35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ordered</a:t>
            </a:r>
            <a:r>
              <a:rPr dirty="0" sz="1800" spc="3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combined</a:t>
            </a:r>
            <a:r>
              <a:rPr dirty="0" sz="1800" spc="3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within</a:t>
            </a:r>
            <a:r>
              <a:rPr dirty="0" sz="1800" spc="3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word.</a:t>
            </a:r>
            <a:r>
              <a:rPr dirty="0" sz="1800" spc="3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37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33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3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smallest</a:t>
            </a:r>
            <a:r>
              <a:rPr dirty="0" sz="1800" spc="36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units</a:t>
            </a:r>
            <a:r>
              <a:rPr dirty="0" sz="1800" spc="3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of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meaning</a:t>
            </a:r>
            <a:r>
              <a:rPr dirty="0" sz="18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language.</a:t>
            </a:r>
            <a:endParaRPr sz="1800">
              <a:latin typeface="Microsoft Sans Serif"/>
              <a:cs typeface="Microsoft Sans Serif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Key</a:t>
            </a:r>
            <a:r>
              <a:rPr dirty="0" u="sng" sz="1800" spc="25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aspects</a:t>
            </a:r>
            <a:r>
              <a:rPr dirty="0" u="sng" sz="1800" spc="-5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of</a:t>
            </a:r>
            <a:r>
              <a:rPr dirty="0" u="sng" sz="1800" spc="4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1800" spc="-10">
                <a:solidFill>
                  <a:srgbClr val="292929"/>
                </a:solidFill>
                <a:uFill>
                  <a:solidFill>
                    <a:srgbClr val="292929"/>
                  </a:solidFill>
                </a:uFill>
                <a:latin typeface="Microsoft Sans Serif"/>
                <a:cs typeface="Microsoft Sans Serif"/>
              </a:rPr>
              <a:t>morphotactics:</a:t>
            </a:r>
            <a:endParaRPr sz="1800">
              <a:latin typeface="Microsoft Sans Serif"/>
              <a:cs typeface="Microsoft Sans Serif"/>
            </a:endParaRPr>
          </a:p>
          <a:p>
            <a:pPr algn="just" marL="12700" marR="7620" indent="-10160">
              <a:lnSpc>
                <a:spcPct val="99500"/>
              </a:lnSpc>
              <a:spcBef>
                <a:spcPts val="10"/>
              </a:spcBef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Rule-Based</a:t>
            </a:r>
            <a:r>
              <a:rPr dirty="0" sz="1800" spc="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Ordering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dictates</a:t>
            </a:r>
            <a:r>
              <a:rPr dirty="0" sz="1800" spc="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classes</a:t>
            </a:r>
            <a:r>
              <a:rPr dirty="0" sz="1800" spc="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 morphemes</a:t>
            </a:r>
            <a:r>
              <a:rPr dirty="0" sz="1800" spc="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follow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others.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dirty="0" sz="1800" spc="3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example,</a:t>
            </a:r>
            <a:r>
              <a:rPr dirty="0" sz="1800" spc="3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plural</a:t>
            </a:r>
            <a:r>
              <a:rPr dirty="0" sz="1800" spc="3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morpheme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like</a:t>
            </a:r>
            <a:r>
              <a:rPr dirty="0" sz="1800" spc="3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s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must</a:t>
            </a:r>
            <a:r>
              <a:rPr dirty="0" sz="1800" spc="3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follow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3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noun</a:t>
            </a:r>
            <a:r>
              <a:rPr dirty="0" sz="1800" spc="2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stem</a:t>
            </a:r>
            <a:r>
              <a:rPr dirty="0" sz="1800" spc="3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3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English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1800" spc="-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cat</a:t>
            </a:r>
            <a:r>
              <a:rPr dirty="0" sz="18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+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-s</a:t>
            </a:r>
            <a:r>
              <a:rPr dirty="0" sz="18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=</a:t>
            </a:r>
            <a:r>
              <a:rPr dirty="0" sz="1800" spc="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cats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),</a:t>
            </a:r>
            <a:r>
              <a:rPr dirty="0" sz="18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precede 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it.</a:t>
            </a:r>
            <a:endParaRPr sz="1800">
              <a:latin typeface="Microsoft Sans Serif"/>
              <a:cs typeface="Microsoft Sans Serif"/>
            </a:endParaRPr>
          </a:p>
          <a:p>
            <a:pPr algn="just" marL="12700" marR="6985" indent="-10160">
              <a:lnSpc>
                <a:spcPct val="100000"/>
              </a:lnSpc>
              <a:spcBef>
                <a:spcPts val="30"/>
              </a:spcBef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Valid</a:t>
            </a:r>
            <a:r>
              <a:rPr dirty="0" sz="1800" spc="38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Word</a:t>
            </a:r>
            <a:r>
              <a:rPr dirty="0" sz="1800" spc="38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Formation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4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Morphotactic</a:t>
            </a:r>
            <a:r>
              <a:rPr dirty="0" sz="1800" spc="45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rules,</a:t>
            </a:r>
            <a:r>
              <a:rPr dirty="0" sz="1800" spc="40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often</a:t>
            </a:r>
            <a:r>
              <a:rPr dirty="0" sz="1800" spc="40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modeled</a:t>
            </a:r>
            <a:r>
              <a:rPr dirty="0" sz="1800" spc="43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dirty="0" sz="1800" spc="4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Finite</a:t>
            </a:r>
            <a:r>
              <a:rPr dirty="0" sz="1800" spc="43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State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Automata</a:t>
            </a:r>
            <a:r>
              <a:rPr dirty="0" sz="1800" spc="15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(FSA),</a:t>
            </a:r>
            <a:r>
              <a:rPr dirty="0" sz="1800" spc="48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determine</a:t>
            </a:r>
            <a:r>
              <a:rPr dirty="0" sz="1800" spc="4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whether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sequence</a:t>
            </a:r>
            <a:r>
              <a:rPr dirty="0" sz="1800" spc="2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49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484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constitutes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50">
                <a:solidFill>
                  <a:srgbClr val="292929"/>
                </a:solidFill>
                <a:latin typeface="Microsoft Sans Serif"/>
                <a:cs typeface="Microsoft Sans Serif"/>
              </a:rPr>
              <a:t>a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legitimate</a:t>
            </a:r>
            <a:r>
              <a:rPr dirty="0" sz="1800" spc="-4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word</a:t>
            </a:r>
            <a:r>
              <a:rPr dirty="0" sz="18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 language.</a:t>
            </a:r>
            <a:endParaRPr sz="1800">
              <a:latin typeface="Microsoft Sans Serif"/>
              <a:cs typeface="Microsoft Sans Serif"/>
            </a:endParaRPr>
          </a:p>
          <a:p>
            <a:pPr algn="just" marL="12700" marR="8255" indent="-10160">
              <a:lnSpc>
                <a:spcPct val="99500"/>
              </a:lnSpc>
              <a:spcBef>
                <a:spcPts val="15"/>
              </a:spcBef>
              <a:buSzPct val="94444"/>
              <a:buFont typeface="Microsoft Sans Serif"/>
              <a:buChar char="•"/>
              <a:tabLst>
                <a:tab pos="91440" algn="l"/>
              </a:tabLst>
            </a:pP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	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Integration</a:t>
            </a:r>
            <a:r>
              <a:rPr dirty="0" sz="1800" spc="455" b="1">
                <a:solidFill>
                  <a:srgbClr val="292929"/>
                </a:solidFill>
                <a:latin typeface="Arial"/>
                <a:cs typeface="Arial"/>
              </a:rPr>
              <a:t> 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with</a:t>
            </a:r>
            <a:r>
              <a:rPr dirty="0" sz="1800" spc="465" b="1">
                <a:solidFill>
                  <a:srgbClr val="292929"/>
                </a:solidFill>
                <a:latin typeface="Arial"/>
                <a:cs typeface="Arial"/>
              </a:rPr>
              <a:t> 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Orthographic</a:t>
            </a:r>
            <a:r>
              <a:rPr dirty="0" sz="1800" spc="470" b="1">
                <a:solidFill>
                  <a:srgbClr val="292929"/>
                </a:solidFill>
                <a:latin typeface="Arial"/>
                <a:cs typeface="Arial"/>
              </a:rPr>
              <a:t>  </a:t>
            </a:r>
            <a:r>
              <a:rPr dirty="0" sz="1800" b="1">
                <a:solidFill>
                  <a:srgbClr val="292929"/>
                </a:solidFill>
                <a:latin typeface="Arial"/>
                <a:cs typeface="Arial"/>
              </a:rPr>
              <a:t>Rules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48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Morphotactics</a:t>
            </a:r>
            <a:r>
              <a:rPr dirty="0" sz="1800" spc="48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works</a:t>
            </a:r>
            <a:r>
              <a:rPr dirty="0" sz="1800" spc="490">
                <a:solidFill>
                  <a:srgbClr val="292929"/>
                </a:solidFill>
                <a:latin typeface="Microsoft Sans Serif"/>
                <a:cs typeface="Microsoft Sans Serif"/>
              </a:rPr>
              <a:t>  </a:t>
            </a:r>
            <a:r>
              <a:rPr dirty="0" sz="1800" spc="-10">
                <a:solidFill>
                  <a:srgbClr val="292929"/>
                </a:solidFill>
                <a:latin typeface="Microsoft Sans Serif"/>
                <a:cs typeface="Microsoft Sans Serif"/>
              </a:rPr>
              <a:t>alongside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orthographic</a:t>
            </a:r>
            <a:r>
              <a:rPr dirty="0" sz="1800" spc="3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(spelling)</a:t>
            </a:r>
            <a:r>
              <a:rPr dirty="0" sz="1800" spc="29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rules,</a:t>
            </a:r>
            <a:r>
              <a:rPr dirty="0" sz="1800" spc="27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dirty="0" sz="1800" spc="29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manage</a:t>
            </a:r>
            <a:r>
              <a:rPr dirty="0" sz="1800" spc="2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dirty="0" sz="1800" spc="29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letter</a:t>
            </a:r>
            <a:r>
              <a:rPr dirty="0" sz="1800" spc="27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changes</a:t>
            </a:r>
            <a:r>
              <a:rPr dirty="0" sz="1800" spc="28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dirty="0" sz="1800" spc="26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occur</a:t>
            </a:r>
            <a:r>
              <a:rPr dirty="0" sz="1800" spc="29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when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morphemes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combined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(e.g.,</a:t>
            </a:r>
            <a:r>
              <a:rPr dirty="0" sz="1800" spc="-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changing</a:t>
            </a:r>
            <a:r>
              <a:rPr dirty="0" sz="1800" spc="-2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city</a:t>
            </a:r>
            <a:r>
              <a:rPr dirty="0" sz="18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+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s</a:t>
            </a:r>
            <a:r>
              <a:rPr dirty="0" sz="1800" spc="2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dirty="0" sz="1800" spc="1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cities</a:t>
            </a:r>
            <a:r>
              <a:rPr dirty="0" sz="1800" spc="-2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dirty="0" sz="1800" spc="15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replacing</a:t>
            </a:r>
            <a:r>
              <a:rPr dirty="0" sz="1800" spc="-3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29"/>
                </a:solidFill>
                <a:latin typeface="Arial MT"/>
                <a:cs typeface="Arial MT"/>
              </a:rPr>
              <a:t>y</a:t>
            </a:r>
            <a:r>
              <a:rPr dirty="0" sz="18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4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292929"/>
                </a:solidFill>
                <a:latin typeface="Arial MT"/>
                <a:cs typeface="Arial MT"/>
              </a:rPr>
              <a:t>ie</a:t>
            </a:r>
            <a:r>
              <a:rPr dirty="0" sz="1800" spc="-20">
                <a:solidFill>
                  <a:srgbClr val="292929"/>
                </a:solidFill>
                <a:latin typeface="Microsoft Sans Serif"/>
                <a:cs typeface="Microsoft Sans Serif"/>
              </a:rPr>
              <a:t>).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4229" y="2342768"/>
            <a:ext cx="2194560" cy="544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00" b="1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34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55" b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502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502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9216" y="1530477"/>
            <a:ext cx="719200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Course</a:t>
            </a:r>
            <a:r>
              <a:rPr dirty="0" sz="2400" spc="-114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Title</a:t>
            </a:r>
            <a:r>
              <a:rPr dirty="0" sz="2400" spc="-50">
                <a:solidFill>
                  <a:srgbClr val="FFFFFF"/>
                </a:solidFill>
              </a:rPr>
              <a:t> </a:t>
            </a:r>
            <a:r>
              <a:rPr dirty="0" sz="2400" spc="635">
                <a:solidFill>
                  <a:srgbClr val="FFFFFF"/>
                </a:solidFill>
              </a:rPr>
              <a:t>–</a:t>
            </a:r>
            <a:r>
              <a:rPr dirty="0" sz="2400" spc="-30">
                <a:solidFill>
                  <a:srgbClr val="FFFFFF"/>
                </a:solidFill>
              </a:rPr>
              <a:t>NATURAL</a:t>
            </a:r>
            <a:r>
              <a:rPr dirty="0" sz="2400" spc="-130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LANGUAGE</a:t>
            </a:r>
            <a:r>
              <a:rPr dirty="0" sz="2400" spc="-75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PROCESSING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39216" y="2289505"/>
            <a:ext cx="7827009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MODULE</a:t>
            </a:r>
            <a:r>
              <a:rPr dirty="0" sz="28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r>
              <a:rPr dirty="0" sz="28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73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28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WORD</a:t>
            </a:r>
            <a:r>
              <a:rPr dirty="0" sz="28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SENSE</a:t>
            </a:r>
            <a:r>
              <a:rPr dirty="0" sz="28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Microsoft Sans Serif"/>
                <a:cs typeface="Microsoft Sans Serif"/>
              </a:rPr>
              <a:t>DISAMBIGUATION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972" y="3295269"/>
            <a:ext cx="428752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B.</a:t>
            </a:r>
            <a:r>
              <a:rPr dirty="0" sz="1800" spc="1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Lakshmi</a:t>
            </a:r>
            <a:r>
              <a:rPr dirty="0" sz="1800" spc="-20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Prasanna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ID</a:t>
            </a:r>
            <a:r>
              <a:rPr dirty="0" sz="18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IARE10706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8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1702" y="4934924"/>
            <a:ext cx="110489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923" y="497585"/>
            <a:ext cx="8412480" cy="3769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082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5093"/>
                </a:solidFill>
                <a:latin typeface="Microsoft Sans Serif"/>
                <a:cs typeface="Microsoft Sans Serif"/>
              </a:rPr>
              <a:t>COURSE</a:t>
            </a:r>
            <a:r>
              <a:rPr dirty="0" sz="1800" spc="-10">
                <a:solidFill>
                  <a:srgbClr val="005093"/>
                </a:solidFill>
                <a:latin typeface="Microsoft Sans Serif"/>
                <a:cs typeface="Microsoft Sans Serif"/>
              </a:rPr>
              <a:t> OVERVIEW: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algn="just" marL="179705" indent="-167005">
              <a:lnSpc>
                <a:spcPct val="100000"/>
              </a:lnSpc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study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process,</a:t>
            </a:r>
            <a:endParaRPr sz="2100">
              <a:latin typeface="Microsoft Sans Serif"/>
              <a:cs typeface="Microsoft Sans Serif"/>
            </a:endParaRPr>
          </a:p>
          <a:p>
            <a:pPr algn="just"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understand,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communicate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human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primary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 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course will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 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understanding various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NLP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effectively</a:t>
            </a:r>
            <a:r>
              <a:rPr dirty="0" sz="21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solving</a:t>
            </a:r>
            <a:r>
              <a:rPr dirty="0" sz="2100" spc="7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problems,</a:t>
            </a:r>
            <a:r>
              <a:rPr dirty="0" sz="2100" spc="6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evaluating their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performance.</a:t>
            </a:r>
            <a:endParaRPr sz="2100">
              <a:latin typeface="Microsoft Sans Serif"/>
              <a:cs typeface="Microsoft Sans Serif"/>
            </a:endParaRPr>
          </a:p>
          <a:p>
            <a:pPr algn="just" marL="180340" marR="9525" indent="-167640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intended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31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31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theoretical</a:t>
            </a:r>
            <a:r>
              <a:rPr dirty="0" sz="2100" spc="32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2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methodological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widely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current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techniques,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strategies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toolkits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natural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primary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those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Python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programming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766"/>
            <a:ext cx="8224520" cy="277685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try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learn</a:t>
            </a:r>
            <a:endParaRPr sz="21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252729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I.</a:t>
            </a:r>
            <a:r>
              <a:rPr dirty="0" sz="2100" spc="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 based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CORPUS.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II.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essentials</a:t>
            </a:r>
            <a:r>
              <a:rPr dirty="0" sz="2100" spc="-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text.</a:t>
            </a:r>
            <a:endParaRPr sz="21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52729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III.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learning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cutting-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edge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deep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learning.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670001"/>
            <a:ext cx="3653154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25252"/>
                </a:solidFill>
                <a:latin typeface="Arial"/>
                <a:cs typeface="Arial"/>
              </a:rPr>
              <a:t>COURSES</a:t>
            </a:r>
            <a:r>
              <a:rPr dirty="0" sz="24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252"/>
                </a:solidFill>
                <a:latin typeface="Arial"/>
                <a:cs typeface="Arial"/>
              </a:rPr>
              <a:t>OBJECTIVES: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9225">
              <a:lnSpc>
                <a:spcPts val="1425"/>
              </a:lnSpc>
            </a:pPr>
            <a:r>
              <a:rPr dirty="0" spc="-50"/>
              <a:t>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9766"/>
            <a:ext cx="8228330" cy="245681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 the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should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able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CO1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Remember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knowledge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behavior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terms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phonetics,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CO2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pragmatics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processing.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CO3</a:t>
            </a:r>
            <a:r>
              <a:rPr dirty="0" sz="2100" spc="-1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CORPUS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compile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texts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digestive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games.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670001"/>
            <a:ext cx="359854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525252"/>
                </a:solidFill>
              </a:rPr>
              <a:t>III.</a:t>
            </a:r>
            <a:r>
              <a:rPr dirty="0" sz="2400" spc="-25">
                <a:solidFill>
                  <a:srgbClr val="525252"/>
                </a:solidFill>
              </a:rPr>
              <a:t> </a:t>
            </a:r>
            <a:r>
              <a:rPr dirty="0" sz="2400">
                <a:solidFill>
                  <a:srgbClr val="525252"/>
                </a:solidFill>
              </a:rPr>
              <a:t>COURSE</a:t>
            </a:r>
            <a:r>
              <a:rPr dirty="0" sz="2400" spc="30">
                <a:solidFill>
                  <a:srgbClr val="525252"/>
                </a:solidFill>
              </a:rPr>
              <a:t> </a:t>
            </a:r>
            <a:r>
              <a:rPr dirty="0" sz="2400" spc="-10">
                <a:solidFill>
                  <a:srgbClr val="525252"/>
                </a:solidFill>
              </a:rPr>
              <a:t>OUTCOMES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9225">
              <a:lnSpc>
                <a:spcPts val="1425"/>
              </a:lnSpc>
            </a:pPr>
            <a:r>
              <a:rPr dirty="0" spc="-50"/>
              <a:t>4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5969"/>
            <a:ext cx="8206740" cy="22021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CO4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various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approaches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machine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translation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CO5</a:t>
            </a:r>
            <a:r>
              <a:rPr dirty="0" sz="2100" spc="-1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of-speech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(POS)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suitable modeling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CO6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art algorithms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text-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respect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9225">
              <a:lnSpc>
                <a:spcPts val="1425"/>
              </a:lnSpc>
            </a:pPr>
            <a:r>
              <a:rPr dirty="0" spc="-50"/>
              <a:t>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52814"/>
            <a:ext cx="8145780" cy="219773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MODULE</a:t>
            </a:r>
            <a:r>
              <a:rPr dirty="0" sz="2100" spc="-4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spc="-35" b="1">
                <a:solidFill>
                  <a:srgbClr val="525252"/>
                </a:solidFill>
                <a:latin typeface="Arial"/>
                <a:cs typeface="Arial"/>
              </a:rPr>
              <a:t>IV:</a:t>
            </a:r>
            <a:r>
              <a:rPr dirty="0" sz="2100" spc="-9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WORD</a:t>
            </a:r>
            <a:r>
              <a:rPr dirty="0" sz="2100" spc="-5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SENSE</a:t>
            </a:r>
            <a:r>
              <a:rPr dirty="0" sz="2100" spc="-5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525252"/>
                </a:solidFill>
                <a:latin typeface="Arial"/>
                <a:cs typeface="Arial"/>
              </a:rPr>
              <a:t>DISAMBIGUATION</a:t>
            </a:r>
            <a:r>
              <a:rPr dirty="0" sz="2100" spc="1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(09)</a:t>
            </a:r>
            <a:endParaRPr sz="21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985"/>
              </a:spcBef>
            </a:pP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Methodological</a:t>
            </a:r>
            <a:r>
              <a:rPr dirty="0" sz="2100" spc="-10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Preliminaries,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Supervised</a:t>
            </a:r>
            <a:r>
              <a:rPr dirty="0" sz="2100" spc="-114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Disambiguation:</a:t>
            </a:r>
            <a:r>
              <a:rPr dirty="0" sz="21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Bayesian classification,</a:t>
            </a:r>
            <a:r>
              <a:rPr dirty="0" sz="2100" spc="-10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information</a:t>
            </a:r>
            <a:r>
              <a:rPr dirty="0" sz="21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theoretic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approach,</a:t>
            </a:r>
            <a:r>
              <a:rPr dirty="0" sz="21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Times New Roman"/>
                <a:cs typeface="Times New Roman"/>
              </a:rPr>
              <a:t>Dictionary-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Based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Disambiguation: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Disambiguation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based</a:t>
            </a:r>
            <a:r>
              <a:rPr dirty="0" sz="21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sense,</a:t>
            </a:r>
            <a:r>
              <a:rPr dirty="0" sz="2100" spc="-9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Thesaurus</a:t>
            </a:r>
            <a:r>
              <a:rPr dirty="0" sz="2100" spc="-10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based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disambiguation,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Disambiguation</a:t>
            </a:r>
            <a:r>
              <a:rPr dirty="0" sz="21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based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1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translations</a:t>
            </a:r>
            <a:r>
              <a:rPr dirty="0" sz="21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1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1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Times New Roman"/>
                <a:cs typeface="Times New Roman"/>
              </a:rPr>
              <a:t>second-language corpus.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9225">
              <a:lnSpc>
                <a:spcPts val="1425"/>
              </a:lnSpc>
            </a:pPr>
            <a:r>
              <a:rPr dirty="0" spc="-50"/>
              <a:t>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0400" y="1383410"/>
            <a:ext cx="8004175" cy="883919"/>
          </a:xfrm>
          <a:custGeom>
            <a:avLst/>
            <a:gdLst/>
            <a:ahLst/>
            <a:cxnLst/>
            <a:rect l="l" t="t" r="r" b="b"/>
            <a:pathLst>
              <a:path w="8004175" h="883919">
                <a:moveTo>
                  <a:pt x="8004048" y="426720"/>
                </a:moveTo>
                <a:lnTo>
                  <a:pt x="7918704" y="426720"/>
                </a:lnTo>
                <a:lnTo>
                  <a:pt x="7918704" y="213360"/>
                </a:lnTo>
                <a:lnTo>
                  <a:pt x="7778496" y="213360"/>
                </a:lnTo>
                <a:lnTo>
                  <a:pt x="7778496" y="0"/>
                </a:lnTo>
                <a:lnTo>
                  <a:pt x="0" y="0"/>
                </a:lnTo>
                <a:lnTo>
                  <a:pt x="0" y="213360"/>
                </a:lnTo>
                <a:lnTo>
                  <a:pt x="0" y="240792"/>
                </a:lnTo>
                <a:lnTo>
                  <a:pt x="0" y="883920"/>
                </a:lnTo>
                <a:lnTo>
                  <a:pt x="2350008" y="883920"/>
                </a:lnTo>
                <a:lnTo>
                  <a:pt x="2350008" y="667512"/>
                </a:lnTo>
                <a:lnTo>
                  <a:pt x="8004048" y="667512"/>
                </a:lnTo>
                <a:lnTo>
                  <a:pt x="8004048" y="426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0400" y="2581275"/>
            <a:ext cx="3855720" cy="241300"/>
          </a:xfrm>
          <a:custGeom>
            <a:avLst/>
            <a:gdLst/>
            <a:ahLst/>
            <a:cxnLst/>
            <a:rect l="l" t="t" r="r" b="b"/>
            <a:pathLst>
              <a:path w="3855720" h="241300">
                <a:moveTo>
                  <a:pt x="3855720" y="0"/>
                </a:moveTo>
                <a:lnTo>
                  <a:pt x="0" y="0"/>
                </a:lnTo>
                <a:lnTo>
                  <a:pt x="0" y="240792"/>
                </a:lnTo>
                <a:lnTo>
                  <a:pt x="3855720" y="240792"/>
                </a:lnTo>
                <a:lnTo>
                  <a:pt x="38557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0174" y="1167130"/>
            <a:ext cx="8241665" cy="165036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80340" marR="100965" indent="-167640">
              <a:lnSpc>
                <a:spcPct val="100400"/>
              </a:lnSpc>
              <a:spcBef>
                <a:spcPts val="8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400" spc="60">
                <a:solidFill>
                  <a:srgbClr val="273139"/>
                </a:solidFill>
                <a:latin typeface="Arial MT"/>
                <a:cs typeface="Arial MT"/>
              </a:rPr>
              <a:t>Word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273139"/>
                </a:solidFill>
                <a:latin typeface="Arial MT"/>
                <a:cs typeface="Arial MT"/>
              </a:rPr>
              <a:t>Sense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Disambiguation</a:t>
            </a:r>
            <a:r>
              <a:rPr dirty="0" sz="1400" spc="8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(WSD)</a:t>
            </a:r>
            <a:r>
              <a:rPr dirty="0" sz="1400" spc="4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is the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process</a:t>
            </a:r>
            <a:r>
              <a:rPr dirty="0" sz="1400" spc="3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of</a:t>
            </a:r>
            <a:r>
              <a:rPr dirty="0" sz="1400" spc="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determining</a:t>
            </a:r>
            <a:r>
              <a:rPr dirty="0" sz="1400" spc="5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which</a:t>
            </a:r>
            <a:r>
              <a:rPr dirty="0" sz="1400" spc="5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meaning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of</a:t>
            </a:r>
            <a:r>
              <a:rPr dirty="0" sz="1400" spc="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a </a:t>
            </a:r>
            <a:r>
              <a:rPr dirty="0" sz="1400" spc="50">
                <a:solidFill>
                  <a:srgbClr val="273139"/>
                </a:solidFill>
                <a:latin typeface="Arial MT"/>
                <a:cs typeface="Arial MT"/>
              </a:rPr>
              <a:t>word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273139"/>
                </a:solidFill>
                <a:latin typeface="Arial MT"/>
                <a:cs typeface="Arial MT"/>
              </a:rPr>
              <a:t>is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intended</a:t>
            </a:r>
            <a:r>
              <a:rPr dirty="0" sz="1400" spc="8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in</a:t>
            </a:r>
            <a:r>
              <a:rPr dirty="0" sz="1400" spc="5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a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particular</a:t>
            </a:r>
            <a:r>
              <a:rPr dirty="0" sz="1400" spc="3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context.</a:t>
            </a:r>
            <a:r>
              <a:rPr dirty="0" sz="1400" spc="10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It</a:t>
            </a:r>
            <a:r>
              <a:rPr dirty="0" sz="1400" spc="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addresses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400" spc="5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challenge</a:t>
            </a:r>
            <a:r>
              <a:rPr dirty="0" sz="1400" spc="8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of</a:t>
            </a:r>
            <a:r>
              <a:rPr dirty="0" sz="1400" spc="4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polysemy,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where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many</a:t>
            </a:r>
            <a:r>
              <a:rPr dirty="0" sz="1400" spc="5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words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273139"/>
                </a:solidFill>
                <a:latin typeface="Arial MT"/>
                <a:cs typeface="Arial MT"/>
              </a:rPr>
              <a:t>have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multiple</a:t>
            </a:r>
            <a:r>
              <a:rPr dirty="0" sz="1400" spc="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related</a:t>
            </a:r>
            <a:r>
              <a:rPr dirty="0" sz="1400" spc="3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meanings.</a:t>
            </a:r>
            <a:r>
              <a:rPr dirty="0" sz="1400" spc="5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For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 example,</a:t>
            </a:r>
            <a:r>
              <a:rPr dirty="0" sz="1400" spc="4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when</a:t>
            </a:r>
            <a:r>
              <a:rPr dirty="0" sz="1400" spc="3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273139"/>
                </a:solidFill>
                <a:latin typeface="Arial MT"/>
                <a:cs typeface="Arial MT"/>
              </a:rPr>
              <a:t>we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 encounter</a:t>
            </a:r>
            <a:r>
              <a:rPr dirty="0" sz="1400" spc="6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400" spc="3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sentence</a:t>
            </a:r>
            <a:r>
              <a:rPr dirty="0" sz="1400" spc="5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"I </a:t>
            </a:r>
            <a:r>
              <a:rPr dirty="0" sz="1400" spc="55">
                <a:solidFill>
                  <a:srgbClr val="273139"/>
                </a:solidFill>
                <a:latin typeface="Arial MT"/>
                <a:cs typeface="Arial MT"/>
              </a:rPr>
              <a:t>went</a:t>
            </a:r>
            <a:r>
              <a:rPr dirty="0" sz="1400" spc="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to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400" spc="3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bank,"</a:t>
            </a:r>
            <a:r>
              <a:rPr dirty="0" sz="1400" spc="30">
                <a:solidFill>
                  <a:srgbClr val="273139"/>
                </a:solidFill>
                <a:latin typeface="Arial MT"/>
                <a:cs typeface="Arial MT"/>
              </a:rPr>
              <a:t> we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automatically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understand</a:t>
            </a:r>
            <a:r>
              <a:rPr dirty="0" sz="1400" spc="7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whether</a:t>
            </a:r>
            <a:r>
              <a:rPr dirty="0" sz="1400" spc="7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"bank"</a:t>
            </a:r>
            <a:r>
              <a:rPr dirty="0" sz="1400" spc="4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refers</a:t>
            </a:r>
            <a:r>
              <a:rPr dirty="0" sz="1400" spc="6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to</a:t>
            </a:r>
            <a:r>
              <a:rPr dirty="0" sz="1400" spc="6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a</a:t>
            </a:r>
            <a:r>
              <a:rPr dirty="0" sz="1400" spc="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financial</a:t>
            </a:r>
            <a:r>
              <a:rPr dirty="0" sz="1400" spc="9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institution</a:t>
            </a:r>
            <a:r>
              <a:rPr dirty="0" sz="1400" spc="16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or</a:t>
            </a:r>
            <a:r>
              <a:rPr dirty="0" sz="1400" spc="4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edge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of</a:t>
            </a:r>
            <a:r>
              <a:rPr dirty="0" sz="1400" spc="5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a</a:t>
            </a:r>
            <a:r>
              <a:rPr dirty="0" sz="1400" spc="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river</a:t>
            </a:r>
            <a:r>
              <a:rPr dirty="0" sz="1400" spc="8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based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on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surrounding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context</a:t>
            </a:r>
            <a:r>
              <a:rPr dirty="0" sz="1400" spc="9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clues.</a:t>
            </a:r>
            <a:endParaRPr sz="1400">
              <a:latin typeface="Arial MT"/>
              <a:cs typeface="Arial MT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WSD</a:t>
            </a:r>
            <a:r>
              <a:rPr dirty="0" sz="1400" spc="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is</a:t>
            </a:r>
            <a:r>
              <a:rPr dirty="0" sz="1400" spc="3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important</a:t>
            </a:r>
            <a:r>
              <a:rPr dirty="0" sz="1400" spc="3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in</a:t>
            </a:r>
            <a:r>
              <a:rPr dirty="0" sz="1400" spc="4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many</a:t>
            </a:r>
            <a:r>
              <a:rPr dirty="0" sz="1400" spc="4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natural</a:t>
            </a:r>
            <a:r>
              <a:rPr dirty="0" sz="1400" spc="1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language</a:t>
            </a:r>
            <a:r>
              <a:rPr dirty="0" sz="1400" spc="3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processing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(NLP)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applications</a:t>
            </a:r>
            <a:r>
              <a:rPr dirty="0" sz="1400" spc="7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273139"/>
                </a:solidFill>
                <a:latin typeface="Arial MT"/>
                <a:cs typeface="Arial MT"/>
              </a:rPr>
              <a:t>because</a:t>
            </a:r>
            <a:r>
              <a:rPr dirty="0" sz="1400" spc="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if</a:t>
            </a:r>
            <a:r>
              <a:rPr dirty="0" sz="1400" spc="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273139"/>
                </a:solidFill>
                <a:latin typeface="Arial MT"/>
                <a:cs typeface="Arial MT"/>
              </a:rPr>
              <a:t>word</a:t>
            </a:r>
            <a:r>
              <a:rPr dirty="0" sz="1400" spc="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meanings</a:t>
            </a:r>
            <a:endParaRPr sz="140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are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misidentified,</a:t>
            </a:r>
            <a:r>
              <a:rPr dirty="0" sz="1400" spc="8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400" spc="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results</a:t>
            </a:r>
            <a:r>
              <a:rPr dirty="0" sz="1400" spc="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can </a:t>
            </a:r>
            <a:r>
              <a:rPr dirty="0" sz="1400">
                <a:solidFill>
                  <a:srgbClr val="273139"/>
                </a:solidFill>
                <a:latin typeface="Arial MT"/>
                <a:cs typeface="Arial MT"/>
              </a:rPr>
              <a:t>be</a:t>
            </a:r>
            <a:r>
              <a:rPr dirty="0" sz="1400" spc="-10">
                <a:solidFill>
                  <a:srgbClr val="273139"/>
                </a:solidFill>
                <a:latin typeface="Arial MT"/>
                <a:cs typeface="Arial MT"/>
              </a:rPr>
              <a:t> problematic: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9225">
              <a:lnSpc>
                <a:spcPts val="1425"/>
              </a:lnSpc>
            </a:pPr>
            <a:r>
              <a:rPr dirty="0" spc="-50"/>
              <a:t>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5969"/>
            <a:ext cx="8262620" cy="2592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Disambiguation (WSD)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determining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which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intended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particular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context.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addresses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challenge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9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polysemy,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where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many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multiple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meanings.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example,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when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encounter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sentence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"I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went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bank,"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automatically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understand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whether</a:t>
            </a:r>
            <a:r>
              <a:rPr dirty="0" sz="2000" spc="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"bank"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refers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financial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institution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edge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river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surrounding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clues.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important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many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natural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language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processing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(NLP)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because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if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meanings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misidentified,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results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can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problematic: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9225">
              <a:lnSpc>
                <a:spcPts val="1425"/>
              </a:lnSpc>
            </a:pPr>
            <a:r>
              <a:rPr dirty="0" spc="-50"/>
              <a:t>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192" y="1069974"/>
            <a:ext cx="8566150" cy="37115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translation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systems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may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produce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incorrect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translations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due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misinterpretation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meanings.</a:t>
            </a:r>
            <a:endParaRPr sz="2000">
              <a:latin typeface="Times New Roman"/>
              <a:cs typeface="Times New Roman"/>
            </a:endParaRPr>
          </a:p>
          <a:p>
            <a:pPr marL="180340" marR="22479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retrieval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systems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might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return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irrelevant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results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because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semantic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uncertainty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confusion.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Primary</a:t>
            </a:r>
            <a:r>
              <a:rPr dirty="0" sz="2000" spc="-114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Approaches</a:t>
            </a:r>
            <a:r>
              <a:rPr dirty="0" sz="2000" spc="-3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8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5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2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techniques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can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categorized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three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main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approaches,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each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distinct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methodologies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cases.</a:t>
            </a: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264160" algn="l"/>
              </a:tabLst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Knowledge-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  <a:p>
            <a:pPr lvl="1" marL="180340" marR="39243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Knowledge-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approaches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utilize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lexical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resources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such as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dictionaries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and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networks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determine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431" y="4922213"/>
            <a:ext cx="64135" cy="222885"/>
          </a:xfrm>
          <a:custGeom>
            <a:avLst/>
            <a:gdLst/>
            <a:ahLst/>
            <a:cxnLst/>
            <a:rect l="l" t="t" r="r" b="b"/>
            <a:pathLst>
              <a:path w="64135" h="222885">
                <a:moveTo>
                  <a:pt x="64007" y="0"/>
                </a:moveTo>
                <a:lnTo>
                  <a:pt x="0" y="0"/>
                </a:lnTo>
                <a:lnTo>
                  <a:pt x="0" y="222810"/>
                </a:lnTo>
                <a:lnTo>
                  <a:pt x="64007" y="222810"/>
                </a:lnTo>
                <a:lnTo>
                  <a:pt x="64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9225">
              <a:lnSpc>
                <a:spcPts val="1425"/>
              </a:lnSpc>
            </a:pPr>
            <a:r>
              <a:rPr dirty="0" spc="-50"/>
              <a:t>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711" y="941199"/>
            <a:ext cx="8111490" cy="378841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Compare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 dictionary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definitions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candidate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Calculate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overlap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between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contextual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definitional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content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Select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maximum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overlap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score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Advantages: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Does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not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require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data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Leverages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existing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linguistic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knowledge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bases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Provides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interpretable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decisions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assumes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together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coherent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text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will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relationships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reflected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their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dictionary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definitions.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0400" y="4599000"/>
            <a:ext cx="1292860" cy="283845"/>
          </a:xfrm>
          <a:custGeom>
            <a:avLst/>
            <a:gdLst/>
            <a:ahLst/>
            <a:cxnLst/>
            <a:rect l="l" t="t" r="r" b="b"/>
            <a:pathLst>
              <a:path w="1292860" h="283845">
                <a:moveTo>
                  <a:pt x="1292352" y="0"/>
                </a:moveTo>
                <a:lnTo>
                  <a:pt x="0" y="0"/>
                </a:lnTo>
                <a:lnTo>
                  <a:pt x="0" y="283464"/>
                </a:lnTo>
                <a:lnTo>
                  <a:pt x="1292352" y="283464"/>
                </a:lnTo>
                <a:lnTo>
                  <a:pt x="12923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0174" y="1046719"/>
            <a:ext cx="8251190" cy="38411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110"/>
              </a:spcBef>
              <a:buAutoNum type="arabicPeriod" startAt="2"/>
              <a:tabLst>
                <a:tab pos="26479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6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  <a:p>
            <a:pPr lvl="1"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Supervised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approaches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treat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WSD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as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a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0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classification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problem,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training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  <a:hlinkClick r:id="rId2"/>
              </a:rPr>
              <a:t>machine </a:t>
            </a:r>
            <a:r>
              <a:rPr dirty="0" u="sng" sz="20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learning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models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on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datasets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where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word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instances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have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been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manually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correct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senses.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Key</a:t>
            </a:r>
            <a:r>
              <a:rPr dirty="0" sz="2000" spc="-2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characteristics: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Requires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substantial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amounts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Employs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standard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such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support</a:t>
            </a:r>
            <a:r>
              <a:rPr dirty="0" sz="2000" spc="-9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vector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machines,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decision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trees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neural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networks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contextual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features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including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surrounding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syntactic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relationships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048625" cy="366141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20" b="1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5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process: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Extract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features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from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examples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classifier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map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feature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vectors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labels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Apply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model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new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instances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While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methods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achieve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high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accuracy,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they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face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challenge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obtaining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sufficient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data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all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word-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combinations.</a:t>
            </a:r>
            <a:endParaRPr sz="200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26479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Unsupervised</a:t>
            </a:r>
            <a:r>
              <a:rPr dirty="0" sz="2000" spc="-7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Unsupervised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approaches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operate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without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labeled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data,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instead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relying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distributional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patterns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large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text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corpora.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0400" y="4803213"/>
            <a:ext cx="48895" cy="241300"/>
          </a:xfrm>
          <a:custGeom>
            <a:avLst/>
            <a:gdLst/>
            <a:ahLst/>
            <a:cxnLst/>
            <a:rect l="l" t="t" r="r" b="b"/>
            <a:pathLst>
              <a:path w="48895" h="241300">
                <a:moveTo>
                  <a:pt x="48768" y="0"/>
                </a:moveTo>
                <a:lnTo>
                  <a:pt x="0" y="0"/>
                </a:lnTo>
                <a:lnTo>
                  <a:pt x="0" y="240791"/>
                </a:lnTo>
                <a:lnTo>
                  <a:pt x="48768" y="240791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147050" cy="340804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Fundamental</a:t>
            </a:r>
            <a:r>
              <a:rPr dirty="0" sz="2000" spc="-11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principle: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appearing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similar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tend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similar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Cluster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occurrences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contextual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similarity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Assign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labels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resulting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clusters</a:t>
            </a:r>
            <a:endParaRPr sz="2000">
              <a:latin typeface="Times New Roman"/>
              <a:cs typeface="Times New Roman"/>
            </a:endParaRPr>
          </a:p>
          <a:p>
            <a:pPr marL="12700" marR="199390">
              <a:lnSpc>
                <a:spcPct val="100000"/>
              </a:lnSpc>
              <a:spcBef>
                <a:spcPts val="1010"/>
              </a:spcBef>
            </a:pPr>
            <a:r>
              <a:rPr dirty="0" sz="2000" b="1">
                <a:solidFill>
                  <a:srgbClr val="525252"/>
                </a:solidFill>
                <a:latin typeface="Times New Roman"/>
                <a:cs typeface="Times New Roman"/>
              </a:rPr>
              <a:t>Bayesian</a:t>
            </a:r>
            <a:r>
              <a:rPr dirty="0" sz="2000" spc="-7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525252"/>
                </a:solidFill>
                <a:latin typeface="Times New Roman"/>
                <a:cs typeface="Times New Roman"/>
              </a:rPr>
              <a:t>classification</a:t>
            </a:r>
            <a:r>
              <a:rPr dirty="0" sz="2000" spc="-4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approach</a:t>
            </a:r>
            <a:r>
              <a:rPr dirty="0" sz="20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used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0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Sense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Disambiguation (WSD)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where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correct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identified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using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probability</a:t>
            </a:r>
            <a:r>
              <a:rPr dirty="0" sz="2000" spc="-1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theory,</a:t>
            </a:r>
            <a:r>
              <a:rPr dirty="0" sz="20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specifically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Bayes’</a:t>
            </a:r>
            <a:r>
              <a:rPr dirty="0" sz="2000" spc="-1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Theorem.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this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method,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WSD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treated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classification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problem,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where</a:t>
            </a:r>
            <a:r>
              <a:rPr dirty="0" sz="20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each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possible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 represents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class.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7888605" cy="23679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Information-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Theoretic</a:t>
            </a:r>
            <a:r>
              <a:rPr dirty="0" sz="2000" spc="-1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Approach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000" spc="-8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Disambiguation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(WSD)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applies</a:t>
            </a:r>
            <a:r>
              <a:rPr dirty="0" sz="20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concepts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theory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such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entropy,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gain,</a:t>
            </a:r>
            <a:endParaRPr sz="2000">
              <a:latin typeface="Times New Roman"/>
              <a:cs typeface="Times New Roman"/>
            </a:endParaRPr>
          </a:p>
          <a:p>
            <a:pPr marL="180340" marR="35369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mutual</a:t>
            </a:r>
            <a:r>
              <a:rPr dirty="0" sz="2000" spc="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identify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correct</a:t>
            </a:r>
            <a:r>
              <a:rPr dirty="0" sz="2000" spc="-9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given context.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this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approach,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 is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selected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based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maximum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25"/>
              </a:spcBef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gained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000" spc="-9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contextual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features.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5969"/>
            <a:ext cx="8329295" cy="2592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67945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Natural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Language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Processing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(NLP),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(WSD)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is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challenge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determining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which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"sense"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(meaning)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activated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by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specific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context,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appears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mostly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unconscious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in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individuals.</a:t>
            </a:r>
            <a:endParaRPr sz="2000">
              <a:latin typeface="Times New Roman"/>
              <a:cs typeface="Times New Roman"/>
            </a:endParaRPr>
          </a:p>
          <a:p>
            <a:pPr algn="just" marL="180340" marR="5080" indent="-167640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114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way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Disambiguation.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is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dictionary-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considered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seminal.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founded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idea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used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text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one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another,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 that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this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relationship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can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seen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definitions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their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5969"/>
            <a:ext cx="8326120" cy="3636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pair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dictionary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senses having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highest word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overlap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their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dictionary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meanings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two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(or</a:t>
            </a:r>
            <a:r>
              <a:rPr dirty="0" sz="2000" spc="-9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more)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terms.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Michael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E.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Lesk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introduced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1986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classic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Natural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Language</a:t>
            </a:r>
            <a:r>
              <a:rPr dirty="0" sz="2000" spc="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Processing.</a:t>
            </a:r>
            <a:r>
              <a:rPr dirty="0" sz="2000" spc="-9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assumes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given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"neighborhood"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(a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portion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text)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will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similar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theme.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dictionary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definition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uncertain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compared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terms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neighborhood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simplified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version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algorithm.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2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Basic</a:t>
            </a:r>
            <a:r>
              <a:rPr dirty="0" sz="2000" spc="-1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114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implementation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involves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following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steps:</a:t>
            </a:r>
            <a:endParaRPr sz="2000">
              <a:latin typeface="Times New Roman"/>
              <a:cs typeface="Times New Roman"/>
            </a:endParaRPr>
          </a:p>
          <a:p>
            <a:pPr marL="180340" marR="952500" indent="-167640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Count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number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neighborhood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the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dictionary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definition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each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being disambiguated.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760" y="4952565"/>
            <a:ext cx="64135" cy="193040"/>
          </a:xfrm>
          <a:custGeom>
            <a:avLst/>
            <a:gdLst/>
            <a:ahLst/>
            <a:cxnLst/>
            <a:rect l="l" t="t" r="r" b="b"/>
            <a:pathLst>
              <a:path w="64134" h="193039">
                <a:moveTo>
                  <a:pt x="64007" y="0"/>
                </a:moveTo>
                <a:lnTo>
                  <a:pt x="0" y="0"/>
                </a:lnTo>
                <a:lnTo>
                  <a:pt x="0" y="192458"/>
                </a:lnTo>
                <a:lnTo>
                  <a:pt x="64007" y="192458"/>
                </a:lnTo>
                <a:lnTo>
                  <a:pt x="64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095615" cy="262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7005">
              <a:lnSpc>
                <a:spcPct val="1421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Disambiguation (WSD)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determining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which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intended in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particular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context.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addresses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challenge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9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polysemy,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where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many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multiple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meanings.</a:t>
            </a:r>
            <a:endParaRPr sz="2000">
              <a:latin typeface="Times New Roman"/>
              <a:cs typeface="Times New Roman"/>
            </a:endParaRPr>
          </a:p>
          <a:p>
            <a:pPr marL="12700" marR="123189">
              <a:lnSpc>
                <a:spcPts val="3410"/>
              </a:lnSpc>
              <a:spcBef>
                <a:spcPts val="260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example,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when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encounter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sentence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"I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went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bank,"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we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automatically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understand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whether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"bank"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refers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financial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institution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edge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river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surrounding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clues.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5969"/>
            <a:ext cx="8248650" cy="3150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12700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20" b="1">
                <a:solidFill>
                  <a:srgbClr val="525252"/>
                </a:solidFill>
                <a:latin typeface="Times New Roman"/>
                <a:cs typeface="Times New Roman"/>
              </a:rPr>
              <a:t>Thesaurus-</a:t>
            </a:r>
            <a:r>
              <a:rPr dirty="0" sz="2000" b="1">
                <a:solidFill>
                  <a:srgbClr val="525252"/>
                </a:solidFill>
                <a:latin typeface="Times New Roman"/>
                <a:cs typeface="Times New Roman"/>
              </a:rPr>
              <a:t>based</a:t>
            </a:r>
            <a:r>
              <a:rPr dirty="0" sz="2000" spc="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525252"/>
                </a:solidFill>
                <a:latin typeface="Times New Roman"/>
                <a:cs typeface="Times New Roman"/>
              </a:rPr>
              <a:t>disambiguation</a:t>
            </a:r>
            <a:r>
              <a:rPr dirty="0" sz="2000" spc="2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525252"/>
                </a:solidFill>
                <a:latin typeface="Times New Roman"/>
                <a:cs typeface="Times New Roman"/>
              </a:rPr>
              <a:t>i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knowledge-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based</a:t>
            </a:r>
            <a:r>
              <a:rPr dirty="0" sz="2000" spc="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approach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Word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Disambiguation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(WSD)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uses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thesaurus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0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lexical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knowledge 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base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(such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WordNet)</a:t>
            </a:r>
            <a:r>
              <a:rPr dirty="0" sz="20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identify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correct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ambiguous</a:t>
            </a:r>
            <a:r>
              <a:rPr dirty="0" sz="2000" spc="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based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on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similarity.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1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thesaurus</a:t>
            </a:r>
            <a:r>
              <a:rPr dirty="0" sz="2000" spc="-8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groups</a:t>
            </a:r>
            <a:r>
              <a:rPr dirty="0" sz="2000" spc="-8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into</a:t>
            </a:r>
            <a:r>
              <a:rPr dirty="0" sz="20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synonyms,</a:t>
            </a:r>
            <a:r>
              <a:rPr dirty="0" sz="2000" spc="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hypernyms,</a:t>
            </a:r>
            <a:r>
              <a:rPr dirty="0" sz="2000" spc="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hyponyms,</a:t>
            </a:r>
            <a:r>
              <a:rPr dirty="0" sz="2000" spc="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0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related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concepts,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0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exploited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determine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meaning</a:t>
            </a:r>
            <a:r>
              <a:rPr dirty="0" sz="2000" spc="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context.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Each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possible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associated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000" spc="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set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thesaurus.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are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compared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words.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7777480" cy="249301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Identify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ambiguous</a:t>
            </a:r>
            <a:r>
              <a:rPr dirty="0" sz="20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its</a:t>
            </a:r>
            <a:r>
              <a:rPr dirty="0" sz="20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possible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senses.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Retrieve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synonyms</a:t>
            </a:r>
            <a:r>
              <a:rPr dirty="0" sz="2000" spc="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semantically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each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from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thesaurus.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Compare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these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words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sentence.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Measure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overlap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or</a:t>
            </a:r>
            <a:r>
              <a:rPr dirty="0" sz="20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similarity.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Choose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maximum</a:t>
            </a:r>
            <a:r>
              <a:rPr dirty="0" sz="20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similarity.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5969"/>
            <a:ext cx="4940935" cy="3227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Sentence:</a:t>
            </a:r>
            <a:endParaRPr sz="20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</a:pP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“The</a:t>
            </a:r>
            <a:r>
              <a:rPr dirty="0" sz="2000" spc="-30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mouse</a:t>
            </a:r>
            <a:r>
              <a:rPr dirty="0" sz="2000" spc="-25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was</a:t>
            </a:r>
            <a:r>
              <a:rPr dirty="0" sz="2000" spc="-35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connected</a:t>
            </a:r>
            <a:r>
              <a:rPr dirty="0" sz="2000" spc="-35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to</a:t>
            </a:r>
            <a:r>
              <a:rPr dirty="0" sz="2000" spc="-45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25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 i="1">
                <a:solidFill>
                  <a:srgbClr val="525252"/>
                </a:solidFill>
                <a:latin typeface="Times New Roman"/>
                <a:cs typeface="Times New Roman"/>
              </a:rPr>
              <a:t>computer.”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Possible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senses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mouse: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Animal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Computer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device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Thesaurus</a:t>
            </a:r>
            <a:r>
              <a:rPr dirty="0" sz="2000" spc="-7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relations: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Computer</a:t>
            </a:r>
            <a:r>
              <a:rPr dirty="0" sz="2000" spc="-65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device</a:t>
            </a:r>
            <a:r>
              <a:rPr dirty="0" sz="2000" spc="-40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→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keyboard,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screen,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monitor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i="1">
                <a:solidFill>
                  <a:srgbClr val="525252"/>
                </a:solidFill>
                <a:latin typeface="Times New Roman"/>
                <a:cs typeface="Times New Roman"/>
              </a:rPr>
              <a:t>Animal</a:t>
            </a:r>
            <a:r>
              <a:rPr dirty="0" sz="2000" spc="-40" i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→</a:t>
            </a:r>
            <a:r>
              <a:rPr dirty="0" sz="20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rat,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rodent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5234305" cy="348424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 b="1">
                <a:solidFill>
                  <a:srgbClr val="525252"/>
                </a:solidFill>
                <a:latin typeface="Times New Roman"/>
                <a:cs typeface="Times New Roman"/>
              </a:rPr>
              <a:t>Advantages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Does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not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require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Uses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rich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relations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Effective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general-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purpose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language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-10" b="1">
                <a:solidFill>
                  <a:srgbClr val="525252"/>
                </a:solidFill>
                <a:latin typeface="Times New Roman"/>
                <a:cs typeface="Times New Roman"/>
              </a:rPr>
              <a:t>Limitations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Depends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on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quality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coverage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thesaurus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Difficult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domain-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specific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terms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Limited</a:t>
            </a:r>
            <a:r>
              <a:rPr dirty="0" sz="200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handling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of</a:t>
            </a:r>
            <a:r>
              <a:rPr dirty="0" sz="2000" spc="-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contextual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nuances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1175969"/>
            <a:ext cx="4945380" cy="34798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100" spc="-20" b="1">
                <a:solidFill>
                  <a:srgbClr val="525252"/>
                </a:solidFill>
                <a:latin typeface="Times New Roman"/>
                <a:cs typeface="Times New Roman"/>
              </a:rPr>
              <a:t>Cross-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Lingual</a:t>
            </a:r>
            <a:r>
              <a:rPr dirty="0" sz="2100" spc="-13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100" spc="-40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100" spc="-45" b="1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Times New Roman"/>
                <a:cs typeface="Times New Roman"/>
              </a:rPr>
              <a:t>Disambiguation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174" y="1624406"/>
            <a:ext cx="8299450" cy="1854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closely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4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concept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(WSD)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the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determining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which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</a:t>
            </a:r>
            <a:r>
              <a:rPr dirty="0" sz="2000" spc="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intended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particular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context.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addresses</a:t>
            </a:r>
            <a:r>
              <a:rPr dirty="0" sz="2000" spc="-9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challenge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polysemy,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where many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multiple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related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meanings. For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example,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when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encounter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sentence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"I</a:t>
            </a:r>
            <a:r>
              <a:rPr dirty="0" sz="2000" spc="-9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went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the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bank,"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automatically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understand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whether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"bank"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refers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financial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institution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edge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river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surrounding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clues.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347709" cy="310324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important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many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natural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language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processing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(NLP)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because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if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meanings</a:t>
            </a:r>
            <a:r>
              <a:rPr dirty="0" sz="2000" spc="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misidentified,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results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can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problematic:</a:t>
            </a:r>
            <a:endParaRPr sz="2000">
              <a:latin typeface="Times New Roman"/>
              <a:cs typeface="Times New Roman"/>
            </a:endParaRPr>
          </a:p>
          <a:p>
            <a:pPr marL="180340" marR="101473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translation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systems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may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produce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incorrect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translations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due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misinterpretation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retrieval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systems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might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return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irrelevant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results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because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semantic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uncertainty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confusion.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Question-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answering</a:t>
            </a:r>
            <a:r>
              <a:rPr dirty="0" sz="2000" spc="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systems</a:t>
            </a:r>
            <a:r>
              <a:rPr dirty="0" sz="2000" spc="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require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precise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meanings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provide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accurate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relevant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answers.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365490" cy="267017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Primary</a:t>
            </a:r>
            <a:r>
              <a:rPr dirty="0" sz="2000" spc="-114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Approaches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techniques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categorized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three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main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approaches,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each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distinct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methodologies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cases.</a:t>
            </a: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264160" algn="l"/>
              </a:tabLst>
            </a:pP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Knowledge-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1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  <a:p>
            <a:pPr lvl="1" marL="180340" marR="5080" indent="-167640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Knowledge-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approaches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utilize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lexical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resources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such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dictionaries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and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networks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determine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meanings.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u="sng" sz="20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Lesk</a:t>
            </a:r>
            <a:r>
              <a:rPr dirty="0" u="sng" sz="2000" spc="-5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0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algorithm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works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over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this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approach.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280400" cy="249301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Advantages: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Does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not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require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Leverages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existing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linguistic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knowledge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bases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Provides</a:t>
            </a:r>
            <a:r>
              <a:rPr dirty="0" sz="2000" spc="-10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interpretable</a:t>
            </a:r>
            <a:r>
              <a:rPr dirty="0" sz="2000" spc="-9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decisions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Lesk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algorithm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assumes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used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together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coherent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text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will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relationships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reflected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their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dictionary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definitions.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251190" cy="32315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2.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Methods</a:t>
            </a:r>
            <a:endParaRPr sz="20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Supervised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approaches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treat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WSD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as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a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20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classification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problem,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training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  <a:hlinkClick r:id="rId2"/>
              </a:rPr>
              <a:t>machine </a:t>
            </a:r>
            <a:r>
              <a:rPr dirty="0" u="sng" sz="2000">
                <a:solidFill>
                  <a:srgbClr val="525252"/>
                </a:solidFill>
                <a:uFill>
                  <a:solidFill>
                    <a:srgbClr val="525252"/>
                  </a:solidFill>
                </a:uFill>
                <a:latin typeface="Times New Roman"/>
                <a:cs typeface="Times New Roman"/>
                <a:hlinkClick r:id="rId2"/>
              </a:rPr>
              <a:t>learning</a:t>
            </a:r>
            <a:r>
              <a:rPr dirty="0" sz="2000" spc="-40">
                <a:solidFill>
                  <a:srgbClr val="525252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models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on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datasets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where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word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instances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have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been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  <a:hlinkClick r:id="rId2"/>
              </a:rPr>
              <a:t>manually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correct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20" b="1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5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process: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Extract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features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from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annotated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examples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classifier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map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feature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vectors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labels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Apply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model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new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instances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26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175969"/>
            <a:ext cx="7880984" cy="3531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While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methods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achieve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high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accuracy,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they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face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challenge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obtaining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sufficient annotated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data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all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word-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combinations.</a:t>
            </a: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264160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Unsupervised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Unsupervised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approaches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operate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without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labeled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data,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instead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relying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distributional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patterns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large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text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corpora.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Fundamental</a:t>
            </a:r>
            <a:r>
              <a:rPr dirty="0" sz="2000" spc="-11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principle: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appearing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similar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tend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have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similar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Cluster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occurrences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contextual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similarity</a:t>
            </a:r>
            <a:endParaRPr sz="2000">
              <a:latin typeface="Times New Roman"/>
              <a:cs typeface="Times New Roman"/>
            </a:endParaRPr>
          </a:p>
          <a:p>
            <a:pPr lvl="1"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Assign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labels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resulting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clusters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760" y="4851981"/>
            <a:ext cx="64135" cy="283845"/>
          </a:xfrm>
          <a:custGeom>
            <a:avLst/>
            <a:gdLst/>
            <a:ahLst/>
            <a:cxnLst/>
            <a:rect l="l" t="t" r="r" b="b"/>
            <a:pathLst>
              <a:path w="64134" h="283845">
                <a:moveTo>
                  <a:pt x="64007" y="0"/>
                </a:moveTo>
                <a:lnTo>
                  <a:pt x="0" y="0"/>
                </a:lnTo>
                <a:lnTo>
                  <a:pt x="0" y="283464"/>
                </a:lnTo>
                <a:lnTo>
                  <a:pt x="64007" y="283464"/>
                </a:lnTo>
                <a:lnTo>
                  <a:pt x="64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213725" cy="340804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algn="just"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Implementation: Basic</a:t>
            </a:r>
            <a:r>
              <a:rPr dirty="0" sz="2000" spc="-9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 algn="just"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1.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Creating</a:t>
            </a:r>
            <a:r>
              <a:rPr dirty="0" sz="20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Class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Inventory</a:t>
            </a:r>
            <a:endParaRPr sz="2000">
              <a:latin typeface="Times New Roman"/>
              <a:cs typeface="Times New Roman"/>
            </a:endParaRPr>
          </a:p>
          <a:p>
            <a:pPr algn="just" marL="180340" marR="13144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We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create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BasicWSD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class</a:t>
            </a:r>
            <a:r>
              <a:rPr dirty="0" sz="2000" spc="-5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which</a:t>
            </a:r>
            <a:r>
              <a:rPr dirty="0" sz="2000" spc="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stores</a:t>
            </a:r>
            <a:r>
              <a:rPr dirty="0" sz="2000" spc="-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inventory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for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target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words.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Each</a:t>
            </a:r>
            <a:r>
              <a:rPr dirty="0" sz="2000" spc="-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word</a:t>
            </a:r>
            <a:r>
              <a:rPr dirty="0" sz="2000" spc="-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has</a:t>
            </a:r>
            <a:r>
              <a:rPr dirty="0" sz="2000" spc="-6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multiple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meanings</a:t>
            </a:r>
            <a:r>
              <a:rPr dirty="0" sz="2000" spc="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each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is</a:t>
            </a:r>
            <a:r>
              <a:rPr dirty="0" sz="2000" spc="-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associated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with</a:t>
            </a:r>
            <a:r>
              <a:rPr dirty="0" sz="2000" spc="-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25252"/>
                </a:solidFill>
                <a:latin typeface="Times New Roman"/>
                <a:cs typeface="Times New Roman"/>
              </a:rPr>
              <a:t>keywords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that</a:t>
            </a:r>
            <a:r>
              <a:rPr dirty="0" sz="2000" spc="-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help</a:t>
            </a:r>
            <a:r>
              <a:rPr dirty="0" sz="2000" spc="-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25252"/>
                </a:solidFill>
                <a:latin typeface="Times New Roman"/>
                <a:cs typeface="Times New Roman"/>
              </a:rPr>
              <a:t>identify</a:t>
            </a:r>
            <a:r>
              <a:rPr dirty="0" sz="2000" spc="-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25252"/>
                </a:solidFill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algn="just" marL="180340" marR="212090" indent="-167640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self.sense_inventory: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Stores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each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ambiguous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along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its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and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their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associated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keywords.</a:t>
            </a:r>
            <a:endParaRPr sz="2000">
              <a:latin typeface="Times New Roman"/>
              <a:cs typeface="Times New Roman"/>
            </a:endParaRPr>
          </a:p>
          <a:p>
            <a:pPr algn="just"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self.stop_words: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Stores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common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(e.g.,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and,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of)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ignored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during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processing.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042275" cy="279844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2.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Preprocessing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Input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Sentence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define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method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clean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input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sentence.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removes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unnecessary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punctuation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so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only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meaningful</a:t>
            </a:r>
            <a:r>
              <a:rPr dirty="0" sz="2000" spc="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remains.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sentence.lower():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Converts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all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characters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lowercase for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consistency.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sentence.replace(ch,</a:t>
            </a:r>
            <a:r>
              <a:rPr dirty="0" sz="2000" spc="-4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""):</a:t>
            </a:r>
            <a:r>
              <a:rPr dirty="0" sz="2000" spc="-3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Removes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punctuation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symbols.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sentence.split():</a:t>
            </a:r>
            <a:r>
              <a:rPr dirty="0" sz="2000" spc="-6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Splits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sentence into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filters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out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stop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and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single-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character</a:t>
            </a:r>
            <a:r>
              <a:rPr dirty="0" sz="2000" spc="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tokens.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29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257540" cy="279844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3.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Disambiguating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Target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now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add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method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predicts</a:t>
            </a:r>
            <a:r>
              <a:rPr dirty="0" sz="2000" spc="-9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correct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target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word.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compares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keywords</a:t>
            </a:r>
            <a:r>
              <a:rPr dirty="0" sz="2000" spc="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each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3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=</a:t>
            </a:r>
            <a:r>
              <a:rPr dirty="0" sz="2000" spc="-3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dirty="0" sz="2000" spc="-3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:</a:t>
            </a:r>
            <a:r>
              <a:rPr dirty="0" sz="2000" spc="-3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Extracts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all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except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target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word.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8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scores[sense]</a:t>
            </a:r>
            <a:r>
              <a:rPr dirty="0" sz="2000" spc="-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=</a:t>
            </a:r>
            <a:r>
              <a:rPr dirty="0" sz="2000" spc="-3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len(set(context)</a:t>
            </a:r>
            <a:r>
              <a:rPr dirty="0" sz="2000" spc="-7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&amp;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set(keywords)):</a:t>
            </a:r>
            <a:r>
              <a:rPr dirty="0" sz="2000" spc="-3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Counts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how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many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match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each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sense's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keywords.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max(scores,</a:t>
            </a:r>
            <a:r>
              <a:rPr dirty="0" sz="2000" spc="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key=scores.get):</a:t>
            </a:r>
            <a:r>
              <a:rPr dirty="0" sz="2000" spc="-5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Selects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highest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overlap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score.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292465" cy="236537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4.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Implementation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create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object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class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test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sample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sentences.</a:t>
            </a:r>
            <a:endParaRPr sz="2000">
              <a:latin typeface="Times New Roman"/>
              <a:cs typeface="Times New Roman"/>
            </a:endParaRPr>
          </a:p>
          <a:p>
            <a:pPr marL="180340" marR="65849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wsd.disambiguate(word,</a:t>
            </a:r>
            <a:r>
              <a:rPr dirty="0" sz="2000" spc="-1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sentence):</a:t>
            </a:r>
            <a:r>
              <a:rPr dirty="0" sz="2000" spc="-3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Returns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predicted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the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overlap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scores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each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possible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output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displays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original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sentence,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target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word,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predicted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breakdown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scores.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31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336280" cy="310324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Challenges</a:t>
            </a:r>
            <a:r>
              <a:rPr dirty="0" sz="2000" spc="-6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Limitations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basic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approach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faces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several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constraints:</a:t>
            </a:r>
            <a:endParaRPr sz="20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Limited</a:t>
            </a:r>
            <a:r>
              <a:rPr dirty="0" sz="2000" spc="-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coverage:</a:t>
            </a:r>
            <a:r>
              <a:rPr dirty="0" sz="2000" spc="-8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Only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handles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predefined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words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manually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curated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 inventories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Shallow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2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understanding:</a:t>
            </a:r>
            <a:r>
              <a:rPr dirty="0" sz="2000" spc="-4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Simple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overlap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cannot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capture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deeper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semantic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relationships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Context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dependency:</a:t>
            </a:r>
            <a:r>
              <a:rPr dirty="0" sz="2000" spc="-4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Requires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sufficient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contextual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clues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accurate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disambiguation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063865" cy="297497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Broader</a:t>
            </a:r>
            <a:r>
              <a:rPr dirty="0" sz="2000" spc="-11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2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Challenges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Data</a:t>
            </a:r>
            <a:r>
              <a:rPr dirty="0" sz="2000" spc="-9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sparsity</a:t>
            </a:r>
            <a:r>
              <a:rPr dirty="0" sz="2000" spc="-3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:</a:t>
            </a:r>
            <a:r>
              <a:rPr dirty="0" sz="2000" spc="-1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many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word-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combinations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appear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infrequently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corpora,</a:t>
            </a:r>
            <a:r>
              <a:rPr dirty="0" sz="2000" spc="-10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making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supervised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difficult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rare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senses.</a:t>
            </a:r>
            <a:endParaRPr sz="2000">
              <a:latin typeface="Times New Roman"/>
              <a:cs typeface="Times New Roman"/>
            </a:endParaRPr>
          </a:p>
          <a:p>
            <a:pPr marL="180340" marR="8763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4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granularity</a:t>
            </a:r>
            <a:r>
              <a:rPr dirty="0" sz="2000" spc="-9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:</a:t>
            </a:r>
            <a:r>
              <a:rPr dirty="0" sz="2000" spc="-4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Different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lexical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resources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may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define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boundaries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differently.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Fine-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grained</a:t>
            </a:r>
            <a:r>
              <a:rPr dirty="0" sz="2000" spc="-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distinctions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typically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more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difficult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disambiguate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than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coarse-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grained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categories.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Domain adaptation</a:t>
            </a:r>
            <a:r>
              <a:rPr dirty="0" sz="2000" spc="-5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: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Models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trained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general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text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often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perform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poorly</a:t>
            </a:r>
            <a:endParaRPr sz="20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when</a:t>
            </a:r>
            <a:r>
              <a:rPr dirty="0" sz="2000" spc="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applied</a:t>
            </a:r>
            <a:r>
              <a:rPr dirty="0" sz="2000" spc="-8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specialized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domains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such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medical,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legal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technical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texts.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33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046719"/>
            <a:ext cx="8346440" cy="3713479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Applications</a:t>
            </a:r>
            <a:r>
              <a:rPr dirty="0" sz="2000" spc="-7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7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Future</a:t>
            </a:r>
            <a:r>
              <a:rPr dirty="0" sz="2000" spc="-4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Directions</a:t>
            </a:r>
            <a:endParaRPr sz="20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technology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finds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practical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application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across</a:t>
            </a:r>
            <a:r>
              <a:rPr dirty="0" sz="2000" spc="-8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numerous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domains:</a:t>
            </a:r>
            <a:endParaRPr sz="2000">
              <a:latin typeface="Times New Roman"/>
              <a:cs typeface="Times New Roman"/>
            </a:endParaRPr>
          </a:p>
          <a:p>
            <a:pPr marL="180340" marR="60388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12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273139"/>
                </a:solidFill>
                <a:latin typeface="Times New Roman"/>
                <a:cs typeface="Times New Roman"/>
              </a:rPr>
              <a:t>Translation:</a:t>
            </a:r>
            <a:r>
              <a:rPr dirty="0" sz="2000" spc="-10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Accurate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sense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identification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improves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translation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quality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by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selecting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appropriate</a:t>
            </a:r>
            <a:r>
              <a:rPr dirty="0" sz="2000" spc="-10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target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language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equivalents</a:t>
            </a:r>
            <a:r>
              <a:rPr dirty="0" sz="2000" spc="-1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ambiguous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source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words.</a:t>
            </a:r>
            <a:endParaRPr sz="2000">
              <a:latin typeface="Times New Roman"/>
              <a:cs typeface="Times New Roman"/>
            </a:endParaRPr>
          </a:p>
          <a:p>
            <a:pPr marL="180340" marR="91440" indent="-167640">
              <a:lnSpc>
                <a:spcPct val="100000"/>
              </a:lnSpc>
              <a:spcBef>
                <a:spcPts val="99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45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Retrieval:</a:t>
            </a:r>
            <a:r>
              <a:rPr dirty="0" sz="2000" spc="-5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Search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engines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employ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WSD</a:t>
            </a:r>
            <a:r>
              <a:rPr dirty="0" sz="2000" spc="-6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better</a:t>
            </a:r>
            <a:r>
              <a:rPr dirty="0" sz="2000" spc="-7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understand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user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query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intent</a:t>
            </a:r>
            <a:r>
              <a:rPr dirty="0" sz="2000" spc="-3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retrieve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more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relevant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documents.</a:t>
            </a:r>
            <a:endParaRPr sz="200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000" spc="-10" b="1">
                <a:solidFill>
                  <a:srgbClr val="273139"/>
                </a:solidFill>
                <a:latin typeface="Times New Roman"/>
                <a:cs typeface="Times New Roman"/>
              </a:rPr>
              <a:t>Content</a:t>
            </a:r>
            <a:r>
              <a:rPr dirty="0" sz="2000" spc="-114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273139"/>
                </a:solidFill>
                <a:latin typeface="Times New Roman"/>
                <a:cs typeface="Times New Roman"/>
              </a:rPr>
              <a:t>Analysis:</a:t>
            </a:r>
            <a:r>
              <a:rPr dirty="0" sz="2000" spc="-110" b="1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273139"/>
                </a:solidFill>
                <a:latin typeface="Times New Roman"/>
                <a:cs typeface="Times New Roman"/>
              </a:rPr>
              <a:t>Text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processing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systems</a:t>
            </a:r>
            <a:r>
              <a:rPr dirty="0" sz="2000" spc="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benefit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from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precise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word</a:t>
            </a:r>
            <a:r>
              <a:rPr dirty="0" sz="2000" spc="-3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meanings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dirty="0" sz="2000" spc="-5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tasks</a:t>
            </a:r>
            <a:r>
              <a:rPr dirty="0" sz="2000" spc="-4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such</a:t>
            </a:r>
            <a:r>
              <a:rPr dirty="0" sz="2000" spc="-4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dirty="0" sz="2000" spc="-6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sentiment</a:t>
            </a:r>
            <a:r>
              <a:rPr dirty="0" sz="2000" spc="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analysis,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topic</a:t>
            </a:r>
            <a:r>
              <a:rPr dirty="0" sz="2000" spc="-7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modeling</a:t>
            </a:r>
            <a:r>
              <a:rPr dirty="0" sz="2000" spc="-25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dirty="0" sz="2000" spc="-5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document</a:t>
            </a:r>
            <a:r>
              <a:rPr dirty="0" sz="2000" spc="50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273139"/>
                </a:solidFill>
                <a:latin typeface="Times New Roman"/>
                <a:cs typeface="Times New Roman"/>
              </a:rPr>
              <a:t>classification.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34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4229" y="2342768"/>
            <a:ext cx="2194560" cy="544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00" b="1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34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55" b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502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35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38911" y="1476502"/>
            <a:ext cx="7194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Course</a:t>
            </a:r>
            <a:r>
              <a:rPr dirty="0" sz="2400" spc="-9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Title</a:t>
            </a:r>
            <a:r>
              <a:rPr dirty="0" sz="2400" spc="-85">
                <a:solidFill>
                  <a:srgbClr val="FFFFFF"/>
                </a:solidFill>
              </a:rPr>
              <a:t> </a:t>
            </a:r>
            <a:r>
              <a:rPr dirty="0" sz="2400" spc="625">
                <a:solidFill>
                  <a:srgbClr val="FFFFFF"/>
                </a:solidFill>
              </a:rPr>
              <a:t>–</a:t>
            </a:r>
            <a:r>
              <a:rPr dirty="0" sz="2400" spc="-30">
                <a:solidFill>
                  <a:srgbClr val="FFFFFF"/>
                </a:solidFill>
              </a:rPr>
              <a:t>NATURAL</a:t>
            </a:r>
            <a:r>
              <a:rPr dirty="0" sz="2400" spc="-114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LANGUAGE</a:t>
            </a:r>
            <a:r>
              <a:rPr dirty="0" sz="2400" spc="-6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PROCESSING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38911" y="2228215"/>
            <a:ext cx="78987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60">
                <a:solidFill>
                  <a:srgbClr val="FFFFFF"/>
                </a:solidFill>
                <a:latin typeface="Microsoft Sans Serif"/>
                <a:cs typeface="Microsoft Sans Serif"/>
              </a:rPr>
              <a:t>Topic</a:t>
            </a:r>
            <a:r>
              <a:rPr dirty="0" sz="32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FFFFFF"/>
                </a:solidFill>
                <a:latin typeface="Microsoft Sans Serif"/>
                <a:cs typeface="Microsoft Sans Serif"/>
              </a:rPr>
              <a:t>Title:</a:t>
            </a:r>
            <a:r>
              <a:rPr dirty="0" sz="32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MARKOV</a:t>
            </a:r>
            <a:r>
              <a:rPr dirty="0" sz="26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MODEL</a:t>
            </a:r>
            <a:r>
              <a:rPr dirty="0" sz="2600" spc="-2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6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POS</a:t>
            </a:r>
            <a:r>
              <a:rPr dirty="0" sz="26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Microsoft Sans Serif"/>
                <a:cs typeface="Microsoft Sans Serif"/>
              </a:rPr>
              <a:t>TAGGING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972" y="3293821"/>
            <a:ext cx="428307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B.</a:t>
            </a:r>
            <a:r>
              <a:rPr dirty="0" sz="1800" spc="-1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BEBEBE"/>
                </a:solidFill>
                <a:latin typeface="Microsoft Sans Serif"/>
                <a:cs typeface="Microsoft Sans Serif"/>
              </a:rPr>
              <a:t>Lakshmi</a:t>
            </a:r>
            <a:r>
              <a:rPr dirty="0" sz="1800" spc="5">
                <a:solidFill>
                  <a:srgbClr val="BEBEBE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Prasanna</a:t>
            </a:r>
            <a:endParaRPr sz="1800">
              <a:latin typeface="Microsoft Sans Serif"/>
              <a:cs typeface="Microsoft Sans Serif"/>
            </a:endParaRPr>
          </a:p>
          <a:p>
            <a:pPr marL="12700" marR="13874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Presenter’s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ID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Microsoft Sans Serif"/>
                <a:cs typeface="Microsoft Sans Serif"/>
              </a:rPr>
              <a:t>IARE10706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8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r>
              <a:rPr dirty="0" sz="180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7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25"/>
              </a:lnSpc>
            </a:pPr>
            <a:r>
              <a:rPr dirty="0" spc="-50"/>
              <a:t>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dirty="0" spc="30"/>
              <a:t> </a:t>
            </a:r>
            <a:r>
              <a:rPr dirty="0" spc="-10"/>
              <a:t>OVERVIEW: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343265" cy="34817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study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 that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process,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communicate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human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marL="180340" marR="9779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primary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 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various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effectively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solving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problems,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performance.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intended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 a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theoretical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methodological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introduction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widely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current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techniques,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strategies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toolkits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processing,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primary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focus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those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Python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programming language.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25"/>
              </a:lnSpc>
            </a:pPr>
            <a:r>
              <a:rPr dirty="0" spc="-50"/>
              <a:t>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COURSES</a:t>
            </a:r>
            <a:r>
              <a:rPr dirty="0" spc="15"/>
              <a:t> </a:t>
            </a:r>
            <a:r>
              <a:rPr dirty="0" spc="-10"/>
              <a:t>OBJECTIVES: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8155305" cy="27749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will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try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learn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I.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analyzing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on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CORPUS.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II.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theory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essentials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text.</a:t>
            </a:r>
            <a:endParaRPr sz="2100">
              <a:latin typeface="Microsoft Sans Serif"/>
              <a:cs typeface="Microsoft Sans Serif"/>
            </a:endParaRPr>
          </a:p>
          <a:p>
            <a:pPr marL="180340" marR="20955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III.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statistical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learning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cutting-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edge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deep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learning.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25"/>
              </a:lnSpc>
            </a:pPr>
            <a:r>
              <a:rPr dirty="0" spc="-50"/>
              <a:t>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COURSES</a:t>
            </a:r>
            <a:r>
              <a:rPr dirty="0" spc="15"/>
              <a:t> </a:t>
            </a:r>
            <a:r>
              <a:rPr dirty="0" spc="-10"/>
              <a:t>OUTCOMES: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8228965" cy="245491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end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course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should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able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CO1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Remember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knowledge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behavior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terms 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phonetics,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morphology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CO2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semantics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pragmatics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processing.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CO3</a:t>
            </a:r>
            <a:r>
              <a:rPr dirty="0" sz="2100" spc="-1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CORPUS linguistics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compile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texts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digestive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games.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25"/>
              </a:lnSpc>
            </a:pPr>
            <a:r>
              <a:rPr dirty="0" spc="-50"/>
              <a:t>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454" y="1293367"/>
            <a:ext cx="8196580" cy="219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CO4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various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approaches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machine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translation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marL="180340" marR="30226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CO5</a:t>
            </a:r>
            <a:r>
              <a:rPr dirty="0" sz="2100" spc="-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Part-of-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speech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(POS)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natural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suitable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structure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CO6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art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algorithms 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text-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 processing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of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respect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morphology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25"/>
              </a:lnSpc>
            </a:pPr>
            <a:r>
              <a:rPr dirty="0" spc="-50"/>
              <a:t>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1221104"/>
            <a:ext cx="812419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MODULE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V: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1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(09)</a:t>
            </a:r>
            <a:endParaRPr sz="2100">
              <a:latin typeface="Microsoft Sans Serif"/>
              <a:cs typeface="Microsoft Sans Serif"/>
            </a:endParaRPr>
          </a:p>
          <a:p>
            <a:pPr marL="180340" marR="508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Model: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Fundamentals,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of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properties,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Parameter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estimation,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Variants,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input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observation.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Sources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Tagging: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Viterbi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algorithm,</a:t>
            </a:r>
            <a:r>
              <a:rPr dirty="0" sz="2100" spc="-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Applying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HMMs 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tagging,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Applications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Tagging.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9375">
              <a:lnSpc>
                <a:spcPts val="1425"/>
              </a:lnSpc>
            </a:pPr>
            <a:r>
              <a:rPr dirty="0" spc="-50"/>
              <a:t>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842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/>
              <a:t>Module</a:t>
            </a:r>
            <a:r>
              <a:rPr dirty="0" sz="2500" spc="-40"/>
              <a:t> </a:t>
            </a:r>
            <a:r>
              <a:rPr dirty="0" sz="2500"/>
              <a:t>Introduction</a:t>
            </a:r>
            <a:r>
              <a:rPr dirty="0" sz="2500" spc="-20"/>
              <a:t> </a:t>
            </a:r>
            <a:r>
              <a:rPr dirty="0" sz="2500" spc="645"/>
              <a:t>–</a:t>
            </a:r>
            <a:r>
              <a:rPr dirty="0" sz="2500" spc="-45"/>
              <a:t> </a:t>
            </a:r>
            <a:r>
              <a:rPr dirty="0" sz="2500"/>
              <a:t>Markov</a:t>
            </a:r>
            <a:r>
              <a:rPr dirty="0" sz="2500" spc="-20"/>
              <a:t> </a:t>
            </a:r>
            <a:r>
              <a:rPr dirty="0" sz="2500"/>
              <a:t>Model</a:t>
            </a:r>
            <a:r>
              <a:rPr dirty="0" sz="2500" spc="-35"/>
              <a:t> </a:t>
            </a:r>
            <a:r>
              <a:rPr dirty="0" sz="2500"/>
              <a:t>and</a:t>
            </a:r>
            <a:r>
              <a:rPr dirty="0" sz="2500" spc="-45"/>
              <a:t> </a:t>
            </a:r>
            <a:r>
              <a:rPr dirty="0" sz="2500"/>
              <a:t>POS</a:t>
            </a:r>
            <a:r>
              <a:rPr dirty="0" sz="2500" spc="-60"/>
              <a:t> </a:t>
            </a:r>
            <a:r>
              <a:rPr dirty="0" sz="2500" spc="-10"/>
              <a:t>Tagging:</a:t>
            </a:r>
            <a:endParaRPr sz="2500"/>
          </a:p>
        </p:txBody>
      </p:sp>
      <p:sp>
        <p:nvSpPr>
          <p:cNvPr id="2" name="object 2"/>
          <p:cNvSpPr txBox="1"/>
          <p:nvPr/>
        </p:nvSpPr>
        <p:spPr>
          <a:xfrm>
            <a:off x="172923" y="1108963"/>
            <a:ext cx="8554720" cy="35769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0340" marR="7620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1600" spc="1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1600" spc="1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1600" spc="1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probabilistic</a:t>
            </a:r>
            <a:r>
              <a:rPr dirty="0" sz="1600" spc="1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1600" spc="1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1600" spc="1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1600" spc="1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widely</a:t>
            </a:r>
            <a:r>
              <a:rPr dirty="0" sz="1600" spc="1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1600" spc="1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1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1600" spc="1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represent</a:t>
            </a:r>
            <a:r>
              <a:rPr dirty="0" sz="1600" spc="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sequential</a:t>
            </a:r>
            <a:r>
              <a:rPr dirty="0" sz="1600" spc="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1600" spc="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1600" spc="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1600" spc="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sentences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1600" spc="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sequences.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16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help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predicting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next</a:t>
            </a:r>
            <a:r>
              <a:rPr dirty="0" sz="16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element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previous</a:t>
            </a:r>
            <a:r>
              <a:rPr dirty="0" sz="16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elements.</a:t>
            </a:r>
            <a:endParaRPr sz="1600">
              <a:latin typeface="Microsoft Sans Serif"/>
              <a:cs typeface="Microsoft Sans Serif"/>
            </a:endParaRPr>
          </a:p>
          <a:p>
            <a:pPr algn="just"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1600" spc="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module</a:t>
            </a:r>
            <a:r>
              <a:rPr dirty="0" sz="1600" spc="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introduces</a:t>
            </a:r>
            <a:r>
              <a:rPr dirty="0" sz="1600" spc="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concept</a:t>
            </a:r>
            <a:r>
              <a:rPr dirty="0" sz="1600" spc="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10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1600" spc="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1600" spc="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1600" spc="10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(HMMs),</a:t>
            </a:r>
            <a:r>
              <a:rPr dirty="0" sz="1600" spc="10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which</a:t>
            </a:r>
            <a:r>
              <a:rPr dirty="0" sz="1600" spc="1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extend</a:t>
            </a:r>
            <a:r>
              <a:rPr dirty="0" sz="1600" spc="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basic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1600" spc="3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1600" spc="3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1600" spc="3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allowing</a:t>
            </a:r>
            <a:r>
              <a:rPr dirty="0" sz="1600" spc="3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1600" spc="3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states</a:t>
            </a:r>
            <a:r>
              <a:rPr dirty="0" sz="1600" spc="3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1600" spc="3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1600" spc="3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1600" spc="3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directly</a:t>
            </a:r>
            <a:r>
              <a:rPr dirty="0" sz="1600" spc="3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observable</a:t>
            </a:r>
            <a:r>
              <a:rPr dirty="0" sz="1600" spc="3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but</a:t>
            </a:r>
            <a:r>
              <a:rPr dirty="0" sz="1600" spc="3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influence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observable</a:t>
            </a:r>
            <a:r>
              <a:rPr dirty="0" sz="16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outputs.</a:t>
            </a:r>
            <a:endParaRPr sz="1600">
              <a:latin typeface="Microsoft Sans Serif"/>
              <a:cs typeface="Microsoft Sans Serif"/>
            </a:endParaRPr>
          </a:p>
          <a:p>
            <a:pPr algn="just" marL="180340" marR="5715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 major</a:t>
            </a:r>
            <a:r>
              <a:rPr dirty="0" sz="1600" spc="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application</a:t>
            </a:r>
            <a:r>
              <a:rPr dirty="0" sz="1600" spc="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discussed</a:t>
            </a:r>
            <a:r>
              <a:rPr dirty="0" sz="1600" spc="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1600" spc="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module</a:t>
            </a:r>
            <a:r>
              <a:rPr dirty="0" sz="1600" spc="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1600" spc="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Part-of-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Speech</a:t>
            </a:r>
            <a:r>
              <a:rPr dirty="0" sz="1600" spc="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(POS)</a:t>
            </a:r>
            <a:r>
              <a:rPr dirty="0" sz="1600" spc="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Tagging,</a:t>
            </a:r>
            <a:r>
              <a:rPr dirty="0" sz="1600" spc="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which</a:t>
            </a:r>
            <a:r>
              <a:rPr dirty="0" sz="1600" spc="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1600" spc="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process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assigning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1600" spc="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tags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1600" spc="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noun,</a:t>
            </a:r>
            <a:r>
              <a:rPr dirty="0" sz="1600" spc="4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verb,</a:t>
            </a:r>
            <a:r>
              <a:rPr dirty="0" sz="1600" spc="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adjective,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etc.,</a:t>
            </a:r>
            <a:r>
              <a:rPr dirty="0" sz="1600" spc="6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1600" spc="50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55">
                <a:solidFill>
                  <a:srgbClr val="525252"/>
                </a:solidFill>
                <a:latin typeface="Microsoft Sans Serif"/>
                <a:cs typeface="Microsoft Sans Serif"/>
              </a:rPr>
              <a:t>  </a:t>
            </a:r>
            <a:r>
              <a:rPr dirty="0" sz="1600" spc="-50">
                <a:solidFill>
                  <a:srgbClr val="525252"/>
                </a:solidFill>
                <a:latin typeface="Microsoft Sans Serif"/>
                <a:cs typeface="Microsoft Sans Serif"/>
              </a:rPr>
              <a:t>a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sentence.</a:t>
            </a:r>
            <a:endParaRPr sz="1600">
              <a:latin typeface="Microsoft Sans Serif"/>
              <a:cs typeface="Microsoft Sans Serif"/>
            </a:endParaRPr>
          </a:p>
          <a:p>
            <a:pPr algn="just" marL="180340" marR="635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1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module</a:t>
            </a:r>
            <a:r>
              <a:rPr dirty="0" sz="1600" spc="1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also</a:t>
            </a:r>
            <a:r>
              <a:rPr dirty="0" sz="1600" spc="114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explains</a:t>
            </a:r>
            <a:r>
              <a:rPr dirty="0" sz="1600" spc="1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Viterbi</a:t>
            </a:r>
            <a:r>
              <a:rPr dirty="0" sz="1600" spc="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Algorithm,</a:t>
            </a:r>
            <a:r>
              <a:rPr dirty="0" sz="1600" spc="1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which</a:t>
            </a:r>
            <a:r>
              <a:rPr dirty="0" sz="1600" spc="1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1600" spc="1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an</a:t>
            </a:r>
            <a:r>
              <a:rPr dirty="0" sz="1600" spc="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1600" spc="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dynamic</a:t>
            </a:r>
            <a:r>
              <a:rPr dirty="0" sz="1600" spc="1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programming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approach</a:t>
            </a:r>
            <a:r>
              <a:rPr dirty="0" sz="1600" spc="1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1600" spc="1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1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find</a:t>
            </a:r>
            <a:r>
              <a:rPr dirty="0" sz="1600" spc="1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18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1600" spc="1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probable</a:t>
            </a:r>
            <a:r>
              <a:rPr dirty="0" sz="1600" spc="1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1600" spc="1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1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1600" spc="1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states</a:t>
            </a:r>
            <a:r>
              <a:rPr dirty="0" sz="1600" spc="1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1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HMMs.Overall,</a:t>
            </a:r>
            <a:r>
              <a:rPr dirty="0" sz="1600" spc="1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this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module</a:t>
            </a:r>
            <a:r>
              <a:rPr dirty="0" sz="1600" spc="2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bridges</a:t>
            </a:r>
            <a:r>
              <a:rPr dirty="0" sz="1600" spc="2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600" spc="2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theory</a:t>
            </a:r>
            <a:r>
              <a:rPr dirty="0" sz="1600" spc="2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30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1600" spc="2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structure,</a:t>
            </a:r>
            <a:r>
              <a:rPr dirty="0" sz="1600" spc="30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making</a:t>
            </a:r>
            <a:r>
              <a:rPr dirty="0" sz="1600" spc="2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1600" spc="28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essential</a:t>
            </a:r>
            <a:r>
              <a:rPr dirty="0" sz="1600" spc="2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1600" spc="29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building </a:t>
            </a:r>
            <a:r>
              <a:rPr dirty="0" sz="1600" spc="-20">
                <a:solidFill>
                  <a:srgbClr val="525252"/>
                </a:solidFill>
                <a:latin typeface="Microsoft Sans Serif"/>
                <a:cs typeface="Microsoft Sans Serif"/>
              </a:rPr>
              <a:t>real-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world</a:t>
            </a:r>
            <a:r>
              <a:rPr dirty="0" sz="1600" spc="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16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525252"/>
                </a:solidFill>
                <a:latin typeface="Microsoft Sans Serif"/>
                <a:cs typeface="Microsoft Sans Serif"/>
              </a:rPr>
              <a:t>systems.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7810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105"/>
              </a:spcBef>
            </a:pPr>
            <a:r>
              <a:rPr dirty="0" sz="2600"/>
              <a:t>Introduction</a:t>
            </a:r>
            <a:r>
              <a:rPr dirty="0" sz="2600" spc="-35"/>
              <a:t> </a:t>
            </a:r>
            <a:r>
              <a:rPr dirty="0" sz="2600"/>
              <a:t>to</a:t>
            </a:r>
            <a:r>
              <a:rPr dirty="0" sz="2600" spc="-35"/>
              <a:t> </a:t>
            </a:r>
            <a:r>
              <a:rPr dirty="0" sz="2600"/>
              <a:t>Markov</a:t>
            </a:r>
            <a:r>
              <a:rPr dirty="0" sz="2600" spc="-50"/>
              <a:t> </a:t>
            </a:r>
            <a:r>
              <a:rPr dirty="0" sz="2600" spc="-10"/>
              <a:t>Models</a:t>
            </a:r>
            <a:endParaRPr sz="2600"/>
          </a:p>
        </p:txBody>
      </p:sp>
      <p:sp>
        <p:nvSpPr>
          <p:cNvPr id="2" name="object 2"/>
          <p:cNvSpPr txBox="1"/>
          <p:nvPr/>
        </p:nvSpPr>
        <p:spPr>
          <a:xfrm>
            <a:off x="172923" y="1177544"/>
            <a:ext cx="8514080" cy="3288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14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 Model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stochastic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 that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predicts future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based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only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current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state, not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entire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history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past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states.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This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simplifying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assumption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known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 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property.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NLP,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 means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occurring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depends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only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 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limited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number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previous words 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tags.</a:t>
            </a:r>
            <a:endParaRPr sz="2100">
              <a:latin typeface="Microsoft Sans Serif"/>
              <a:cs typeface="Microsoft Sans Serif"/>
            </a:endParaRPr>
          </a:p>
          <a:p>
            <a:pPr marL="180340" marR="58547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 particularly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useful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language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because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naturally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follows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sequential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structure.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reducing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dependency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long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histories,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make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computation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feasible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large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corpora.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Fundamentals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Markov</a:t>
            </a:r>
            <a:r>
              <a:rPr dirty="0" spc="35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508634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The</a:t>
            </a:r>
            <a:r>
              <a:rPr dirty="0" spc="-15"/>
              <a:t> </a:t>
            </a:r>
            <a:r>
              <a:rPr dirty="0"/>
              <a:t>fundamental</a:t>
            </a:r>
            <a:r>
              <a:rPr dirty="0" spc="-30"/>
              <a:t> </a:t>
            </a:r>
            <a:r>
              <a:rPr dirty="0"/>
              <a:t>components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a Markov</a:t>
            </a:r>
            <a:r>
              <a:rPr dirty="0" spc="-5"/>
              <a:t> </a:t>
            </a:r>
            <a:r>
              <a:rPr dirty="0"/>
              <a:t>model</a:t>
            </a:r>
            <a:r>
              <a:rPr dirty="0" spc="-5"/>
              <a:t> </a:t>
            </a:r>
            <a:r>
              <a:rPr dirty="0"/>
              <a:t>include</a:t>
            </a:r>
            <a:r>
              <a:rPr dirty="0" spc="-15"/>
              <a:t> </a:t>
            </a:r>
            <a:r>
              <a:rPr dirty="0" spc="-10" b="1">
                <a:latin typeface="Arial"/>
                <a:cs typeface="Arial"/>
              </a:rPr>
              <a:t>states</a:t>
            </a:r>
            <a:r>
              <a:rPr dirty="0" spc="-10"/>
              <a:t>, </a:t>
            </a:r>
            <a:r>
              <a:rPr dirty="0"/>
              <a:t>which</a:t>
            </a:r>
            <a:r>
              <a:rPr dirty="0" spc="-30"/>
              <a:t> </a:t>
            </a:r>
            <a:r>
              <a:rPr dirty="0"/>
              <a:t>represent</a:t>
            </a:r>
            <a:r>
              <a:rPr dirty="0" spc="-20"/>
              <a:t> </a:t>
            </a:r>
            <a:r>
              <a:rPr dirty="0"/>
              <a:t>possible</a:t>
            </a:r>
            <a:r>
              <a:rPr dirty="0" spc="-45"/>
              <a:t> </a:t>
            </a:r>
            <a:r>
              <a:rPr dirty="0"/>
              <a:t>conditions</a:t>
            </a:r>
            <a:r>
              <a:rPr dirty="0" spc="-55"/>
              <a:t> </a:t>
            </a:r>
            <a:r>
              <a:rPr dirty="0"/>
              <a:t>or</a:t>
            </a:r>
            <a:r>
              <a:rPr dirty="0" spc="-30"/>
              <a:t> </a:t>
            </a:r>
            <a:r>
              <a:rPr dirty="0"/>
              <a:t>categories,</a:t>
            </a:r>
            <a:r>
              <a:rPr dirty="0" spc="-35"/>
              <a:t> </a:t>
            </a:r>
            <a:r>
              <a:rPr dirty="0"/>
              <a:t>such</a:t>
            </a:r>
            <a:r>
              <a:rPr dirty="0" spc="-30"/>
              <a:t> </a:t>
            </a:r>
            <a:r>
              <a:rPr dirty="0" spc="-25"/>
              <a:t>as </a:t>
            </a:r>
            <a:r>
              <a:rPr dirty="0"/>
              <a:t>grammatical</a:t>
            </a:r>
            <a:r>
              <a:rPr dirty="0" spc="-40"/>
              <a:t> </a:t>
            </a:r>
            <a:r>
              <a:rPr dirty="0"/>
              <a:t>tags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POS</a:t>
            </a:r>
            <a:r>
              <a:rPr dirty="0" spc="-25"/>
              <a:t> </a:t>
            </a:r>
            <a:r>
              <a:rPr dirty="0" spc="-10"/>
              <a:t>tagging.</a:t>
            </a:r>
          </a:p>
          <a:p>
            <a:pPr marL="204470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/>
              <a:t>Another</a:t>
            </a:r>
            <a:r>
              <a:rPr dirty="0" spc="-35"/>
              <a:t> </a:t>
            </a:r>
            <a:r>
              <a:rPr dirty="0"/>
              <a:t>important</a:t>
            </a:r>
            <a:r>
              <a:rPr dirty="0" spc="-25"/>
              <a:t> </a:t>
            </a:r>
            <a:r>
              <a:rPr dirty="0"/>
              <a:t>component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b="1">
                <a:latin typeface="Arial"/>
                <a:cs typeface="Arial"/>
              </a:rPr>
              <a:t>transition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probability</a:t>
            </a:r>
            <a:r>
              <a:rPr dirty="0"/>
              <a:t>,</a:t>
            </a:r>
            <a:r>
              <a:rPr dirty="0" spc="10"/>
              <a:t> </a:t>
            </a:r>
            <a:r>
              <a:rPr dirty="0" spc="-10"/>
              <a:t>which</a:t>
            </a:r>
          </a:p>
          <a:p>
            <a:pPr marL="205104">
              <a:lnSpc>
                <a:spcPct val="100000"/>
              </a:lnSpc>
            </a:pPr>
            <a:r>
              <a:rPr dirty="0"/>
              <a:t>defines</a:t>
            </a:r>
            <a:r>
              <a:rPr dirty="0" spc="-20"/>
              <a:t> </a:t>
            </a:r>
            <a:r>
              <a:rPr dirty="0"/>
              <a:t>the likelihood</a:t>
            </a:r>
            <a:r>
              <a:rPr dirty="0" spc="-35"/>
              <a:t> </a:t>
            </a:r>
            <a:r>
              <a:rPr dirty="0"/>
              <a:t>of moving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5"/>
              <a:t> </a:t>
            </a:r>
            <a:r>
              <a:rPr dirty="0"/>
              <a:t>one state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 spc="-10"/>
              <a:t>another.</a:t>
            </a:r>
          </a:p>
          <a:p>
            <a:pPr marL="205104" marR="1061085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The</a:t>
            </a:r>
            <a:r>
              <a:rPr dirty="0" spc="-15"/>
              <a:t> </a:t>
            </a:r>
            <a:r>
              <a:rPr dirty="0" b="1">
                <a:latin typeface="Arial"/>
                <a:cs typeface="Arial"/>
              </a:rPr>
              <a:t>initial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state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probability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represents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likelihood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25"/>
              <a:t>the </a:t>
            </a:r>
            <a:r>
              <a:rPr dirty="0"/>
              <a:t>sequence</a:t>
            </a:r>
            <a:r>
              <a:rPr dirty="0" spc="-35"/>
              <a:t> </a:t>
            </a:r>
            <a:r>
              <a:rPr dirty="0"/>
              <a:t>starting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particular</a:t>
            </a:r>
            <a:r>
              <a:rPr dirty="0" spc="-25"/>
              <a:t> </a:t>
            </a:r>
            <a:r>
              <a:rPr dirty="0" spc="-10"/>
              <a:t>state.</a:t>
            </a:r>
          </a:p>
          <a:p>
            <a:pPr marL="204470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most</a:t>
            </a:r>
            <a:r>
              <a:rPr dirty="0" spc="-10"/>
              <a:t> </a:t>
            </a:r>
            <a:r>
              <a:rPr dirty="0"/>
              <a:t>important</a:t>
            </a:r>
            <a:r>
              <a:rPr dirty="0" spc="-10"/>
              <a:t> </a:t>
            </a:r>
            <a:r>
              <a:rPr dirty="0"/>
              <a:t>characteristic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Markov</a:t>
            </a:r>
            <a:r>
              <a:rPr dirty="0" spc="-15"/>
              <a:t> </a:t>
            </a:r>
            <a:r>
              <a:rPr dirty="0"/>
              <a:t>models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 spc="-10"/>
              <a:t>their</a:t>
            </a:r>
          </a:p>
          <a:p>
            <a:pPr marL="205104">
              <a:lnSpc>
                <a:spcPct val="100000"/>
              </a:lnSpc>
            </a:pPr>
            <a:r>
              <a:rPr dirty="0"/>
              <a:t>memoryless</a:t>
            </a:r>
            <a:r>
              <a:rPr dirty="0" spc="-25"/>
              <a:t> </a:t>
            </a:r>
            <a:r>
              <a:rPr dirty="0"/>
              <a:t>nature,</a:t>
            </a:r>
            <a:r>
              <a:rPr dirty="0" spc="-20"/>
              <a:t> </a:t>
            </a:r>
            <a:r>
              <a:rPr dirty="0"/>
              <a:t>which</a:t>
            </a:r>
            <a:r>
              <a:rPr dirty="0" spc="-30"/>
              <a:t> </a:t>
            </a:r>
            <a:r>
              <a:rPr dirty="0"/>
              <a:t>simplifies</a:t>
            </a:r>
            <a:r>
              <a:rPr dirty="0" spc="-50"/>
              <a:t> </a:t>
            </a:r>
            <a:r>
              <a:rPr dirty="0"/>
              <a:t>both</a:t>
            </a:r>
            <a:r>
              <a:rPr dirty="0" spc="-30"/>
              <a:t> </a:t>
            </a:r>
            <a:r>
              <a:rPr dirty="0"/>
              <a:t>modeling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computation.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240791"/>
            <a:ext cx="5856732" cy="44165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Markov</a:t>
            </a:r>
            <a:r>
              <a:rPr dirty="0" spc="-25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4470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/>
              <a:t>In</a:t>
            </a:r>
            <a:r>
              <a:rPr dirty="0" spc="-10"/>
              <a:t> </a:t>
            </a:r>
            <a:r>
              <a:rPr dirty="0"/>
              <a:t>a </a:t>
            </a:r>
            <a:r>
              <a:rPr dirty="0" b="1">
                <a:latin typeface="Arial"/>
                <a:cs typeface="Arial"/>
              </a:rPr>
              <a:t>Visible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Markov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Model</a:t>
            </a:r>
            <a:r>
              <a:rPr dirty="0"/>
              <a:t>,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states</a:t>
            </a:r>
            <a:r>
              <a:rPr dirty="0" spc="-5"/>
              <a:t> </a:t>
            </a:r>
            <a:r>
              <a:rPr dirty="0"/>
              <a:t>are</a:t>
            </a:r>
            <a:r>
              <a:rPr dirty="0" spc="-20"/>
              <a:t> </a:t>
            </a:r>
            <a:r>
              <a:rPr dirty="0"/>
              <a:t>directly</a:t>
            </a:r>
            <a:r>
              <a:rPr dirty="0" spc="-20"/>
              <a:t> </a:t>
            </a:r>
            <a:r>
              <a:rPr dirty="0"/>
              <a:t>observable,</a:t>
            </a:r>
            <a:r>
              <a:rPr dirty="0" spc="-5"/>
              <a:t> </a:t>
            </a:r>
            <a:r>
              <a:rPr dirty="0" spc="-25"/>
              <a:t>and</a:t>
            </a:r>
          </a:p>
          <a:p>
            <a:pPr marL="205104">
              <a:lnSpc>
                <a:spcPct val="100000"/>
              </a:lnSpc>
            </a:pPr>
            <a:r>
              <a:rPr dirty="0"/>
              <a:t>the</a:t>
            </a:r>
            <a:r>
              <a:rPr dirty="0" spc="-15"/>
              <a:t> </a:t>
            </a:r>
            <a:r>
              <a:rPr dirty="0"/>
              <a:t>output</a:t>
            </a:r>
            <a:r>
              <a:rPr dirty="0" spc="-10"/>
              <a:t> </a:t>
            </a:r>
            <a:r>
              <a:rPr dirty="0"/>
              <a:t>sequence</a:t>
            </a:r>
            <a:r>
              <a:rPr dirty="0" spc="-30"/>
              <a:t> </a:t>
            </a:r>
            <a:r>
              <a:rPr dirty="0"/>
              <a:t>corresponds</a:t>
            </a:r>
            <a:r>
              <a:rPr dirty="0" spc="-10"/>
              <a:t> </a:t>
            </a:r>
            <a:r>
              <a:rPr dirty="0"/>
              <a:t>exactly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state</a:t>
            </a:r>
            <a:r>
              <a:rPr dirty="0" spc="-25"/>
              <a:t> </a:t>
            </a:r>
            <a:r>
              <a:rPr dirty="0" spc="-10"/>
              <a:t>sequence.</a:t>
            </a:r>
          </a:p>
          <a:p>
            <a:pPr marL="205104" marR="461009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/>
              <a:t>These</a:t>
            </a:r>
            <a:r>
              <a:rPr dirty="0" spc="-20"/>
              <a:t> </a:t>
            </a:r>
            <a:r>
              <a:rPr dirty="0"/>
              <a:t>models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15"/>
              <a:t> </a:t>
            </a:r>
            <a:r>
              <a:rPr dirty="0"/>
              <a:t>useful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simple</a:t>
            </a:r>
            <a:r>
              <a:rPr dirty="0" spc="-40"/>
              <a:t> </a:t>
            </a:r>
            <a:r>
              <a:rPr dirty="0"/>
              <a:t>prediction</a:t>
            </a:r>
            <a:r>
              <a:rPr dirty="0" spc="-40"/>
              <a:t> </a:t>
            </a:r>
            <a:r>
              <a:rPr dirty="0"/>
              <a:t>problems</a:t>
            </a:r>
            <a:r>
              <a:rPr dirty="0" spc="-20"/>
              <a:t> </a:t>
            </a:r>
            <a:r>
              <a:rPr dirty="0"/>
              <a:t>where</a:t>
            </a:r>
            <a:r>
              <a:rPr dirty="0" spc="-20"/>
              <a:t> </a:t>
            </a:r>
            <a:r>
              <a:rPr dirty="0" spc="-25"/>
              <a:t>the </a:t>
            </a:r>
            <a:r>
              <a:rPr dirty="0"/>
              <a:t>system’s</a:t>
            </a:r>
            <a:r>
              <a:rPr dirty="0" spc="-35"/>
              <a:t> </a:t>
            </a:r>
            <a:r>
              <a:rPr dirty="0"/>
              <a:t>internal</a:t>
            </a:r>
            <a:r>
              <a:rPr dirty="0" spc="-25"/>
              <a:t> </a:t>
            </a:r>
            <a:r>
              <a:rPr dirty="0"/>
              <a:t>state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fully</a:t>
            </a:r>
            <a:r>
              <a:rPr dirty="0" spc="-25"/>
              <a:t> </a:t>
            </a:r>
            <a:r>
              <a:rPr dirty="0" spc="-10"/>
              <a:t>known.</a:t>
            </a:r>
          </a:p>
          <a:p>
            <a:pPr marL="204470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/>
              <a:t>In</a:t>
            </a:r>
            <a:r>
              <a:rPr dirty="0" spc="5"/>
              <a:t> </a:t>
            </a:r>
            <a:r>
              <a:rPr dirty="0"/>
              <a:t>contrast,</a:t>
            </a:r>
            <a:r>
              <a:rPr dirty="0" spc="5"/>
              <a:t> </a:t>
            </a:r>
            <a:r>
              <a:rPr dirty="0"/>
              <a:t>a </a:t>
            </a:r>
            <a:r>
              <a:rPr dirty="0" b="1">
                <a:latin typeface="Arial"/>
                <a:cs typeface="Arial"/>
              </a:rPr>
              <a:t>Hidden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Markov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Model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(HMM)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/>
              <a:t>has</a:t>
            </a:r>
            <a:r>
              <a:rPr dirty="0" spc="10"/>
              <a:t> </a:t>
            </a:r>
            <a:r>
              <a:rPr dirty="0"/>
              <a:t>states</a:t>
            </a:r>
            <a:r>
              <a:rPr dirty="0" spc="5"/>
              <a:t> </a:t>
            </a:r>
            <a:r>
              <a:rPr dirty="0"/>
              <a:t>that</a:t>
            </a:r>
            <a:r>
              <a:rPr dirty="0" spc="10"/>
              <a:t> </a:t>
            </a:r>
            <a:r>
              <a:rPr dirty="0"/>
              <a:t>are</a:t>
            </a:r>
            <a:r>
              <a:rPr dirty="0" spc="5"/>
              <a:t> </a:t>
            </a:r>
            <a:r>
              <a:rPr dirty="0" spc="-25"/>
              <a:t>not</a:t>
            </a:r>
          </a:p>
          <a:p>
            <a:pPr marL="205104">
              <a:lnSpc>
                <a:spcPct val="100000"/>
              </a:lnSpc>
            </a:pPr>
            <a:r>
              <a:rPr dirty="0"/>
              <a:t>directly</a:t>
            </a:r>
            <a:r>
              <a:rPr dirty="0" spc="-30"/>
              <a:t> </a:t>
            </a:r>
            <a:r>
              <a:rPr dirty="0"/>
              <a:t>visible,</a:t>
            </a:r>
            <a:r>
              <a:rPr dirty="0" spc="-35"/>
              <a:t> </a:t>
            </a:r>
            <a:r>
              <a:rPr dirty="0"/>
              <a:t>but</a:t>
            </a:r>
            <a:r>
              <a:rPr dirty="0" spc="-15"/>
              <a:t> </a:t>
            </a:r>
            <a:r>
              <a:rPr dirty="0"/>
              <a:t>each</a:t>
            </a:r>
            <a:r>
              <a:rPr dirty="0" spc="-15"/>
              <a:t> </a:t>
            </a:r>
            <a:r>
              <a:rPr dirty="0"/>
              <a:t>state</a:t>
            </a:r>
            <a:r>
              <a:rPr dirty="0" spc="-15"/>
              <a:t> </a:t>
            </a:r>
            <a:r>
              <a:rPr dirty="0"/>
              <a:t>produces</a:t>
            </a:r>
            <a:r>
              <a:rPr dirty="0" spc="-20"/>
              <a:t> </a:t>
            </a:r>
            <a:r>
              <a:rPr dirty="0"/>
              <a:t>observable</a:t>
            </a:r>
            <a:r>
              <a:rPr dirty="0" spc="-25"/>
              <a:t> </a:t>
            </a:r>
            <a:r>
              <a:rPr dirty="0" spc="-10"/>
              <a:t>outputs.</a:t>
            </a:r>
          </a:p>
          <a:p>
            <a:pPr marL="204470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/>
              <a:t>HMMs</a:t>
            </a:r>
            <a:r>
              <a:rPr dirty="0" spc="-10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highly</a:t>
            </a:r>
            <a:r>
              <a:rPr dirty="0" spc="-15"/>
              <a:t> </a:t>
            </a:r>
            <a:r>
              <a:rPr dirty="0"/>
              <a:t>suitable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5"/>
              <a:t> </a:t>
            </a:r>
            <a:r>
              <a:rPr dirty="0"/>
              <a:t>NLP</a:t>
            </a:r>
            <a:r>
              <a:rPr dirty="0" spc="-50"/>
              <a:t> </a:t>
            </a:r>
            <a:r>
              <a:rPr dirty="0"/>
              <a:t>tasks</a:t>
            </a:r>
            <a:r>
              <a:rPr dirty="0" spc="-15"/>
              <a:t> </a:t>
            </a:r>
            <a:r>
              <a:rPr dirty="0"/>
              <a:t>because</a:t>
            </a:r>
            <a:r>
              <a:rPr dirty="0" spc="-15"/>
              <a:t> </a:t>
            </a:r>
            <a:r>
              <a:rPr dirty="0"/>
              <a:t>linguistic</a:t>
            </a:r>
            <a:r>
              <a:rPr dirty="0" spc="-40"/>
              <a:t> </a:t>
            </a:r>
            <a:r>
              <a:rPr dirty="0" spc="-10"/>
              <a:t>categories</a:t>
            </a:r>
          </a:p>
          <a:p>
            <a:pPr marL="205104">
              <a:lnSpc>
                <a:spcPct val="100000"/>
              </a:lnSpc>
            </a:pPr>
            <a:r>
              <a:rPr dirty="0"/>
              <a:t>like</a:t>
            </a:r>
            <a:r>
              <a:rPr dirty="0" spc="-30"/>
              <a:t> </a:t>
            </a:r>
            <a:r>
              <a:rPr dirty="0"/>
              <a:t>POS</a:t>
            </a:r>
            <a:r>
              <a:rPr dirty="0" spc="-5"/>
              <a:t> </a:t>
            </a:r>
            <a:r>
              <a:rPr dirty="0"/>
              <a:t>tags are</a:t>
            </a:r>
            <a:r>
              <a:rPr dirty="0" spc="-15"/>
              <a:t> </a:t>
            </a:r>
            <a:r>
              <a:rPr dirty="0"/>
              <a:t>hidden, while</a:t>
            </a:r>
            <a:r>
              <a:rPr dirty="0" spc="-20"/>
              <a:t> </a:t>
            </a:r>
            <a:r>
              <a:rPr dirty="0"/>
              <a:t>words are </a:t>
            </a:r>
            <a:r>
              <a:rPr dirty="0" spc="-10"/>
              <a:t>observable.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Hidden</a:t>
            </a:r>
            <a:r>
              <a:rPr dirty="0" spc="-40"/>
              <a:t> </a:t>
            </a:r>
            <a:r>
              <a:rPr dirty="0"/>
              <a:t>Markov</a:t>
            </a:r>
            <a:r>
              <a:rPr dirty="0" spc="5"/>
              <a:t> </a:t>
            </a:r>
            <a:r>
              <a:rPr dirty="0"/>
              <a:t>Model</a:t>
            </a:r>
            <a:r>
              <a:rPr dirty="0" spc="-5"/>
              <a:t> </a:t>
            </a:r>
            <a:r>
              <a:rPr dirty="0"/>
              <a:t>(HMM)</a:t>
            </a:r>
            <a:r>
              <a:rPr dirty="0" spc="15"/>
              <a:t> </a:t>
            </a:r>
            <a:r>
              <a:rPr dirty="0" spc="785"/>
              <a:t>–</a:t>
            </a:r>
            <a:r>
              <a:rPr dirty="0" spc="1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7994650" cy="3288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45339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probabilistic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framework where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between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while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generating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observable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outputs.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POS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 correspond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categories,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observed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outputs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 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 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sentence.</a:t>
            </a:r>
            <a:endParaRPr sz="2100">
              <a:latin typeface="Microsoft Sans Serif"/>
              <a:cs typeface="Microsoft Sans Serif"/>
            </a:endParaRPr>
          </a:p>
          <a:p>
            <a:pPr marL="180340" marR="215265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goal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determine 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probable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 given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observed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widely used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because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effectively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combine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modeling.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40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/>
              <a:t>Hidden</a:t>
            </a:r>
            <a:r>
              <a:rPr dirty="0" spc="15"/>
              <a:t> </a:t>
            </a:r>
            <a:r>
              <a:rPr dirty="0"/>
              <a:t>Markov</a:t>
            </a:r>
            <a:r>
              <a:rPr dirty="0" spc="10"/>
              <a:t> </a:t>
            </a:r>
            <a:r>
              <a:rPr dirty="0" spc="-2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54" y="1112901"/>
            <a:ext cx="8277225" cy="373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788035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represents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all possible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be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assigned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observations correspond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the words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present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input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sentence.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likelihood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following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another,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capturing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  <a:p>
            <a:pPr marL="180340" marR="79629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represent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likelihood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being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generated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particular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tag.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Initial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define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likely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appear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beginning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sentence.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Probability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Properties</a:t>
            </a:r>
            <a:r>
              <a:rPr dirty="0" spc="-70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 spc="-25"/>
              <a:t>HMM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285480" cy="296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67005" marR="457200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670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measures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likely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particular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follows</a:t>
            </a:r>
            <a:endParaRPr sz="2100">
              <a:latin typeface="Microsoft Sans Serif"/>
              <a:cs typeface="Microsoft Sans Serif"/>
            </a:endParaRPr>
          </a:p>
          <a:p>
            <a:pPr algn="r" marR="475615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another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reflecting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rules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structure.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measures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likely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associated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a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particular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capturing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behavior.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together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allow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both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information.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Accurate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estimation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critical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improving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the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POS tagging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systems.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Parameter</a:t>
            </a:r>
            <a:r>
              <a:rPr dirty="0" spc="-65"/>
              <a:t> </a:t>
            </a:r>
            <a:r>
              <a:rPr dirty="0"/>
              <a:t>Estimation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 spc="-25"/>
              <a:t>HMM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335645" cy="3288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Parameter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estimation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refers 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calculating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2100">
              <a:latin typeface="Microsoft Sans Serif"/>
              <a:cs typeface="Microsoft Sans Serif"/>
            </a:endParaRPr>
          </a:p>
          <a:p>
            <a:pPr marL="180340" marR="9080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most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 is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Maximum</a:t>
            </a:r>
            <a:r>
              <a:rPr dirty="0" sz="2100" spc="-2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525252"/>
                </a:solidFill>
                <a:latin typeface="Arial"/>
                <a:cs typeface="Arial"/>
              </a:rPr>
              <a:t>Likelihood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Estimation</a:t>
            </a:r>
            <a:r>
              <a:rPr dirty="0" sz="21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(MLE)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which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relies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frequency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counts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annotated corpora.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dividing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number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times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follows another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total occurrences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previous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tag.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dividing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number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times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appears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total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occurrences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tag.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Variants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Markov</a:t>
            </a:r>
            <a:r>
              <a:rPr dirty="0" spc="-35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7954009" cy="296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Unigram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 assume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 each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 tag 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independent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previous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ones,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making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them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simple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but less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accurate.</a:t>
            </a:r>
            <a:endParaRPr sz="2100">
              <a:latin typeface="Microsoft Sans Serif"/>
              <a:cs typeface="Microsoft Sans Serif"/>
            </a:endParaRPr>
          </a:p>
          <a:p>
            <a:pPr marL="180340" marR="25019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Bigram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consider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immediately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preceding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tag,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offering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balance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between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simplicity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accuracy.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Trigram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two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previous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tags,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capturing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richer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contextual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but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requiring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Higher-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order Markov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generally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improve accuracy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but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increase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computational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complexity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data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requirements.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dirty="0" spc="-35"/>
              <a:t> </a:t>
            </a:r>
            <a:r>
              <a:rPr dirty="0"/>
              <a:t>Input</a:t>
            </a:r>
            <a:r>
              <a:rPr dirty="0" spc="-15"/>
              <a:t> </a:t>
            </a:r>
            <a:r>
              <a:rPr dirty="0"/>
              <a:t>Observation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Markov</a:t>
            </a:r>
            <a:r>
              <a:rPr dirty="0" spc="-5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54" y="1114424"/>
            <a:ext cx="8328659" cy="3718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123189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real-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world</a:t>
            </a:r>
            <a:r>
              <a:rPr dirty="0" sz="19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19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tasks,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models often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need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handle multiple</a:t>
            </a:r>
            <a:r>
              <a:rPr dirty="0" sz="19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observations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simultaneously</a:t>
            </a:r>
            <a:r>
              <a:rPr dirty="0" sz="19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rather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than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single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stream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1900">
              <a:latin typeface="Microsoft Sans Serif"/>
              <a:cs typeface="Microsoft Sans Serif"/>
            </a:endParaRPr>
          </a:p>
          <a:p>
            <a:pPr marL="180340" marR="28067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input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observation refers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scenarios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where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system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considers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than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observable</a:t>
            </a:r>
            <a:r>
              <a:rPr dirty="0" sz="19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feature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each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time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step,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form,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suffix,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capitalization,</a:t>
            </a:r>
            <a:r>
              <a:rPr dirty="0" sz="19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punctuation.</a:t>
            </a:r>
            <a:endParaRPr sz="19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tagging,</a:t>
            </a:r>
            <a:r>
              <a:rPr dirty="0" sz="19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helps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improve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accuracy by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incorporating</a:t>
            </a:r>
            <a:r>
              <a:rPr dirty="0" sz="19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additional</a:t>
            </a:r>
            <a:endParaRPr sz="19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cues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beyond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just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itself.</a:t>
            </a:r>
            <a:endParaRPr sz="19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extended</a:t>
            </a:r>
            <a:r>
              <a:rPr dirty="0" sz="19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support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observations 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by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adjusting</a:t>
            </a:r>
            <a:r>
              <a:rPr dirty="0" sz="19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19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19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calculations.</a:t>
            </a:r>
            <a:endParaRPr sz="19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approach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makes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19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system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robust,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especially</a:t>
            </a:r>
            <a:r>
              <a:rPr dirty="0" sz="19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endParaRPr sz="19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dealing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19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ambiguous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unseen</a:t>
            </a:r>
            <a:r>
              <a:rPr dirty="0" sz="19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617791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Sources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POS</a:t>
            </a:r>
            <a:r>
              <a:rPr dirty="0" spc="-70"/>
              <a:t> </a:t>
            </a:r>
            <a:r>
              <a:rPr dirty="0" spc="-2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9067"/>
            <a:ext cx="8229600" cy="342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84835" indent="-167640">
              <a:lnSpc>
                <a:spcPct val="100000"/>
              </a:lnSpc>
              <a:spcBef>
                <a:spcPts val="95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19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relies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sources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assign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accurate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tags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19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1900">
              <a:latin typeface="Microsoft Sans Serif"/>
              <a:cs typeface="Microsoft Sans Serif"/>
            </a:endParaRPr>
          </a:p>
          <a:p>
            <a:pPr marL="180340" marR="12192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lexical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source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uses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word-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level knowledge,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known 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word-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19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associations</a:t>
            </a:r>
            <a:r>
              <a:rPr dirty="0" sz="19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19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corpus.</a:t>
            </a:r>
            <a:endParaRPr sz="19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contextual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source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uses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neighboring</a:t>
            </a:r>
            <a:r>
              <a:rPr dirty="0" sz="19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tags</a:t>
            </a:r>
            <a:r>
              <a:rPr dirty="0" sz="19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endParaRPr sz="19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determine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likely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sequence.</a:t>
            </a:r>
            <a:endParaRPr sz="19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19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source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uses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learned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19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annotated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19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1900">
              <a:latin typeface="Microsoft Sans Serif"/>
              <a:cs typeface="Microsoft Sans Serif"/>
            </a:endParaRPr>
          </a:p>
          <a:p>
            <a:pPr marL="180340" marR="7747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19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efficiently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combine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sources</a:t>
            </a:r>
            <a:r>
              <a:rPr dirty="0" sz="19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19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unified </a:t>
            </a:r>
            <a:r>
              <a:rPr dirty="0" sz="1900">
                <a:solidFill>
                  <a:srgbClr val="525252"/>
                </a:solidFill>
                <a:latin typeface="Microsoft Sans Serif"/>
                <a:cs typeface="Microsoft Sans Serif"/>
              </a:rPr>
              <a:t>probabilistic</a:t>
            </a:r>
            <a:r>
              <a:rPr dirty="0" sz="1900" spc="-9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525252"/>
                </a:solidFill>
                <a:latin typeface="Microsoft Sans Serif"/>
                <a:cs typeface="Microsoft Sans Serif"/>
              </a:rPr>
              <a:t>framework.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Markov</a:t>
            </a:r>
            <a:r>
              <a:rPr dirty="0" spc="-20"/>
              <a:t> </a:t>
            </a:r>
            <a:r>
              <a:rPr dirty="0"/>
              <a:t>Model</a:t>
            </a:r>
            <a:r>
              <a:rPr dirty="0" spc="-90"/>
              <a:t> </a:t>
            </a:r>
            <a:r>
              <a:rPr dirty="0" spc="-30"/>
              <a:t>Taggers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54" y="1112901"/>
            <a:ext cx="8362315" cy="373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28702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Markov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assumptions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predict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 probable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 assume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a tag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depends only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limited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number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previous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tags.</a:t>
            </a:r>
            <a:endParaRPr sz="2100">
              <a:latin typeface="Microsoft Sans Serif"/>
              <a:cs typeface="Microsoft Sans Serif"/>
            </a:endParaRPr>
          </a:p>
          <a:p>
            <a:pPr algn="ctr" marL="167005" marR="880110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670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Bigram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trigram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commonly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 because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endParaRPr sz="2100">
              <a:latin typeface="Microsoft Sans Serif"/>
              <a:cs typeface="Microsoft Sans Serif"/>
            </a:endParaRPr>
          </a:p>
          <a:p>
            <a:pPr algn="ctr" marR="930275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balance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contextual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awareness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computational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efficiency.</a:t>
            </a:r>
            <a:endParaRPr sz="2100">
              <a:latin typeface="Microsoft Sans Serif"/>
              <a:cs typeface="Microsoft Sans Serif"/>
            </a:endParaRPr>
          </a:p>
          <a:p>
            <a:pPr marL="180340" marR="715645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outperform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rule-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on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sufficiently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large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annotated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corpora.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 widely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modern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pipelines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due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their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adaptability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accuracy.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483" y="1196339"/>
            <a:ext cx="6825996" cy="34137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POS</a:t>
            </a:r>
            <a:r>
              <a:rPr dirty="0" spc="-95"/>
              <a:t> </a:t>
            </a:r>
            <a:r>
              <a:rPr dirty="0" spc="-30"/>
              <a:t>Tagging</a:t>
            </a:r>
            <a:r>
              <a:rPr dirty="0" spc="-50"/>
              <a:t> </a:t>
            </a:r>
            <a:r>
              <a:rPr dirty="0"/>
              <a:t>Using</a:t>
            </a:r>
            <a:r>
              <a:rPr dirty="0" spc="-70"/>
              <a:t> </a:t>
            </a:r>
            <a:r>
              <a:rPr dirty="0"/>
              <a:t>Hidden</a:t>
            </a:r>
            <a:r>
              <a:rPr dirty="0" spc="-55"/>
              <a:t> </a:t>
            </a:r>
            <a:r>
              <a:rPr dirty="0"/>
              <a:t>Markov</a:t>
            </a:r>
            <a:r>
              <a:rPr dirty="0" spc="-55"/>
              <a:t> </a:t>
            </a:r>
            <a:r>
              <a:rPr dirty="0" spc="-1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54" y="1112901"/>
            <a:ext cx="8304530" cy="373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1158875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HMM-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observed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sentence,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hidden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goal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find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that maximizes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joint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 sequence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observed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words.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both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(through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probabilities)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(through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probabilities).</a:t>
            </a:r>
            <a:endParaRPr sz="2100">
              <a:latin typeface="Microsoft Sans Serif"/>
              <a:cs typeface="Microsoft Sans Serif"/>
            </a:endParaRPr>
          </a:p>
          <a:p>
            <a:pPr marL="180340" marR="1447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dual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capability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makes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highly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POS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tagging.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HMM-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independent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adapted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proper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46729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dirty="0" spc="-80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/>
              <a:t>POS</a:t>
            </a:r>
            <a:r>
              <a:rPr dirty="0" spc="-90"/>
              <a:t> </a:t>
            </a:r>
            <a:r>
              <a:rPr dirty="0" spc="-10"/>
              <a:t>Tagging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2094" y="4528480"/>
            <a:ext cx="4911090" cy="323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2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often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required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better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performance.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454" y="1112901"/>
            <a:ext cx="8222615" cy="3415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major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challenge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ambiguity,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where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can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belong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categories.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Unknown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out-of-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vocabulary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difficulties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because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appear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corpus.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Sparse data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problems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occur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certain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appear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rarely,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leading</a:t>
            </a:r>
            <a:r>
              <a:rPr dirty="0" sz="2100" spc="-7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unreliable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estimates.</a:t>
            </a:r>
            <a:endParaRPr sz="2100">
              <a:latin typeface="Microsoft Sans Serif"/>
              <a:cs typeface="Microsoft Sans Serif"/>
            </a:endParaRPr>
          </a:p>
          <a:p>
            <a:pPr marL="180340" marR="1038225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Noise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errors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annotated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corpora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affect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parameter estimation.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address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challenges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partially,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but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dirty="0" spc="-80"/>
              <a:t> </a:t>
            </a:r>
            <a:r>
              <a:rPr dirty="0"/>
              <a:t>Principle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20"/>
              <a:t>Viterbi</a:t>
            </a:r>
            <a:r>
              <a:rPr dirty="0" spc="-180"/>
              <a:t> </a:t>
            </a:r>
            <a:r>
              <a:rPr dirty="0" spc="-1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2094" y="4528480"/>
            <a:ext cx="2544445" cy="323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2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assumptions.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454" y="1112901"/>
            <a:ext cx="8274050" cy="3415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361315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works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constructing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trellis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diagram,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rows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represent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columns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represent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time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steps.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each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step,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computes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maximum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reaching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previous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computations.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keeps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track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best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path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leading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each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backpointers.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After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entire sentence,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backtracking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retrieve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probable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systematic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approach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guarantees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optimal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solution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Steps</a:t>
            </a:r>
            <a:r>
              <a:rPr dirty="0" spc="15"/>
              <a:t> </a:t>
            </a:r>
            <a:r>
              <a:rPr dirty="0"/>
              <a:t>in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Viterbi</a:t>
            </a:r>
            <a:r>
              <a:rPr dirty="0" spc="-165"/>
              <a:t> </a:t>
            </a:r>
            <a:r>
              <a:rPr dirty="0" spc="-1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7966075" cy="373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 b="1">
                <a:solidFill>
                  <a:srgbClr val="525252"/>
                </a:solidFill>
                <a:latin typeface="Arial"/>
                <a:cs typeface="Arial"/>
              </a:rPr>
              <a:t>Initialization:</a:t>
            </a:r>
            <a:r>
              <a:rPr dirty="0" sz="2100" spc="-114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Assign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initial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each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first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observation.</a:t>
            </a:r>
            <a:endParaRPr sz="2100">
              <a:latin typeface="Microsoft Sans Serif"/>
              <a:cs typeface="Microsoft Sans Serif"/>
            </a:endParaRPr>
          </a:p>
          <a:p>
            <a:pPr marL="180340" marR="13906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Recursion:</a:t>
            </a:r>
            <a:r>
              <a:rPr dirty="0" sz="21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each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subsequent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observation,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the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maximum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each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emission probabilities.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20" b="1">
                <a:solidFill>
                  <a:srgbClr val="525252"/>
                </a:solidFill>
                <a:latin typeface="Arial"/>
                <a:cs typeface="Arial"/>
              </a:rPr>
              <a:t>Termination:</a:t>
            </a:r>
            <a:r>
              <a:rPr dirty="0" sz="2100" spc="-3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Identify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final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highest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b="1">
                <a:solidFill>
                  <a:srgbClr val="525252"/>
                </a:solidFill>
                <a:latin typeface="Arial"/>
                <a:cs typeface="Arial"/>
              </a:rPr>
              <a:t>Backtracking:</a:t>
            </a:r>
            <a:r>
              <a:rPr dirty="0" sz="2100" spc="-6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Trace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back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through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stored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paths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obtain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best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sequence.</a:t>
            </a:r>
            <a:endParaRPr sz="2100">
              <a:latin typeface="Microsoft Sans Serif"/>
              <a:cs typeface="Microsoft Sans Serif"/>
            </a:endParaRPr>
          </a:p>
          <a:p>
            <a:pPr marL="180340" marR="574675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steps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make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both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efficient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reliable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for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labeling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tasks.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5572" y="4929742"/>
            <a:ext cx="196215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5">
                <a:solidFill>
                  <a:srgbClr val="FFFFFF"/>
                </a:solidFill>
                <a:latin typeface="Microsoft Sans Serif"/>
                <a:cs typeface="Microsoft Sans Serif"/>
              </a:rPr>
              <a:t>24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Applying</a:t>
            </a:r>
            <a:r>
              <a:rPr dirty="0" spc="-85"/>
              <a:t> </a:t>
            </a:r>
            <a:r>
              <a:rPr dirty="0" spc="-25"/>
              <a:t>Viterbi</a:t>
            </a:r>
            <a:r>
              <a:rPr dirty="0" spc="-175"/>
              <a:t> </a:t>
            </a:r>
            <a:r>
              <a:rPr dirty="0"/>
              <a:t>Algorithm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POS</a:t>
            </a:r>
            <a:r>
              <a:rPr dirty="0" spc="-85"/>
              <a:t> </a:t>
            </a:r>
            <a:r>
              <a:rPr dirty="0" spc="-1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54" y="1112901"/>
            <a:ext cx="8237220" cy="373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given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sentence,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Viterbi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all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possible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tag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transitions</a:t>
            </a:r>
            <a:r>
              <a:rPr dirty="0" sz="2100" spc="-7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efficiently.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associations.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assigns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highest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 the final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output.</a:t>
            </a:r>
            <a:endParaRPr sz="2100">
              <a:latin typeface="Microsoft Sans Serif"/>
              <a:cs typeface="Microsoft Sans Serif"/>
            </a:endParaRPr>
          </a:p>
          <a:p>
            <a:pPr marL="180340" marR="36957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method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ensures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global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rather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making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local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greedy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decisions.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result,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 + Viterbi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produces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more accurate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than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simple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rule-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approaches.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483" y="1196339"/>
            <a:ext cx="6825996" cy="34137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702373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 of</a:t>
            </a:r>
            <a:r>
              <a:rPr dirty="0" spc="20"/>
              <a:t> </a:t>
            </a:r>
            <a:r>
              <a:rPr dirty="0" spc="-10"/>
              <a:t>HMM-</a:t>
            </a:r>
            <a:r>
              <a:rPr dirty="0"/>
              <a:t>Based</a:t>
            </a:r>
            <a:r>
              <a:rPr dirty="0" spc="5"/>
              <a:t> </a:t>
            </a:r>
            <a:r>
              <a:rPr dirty="0"/>
              <a:t>POS</a:t>
            </a:r>
            <a:r>
              <a:rPr dirty="0" spc="-35"/>
              <a:t> </a:t>
            </a:r>
            <a:r>
              <a:rPr dirty="0" spc="-25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54" y="1112901"/>
            <a:ext cx="8287384" cy="373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75946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HMM-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statistically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sound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well-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defined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probabilistic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principles.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automatically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annotated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corpora,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reducing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manual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effort.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approach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flexible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adapted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languages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domains.</a:t>
            </a:r>
            <a:endParaRPr sz="2100">
              <a:latin typeface="Microsoft Sans Serif"/>
              <a:cs typeface="Microsoft Sans Serif"/>
            </a:endParaRPr>
          </a:p>
          <a:p>
            <a:pPr marL="180340" marR="23114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Integration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Viterbi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ensures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optimal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 selection.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Due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these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advantages,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HMM-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remains 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foundational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NLP.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763015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Need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70"/>
              <a:t> </a:t>
            </a:r>
            <a:r>
              <a:rPr dirty="0"/>
              <a:t>Advanced</a:t>
            </a:r>
            <a:r>
              <a:rPr dirty="0" spc="-40"/>
              <a:t> </a:t>
            </a:r>
            <a:r>
              <a:rPr dirty="0"/>
              <a:t>POS</a:t>
            </a:r>
            <a:r>
              <a:rPr dirty="0" spc="-45"/>
              <a:t> </a:t>
            </a:r>
            <a:r>
              <a:rPr dirty="0" spc="-40"/>
              <a:t>Tagging</a:t>
            </a:r>
            <a:r>
              <a:rPr dirty="0" spc="-85"/>
              <a:t> </a:t>
            </a:r>
            <a:r>
              <a:rPr dirty="0" spc="-1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371840" cy="3288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93725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Simple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rule-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fail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becomes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ambiguous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making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methods necessary.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natural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contains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uncertainty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variability,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probabilistic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provide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better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generalization.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handle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unseen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varying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sentence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more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effectively.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backbone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modern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applications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parsing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machine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translation.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Ambiguity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85"/>
              <a:t> </a:t>
            </a:r>
            <a:r>
              <a:rPr dirty="0"/>
              <a:t>Natural</a:t>
            </a:r>
            <a:r>
              <a:rPr dirty="0" spc="-85"/>
              <a:t> </a:t>
            </a:r>
            <a:r>
              <a:rPr dirty="0" spc="-1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7932420" cy="264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Ambiguity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occurs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have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meanings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or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roles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depending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context.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example,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word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“book”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 act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noun or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verb.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 tagging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must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rely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surrounding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resolve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ambiguities.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address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ambiguity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choosing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most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probable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sequence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rather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than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individual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29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Lexical</a:t>
            </a:r>
            <a:r>
              <a:rPr dirty="0" spc="-180"/>
              <a:t> </a:t>
            </a:r>
            <a:r>
              <a:rPr dirty="0"/>
              <a:t>Ambiguity</a:t>
            </a:r>
            <a:r>
              <a:rPr dirty="0" spc="-40"/>
              <a:t> </a:t>
            </a:r>
            <a:r>
              <a:rPr dirty="0"/>
              <a:t>vs</a:t>
            </a:r>
            <a:r>
              <a:rPr dirty="0" spc="-10"/>
              <a:t> Structural</a:t>
            </a:r>
            <a:r>
              <a:rPr dirty="0" spc="-160"/>
              <a:t> </a:t>
            </a:r>
            <a:r>
              <a:rPr dirty="0" spc="-10"/>
              <a:t>Ambiguity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8153400" cy="27749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ambiguity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arises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single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tags.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Structural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ambiguity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occurs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when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sentence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have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multiple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grammatical</a:t>
            </a:r>
            <a:r>
              <a:rPr dirty="0" sz="2100" spc="-1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interpretations.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primarily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addresses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lexical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ambiguity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but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also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contributes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resolving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structural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ambiguity.</a:t>
            </a:r>
            <a:endParaRPr sz="2100">
              <a:latin typeface="Microsoft Sans Serif"/>
              <a:cs typeface="Microsoft Sans Serif"/>
            </a:endParaRPr>
          </a:p>
          <a:p>
            <a:pPr marL="180340" marR="363855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Contextual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play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key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role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distinguishing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between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ambiguous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interpretations.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Smoothing</a:t>
            </a:r>
            <a:r>
              <a:rPr dirty="0" spc="-120"/>
              <a:t> </a:t>
            </a:r>
            <a:r>
              <a:rPr dirty="0" spc="-20"/>
              <a:t>Techniques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 spc="-25"/>
              <a:t>HMM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212455" cy="296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handle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zero-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issues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caused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 unseen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events.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Without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smoothing,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unseen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transitions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emissions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would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result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zero probability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entire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techniques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include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add-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back-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off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improves model robustness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ensures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better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generalization</a:t>
            </a:r>
            <a:r>
              <a:rPr dirty="0" sz="2100" spc="-6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unseen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data.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53086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Corpus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/>
              <a:t>POS</a:t>
            </a:r>
            <a:r>
              <a:rPr dirty="0" spc="-50"/>
              <a:t> </a:t>
            </a:r>
            <a:r>
              <a:rPr dirty="0" spc="-25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7994650" cy="2327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corpus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large,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collection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annotated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models.</a:t>
            </a:r>
            <a:endParaRPr sz="2100">
              <a:latin typeface="Microsoft Sans Serif"/>
              <a:cs typeface="Microsoft Sans Serif"/>
            </a:endParaRPr>
          </a:p>
          <a:p>
            <a:pPr marL="180340" marR="19939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 taggers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heavily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annotated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corpora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learn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word-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tag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associations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transitions.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quality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size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corpus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directly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affect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accuracy.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Well-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known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corpora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include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Penn</a:t>
            </a:r>
            <a:r>
              <a:rPr dirty="0" sz="2100" spc="-6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Treebank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Brown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Corpus.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6184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Training</a:t>
            </a:r>
            <a:r>
              <a:rPr dirty="0" spc="-35"/>
              <a:t> </a:t>
            </a:r>
            <a:r>
              <a:rPr dirty="0"/>
              <a:t>Phase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HMM</a:t>
            </a:r>
            <a:r>
              <a:rPr dirty="0" spc="-15"/>
              <a:t> </a:t>
            </a:r>
            <a:r>
              <a:rPr dirty="0"/>
              <a:t>POS</a:t>
            </a:r>
            <a:r>
              <a:rPr dirty="0" spc="-65"/>
              <a:t> </a:t>
            </a:r>
            <a:r>
              <a:rPr dirty="0" spc="-10"/>
              <a:t>Tagger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278495" cy="200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During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training,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learns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emission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 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annotated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corpus.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Frequency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counts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tag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transitions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pairs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collected.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counts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converted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normalization.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trained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 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then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ready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unseen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sentences.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60305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Testing</a:t>
            </a:r>
            <a:r>
              <a:rPr dirty="0" spc="-20"/>
              <a:t> </a:t>
            </a:r>
            <a:r>
              <a:rPr dirty="0"/>
              <a:t>Phase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HMM</a:t>
            </a:r>
            <a:r>
              <a:rPr dirty="0" spc="-20"/>
              <a:t> </a:t>
            </a:r>
            <a:r>
              <a:rPr dirty="0"/>
              <a:t>POS</a:t>
            </a:r>
            <a:r>
              <a:rPr dirty="0" spc="-70"/>
              <a:t> </a:t>
            </a:r>
            <a:r>
              <a:rPr dirty="0" spc="-15"/>
              <a:t>Tagger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8054975" cy="245491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 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testing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phase, the trained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applied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new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sentences.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Viterbi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compute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probable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tag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sequence.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does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not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know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correct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during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testing.</a:t>
            </a:r>
            <a:endParaRPr sz="2100">
              <a:latin typeface="Microsoft Sans Serif"/>
              <a:cs typeface="Microsoft Sans Serif"/>
            </a:endParaRPr>
          </a:p>
          <a:p>
            <a:pPr marL="180340" marR="88265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 comparing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predicted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with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reference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annotations.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Evaluation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POS</a:t>
            </a:r>
            <a:r>
              <a:rPr dirty="0" spc="-114"/>
              <a:t> </a:t>
            </a:r>
            <a:r>
              <a:rPr dirty="0" spc="-30"/>
              <a:t>Tagging</a:t>
            </a:r>
            <a:r>
              <a:rPr dirty="0" spc="-95"/>
              <a:t> </a:t>
            </a:r>
            <a:r>
              <a:rPr dirty="0" spc="-1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126730" cy="2327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Evaluation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measures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how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accurately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assigns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correct</a:t>
            </a:r>
            <a:r>
              <a:rPr dirty="0" sz="2100" spc="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tags.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Accuracy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computed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percentage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 correctly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words.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Precision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recall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also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specific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evaluation.</a:t>
            </a:r>
            <a:endParaRPr sz="2100">
              <a:latin typeface="Microsoft Sans Serif"/>
              <a:cs typeface="Microsoft Sans Serif"/>
            </a:endParaRPr>
          </a:p>
          <a:p>
            <a:pPr marL="180340" marR="1193165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Evaluation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helps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identify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weaknesses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improve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 performance.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Tagging</a:t>
            </a:r>
            <a:r>
              <a:rPr dirty="0" spc="-160"/>
              <a:t> </a:t>
            </a:r>
            <a:r>
              <a:rPr dirty="0"/>
              <a:t>Accuracy</a:t>
            </a:r>
            <a:r>
              <a:rPr dirty="0" spc="4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92148"/>
            <a:ext cx="7818120" cy="200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Accuracy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 defined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ratio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correctly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tagged words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total words.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Error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rate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measures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proportion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of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incorrectly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assigned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Confusion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matrices are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analyze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tag-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level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performance.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metrics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provide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insight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into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common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errors.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51193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</a:t>
            </a:r>
            <a:r>
              <a:rPr dirty="0" spc="-185"/>
              <a:t> </a:t>
            </a:r>
            <a:r>
              <a:rPr dirty="0"/>
              <a:t>Analysis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POS</a:t>
            </a:r>
            <a:r>
              <a:rPr dirty="0" spc="-75"/>
              <a:t> </a:t>
            </a:r>
            <a:r>
              <a:rPr dirty="0" spc="-2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177544"/>
            <a:ext cx="8257540" cy="264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Error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helps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makes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incorrect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predictions.</a:t>
            </a:r>
            <a:endParaRPr sz="2100">
              <a:latin typeface="Microsoft Sans Serif"/>
              <a:cs typeface="Microsoft Sans Serif"/>
            </a:endParaRPr>
          </a:p>
          <a:p>
            <a:pPr marL="180340" marR="5080" indent="-167640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Errors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arise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ambiguity,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 sparse data,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or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incorrect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probability estimates.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Analyzing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errors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helps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refine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smoothing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techniques.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process is essential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improving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real-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world tagging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systems.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Comparison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10"/>
              <a:t> </a:t>
            </a:r>
            <a:r>
              <a:rPr dirty="0" spc="-20"/>
              <a:t>Rule-</a:t>
            </a:r>
            <a:r>
              <a:rPr dirty="0"/>
              <a:t>Based</a:t>
            </a:r>
            <a:r>
              <a:rPr dirty="0" spc="-45"/>
              <a:t> </a:t>
            </a:r>
            <a:r>
              <a:rPr dirty="0" spc="-25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8234045" cy="245491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Rule-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rely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manually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crafted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rules.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While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accurate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simple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cases,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difficult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scale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and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maintain.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HMM-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automatically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learn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from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data and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adapt to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new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domains.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Statistical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 outperform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rule-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large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datasets.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602932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Stochastic</a:t>
            </a:r>
            <a:r>
              <a:rPr dirty="0" spc="-55"/>
              <a:t> </a:t>
            </a:r>
            <a:r>
              <a:rPr dirty="0"/>
              <a:t>vs</a:t>
            </a:r>
            <a:r>
              <a:rPr dirty="0" spc="-55"/>
              <a:t> </a:t>
            </a:r>
            <a:r>
              <a:rPr dirty="0"/>
              <a:t>Deterministic</a:t>
            </a:r>
            <a:r>
              <a:rPr dirty="0" spc="-125"/>
              <a:t> </a:t>
            </a:r>
            <a:r>
              <a:rPr dirty="0" spc="-10"/>
              <a:t>Taggers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64132"/>
            <a:ext cx="7888605" cy="213550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Deterministic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 assign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fixed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rules.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Stochastic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probabilities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choose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most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likely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tag.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HMM-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belong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stochastic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approaches.</a:t>
            </a:r>
            <a:endParaRPr sz="2100">
              <a:latin typeface="Microsoft Sans Serif"/>
              <a:cs typeface="Microsoft Sans Serif"/>
            </a:endParaRPr>
          </a:p>
          <a:p>
            <a:pPr marL="180340" marR="492759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Stochastic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taggers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better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handle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uncertainty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ambiguity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in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39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 spc="-10"/>
              <a:t>Markov-</a:t>
            </a:r>
            <a:r>
              <a:rPr dirty="0"/>
              <a:t>Based</a:t>
            </a:r>
            <a:r>
              <a:rPr dirty="0" spc="10"/>
              <a:t> </a:t>
            </a:r>
            <a:r>
              <a:rPr dirty="0"/>
              <a:t>POS</a:t>
            </a:r>
            <a:r>
              <a:rPr dirty="0" spc="-30"/>
              <a:t> </a:t>
            </a:r>
            <a:r>
              <a:rPr dirty="0" spc="-25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7206615" cy="181483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provide a mathematically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sound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framework.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balance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efficiency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accuracy.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are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language-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independent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adaptable.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Suitable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large-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scale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systems.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174" y="290576"/>
            <a:ext cx="683323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HMM-</a:t>
            </a:r>
            <a:r>
              <a:rPr dirty="0"/>
              <a:t>Based</a:t>
            </a:r>
            <a:r>
              <a:rPr dirty="0" spc="-30"/>
              <a:t> </a:t>
            </a:r>
            <a:r>
              <a:rPr dirty="0"/>
              <a:t>POS</a:t>
            </a:r>
            <a:r>
              <a:rPr dirty="0" spc="-70"/>
              <a:t> </a:t>
            </a:r>
            <a:r>
              <a:rPr dirty="0" spc="-1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7929245" cy="181483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HMMs assume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limited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context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due to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 Markov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assumption.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require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large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annotated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corpora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good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performance.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Independence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assumptions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may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oversimplify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language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structure.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degrades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with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highly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complex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linguistic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phenomena.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POS</a:t>
            </a:r>
            <a:r>
              <a:rPr dirty="0" spc="-100"/>
              <a:t> </a:t>
            </a:r>
            <a:r>
              <a:rPr dirty="0" spc="-2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8246745" cy="213487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 tagging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syntactic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parsing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to identify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phrase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structure.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plays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key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role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extraction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systems.</a:t>
            </a:r>
            <a:endParaRPr sz="2100">
              <a:latin typeface="Microsoft Sans Serif"/>
              <a:cs typeface="Microsoft Sans Serif"/>
            </a:endParaRPr>
          </a:p>
          <a:p>
            <a:pPr marL="180340" marR="46990" indent="-167640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80340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Machine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translation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systems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tags to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preserve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grammatical correctness.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supports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text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summarization</a:t>
            </a:r>
            <a:r>
              <a:rPr dirty="0" sz="2100" spc="-5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sentiment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analysis.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POS</a:t>
            </a:r>
            <a:r>
              <a:rPr dirty="0" spc="-80"/>
              <a:t> </a:t>
            </a:r>
            <a:r>
              <a:rPr dirty="0" spc="-55"/>
              <a:t>Tagging</a:t>
            </a:r>
            <a:r>
              <a:rPr dirty="0" spc="-145"/>
              <a:t> </a:t>
            </a:r>
            <a:r>
              <a:rPr dirty="0" spc="-10"/>
              <a:t>Applications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5104" marR="104139" indent="-167640">
              <a:lnSpc>
                <a:spcPct val="100000"/>
              </a:lnSpc>
              <a:spcBef>
                <a:spcPts val="100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 b="1">
                <a:latin typeface="Arial"/>
                <a:cs typeface="Arial"/>
              </a:rPr>
              <a:t>Information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Retrieval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&amp;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Text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Mining: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/>
              <a:t>POS</a:t>
            </a:r>
            <a:r>
              <a:rPr dirty="0" spc="-25"/>
              <a:t> </a:t>
            </a:r>
            <a:r>
              <a:rPr dirty="0"/>
              <a:t>tagging</a:t>
            </a:r>
            <a:r>
              <a:rPr dirty="0" spc="-50"/>
              <a:t> </a:t>
            </a:r>
            <a:r>
              <a:rPr dirty="0"/>
              <a:t>identifies</a:t>
            </a:r>
            <a:r>
              <a:rPr dirty="0" spc="-60"/>
              <a:t> </a:t>
            </a:r>
            <a:r>
              <a:rPr dirty="0" spc="-25"/>
              <a:t>key </a:t>
            </a:r>
            <a:r>
              <a:rPr dirty="0"/>
              <a:t>nouns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verbs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improve</a:t>
            </a:r>
            <a:r>
              <a:rPr dirty="0" spc="-10"/>
              <a:t> </a:t>
            </a:r>
            <a:r>
              <a:rPr dirty="0"/>
              <a:t>search</a:t>
            </a:r>
            <a:r>
              <a:rPr dirty="0" spc="-25"/>
              <a:t> </a:t>
            </a:r>
            <a:r>
              <a:rPr dirty="0"/>
              <a:t>relevance,</a:t>
            </a:r>
            <a:r>
              <a:rPr dirty="0" spc="-10"/>
              <a:t> </a:t>
            </a:r>
            <a:r>
              <a:rPr dirty="0"/>
              <a:t>indexing,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feature selection.</a:t>
            </a:r>
          </a:p>
          <a:p>
            <a:pPr marL="204470" indent="-167005">
              <a:lnSpc>
                <a:spcPct val="100000"/>
              </a:lnSpc>
              <a:spcBef>
                <a:spcPts val="101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 b="1">
                <a:latin typeface="Arial"/>
                <a:cs typeface="Arial"/>
              </a:rPr>
              <a:t>Speech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Recognition: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/>
              <a:t>POS</a:t>
            </a:r>
            <a:r>
              <a:rPr dirty="0" spc="-30"/>
              <a:t> </a:t>
            </a:r>
            <a:r>
              <a:rPr dirty="0"/>
              <a:t>tagging</a:t>
            </a:r>
            <a:r>
              <a:rPr dirty="0" spc="-40"/>
              <a:t> </a:t>
            </a:r>
            <a:r>
              <a:rPr dirty="0"/>
              <a:t>uses</a:t>
            </a:r>
            <a:r>
              <a:rPr dirty="0" spc="-25"/>
              <a:t> </a:t>
            </a:r>
            <a:r>
              <a:rPr dirty="0"/>
              <a:t>grammatical</a:t>
            </a:r>
            <a:r>
              <a:rPr dirty="0" spc="-40"/>
              <a:t> </a:t>
            </a:r>
            <a:r>
              <a:rPr dirty="0"/>
              <a:t>context</a:t>
            </a:r>
            <a:r>
              <a:rPr dirty="0" spc="-25"/>
              <a:t> to</a:t>
            </a:r>
          </a:p>
          <a:p>
            <a:pPr marL="205104">
              <a:lnSpc>
                <a:spcPct val="100000"/>
              </a:lnSpc>
            </a:pPr>
            <a:r>
              <a:rPr dirty="0"/>
              <a:t>resolve</a:t>
            </a:r>
            <a:r>
              <a:rPr dirty="0" spc="-50"/>
              <a:t> </a:t>
            </a:r>
            <a:r>
              <a:rPr dirty="0"/>
              <a:t>homophones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improve</a:t>
            </a:r>
            <a:r>
              <a:rPr dirty="0" spc="-20"/>
              <a:t> </a:t>
            </a:r>
            <a:r>
              <a:rPr dirty="0"/>
              <a:t>transcription</a:t>
            </a:r>
            <a:r>
              <a:rPr dirty="0" spc="-45"/>
              <a:t> </a:t>
            </a:r>
            <a:r>
              <a:rPr dirty="0" spc="-10"/>
              <a:t>accuracy.</a:t>
            </a:r>
          </a:p>
          <a:p>
            <a:pPr marL="205104" marR="5080" indent="-167640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205740" algn="l"/>
              </a:tabLst>
            </a:pPr>
            <a:r>
              <a:rPr dirty="0" b="1">
                <a:latin typeface="Arial"/>
                <a:cs typeface="Arial"/>
              </a:rPr>
              <a:t>Machine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Translation: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/>
              <a:t>POS</a:t>
            </a:r>
            <a:r>
              <a:rPr dirty="0" spc="-20"/>
              <a:t> </a:t>
            </a:r>
            <a:r>
              <a:rPr dirty="0"/>
              <a:t>tagging</a:t>
            </a:r>
            <a:r>
              <a:rPr dirty="0" spc="-35"/>
              <a:t> </a:t>
            </a:r>
            <a:r>
              <a:rPr dirty="0"/>
              <a:t>preserves</a:t>
            </a:r>
            <a:r>
              <a:rPr dirty="0" spc="-20"/>
              <a:t> </a:t>
            </a:r>
            <a:r>
              <a:rPr dirty="0"/>
              <a:t>grammatical</a:t>
            </a:r>
            <a:r>
              <a:rPr dirty="0" spc="-50"/>
              <a:t> </a:t>
            </a:r>
            <a:r>
              <a:rPr dirty="0" spc="-10"/>
              <a:t>structure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improves word alignment</a:t>
            </a:r>
            <a:r>
              <a:rPr dirty="0" spc="-20"/>
              <a:t> </a:t>
            </a:r>
            <a:r>
              <a:rPr dirty="0"/>
              <a:t>across</a:t>
            </a:r>
            <a:r>
              <a:rPr dirty="0" spc="-5"/>
              <a:t> </a:t>
            </a:r>
            <a:r>
              <a:rPr dirty="0" spc="-10"/>
              <a:t>languages.</a:t>
            </a:r>
          </a:p>
          <a:p>
            <a:pPr marL="204470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205104" algn="l"/>
              </a:tabLst>
            </a:pPr>
            <a:r>
              <a:rPr dirty="0" b="1">
                <a:latin typeface="Arial"/>
                <a:cs typeface="Arial"/>
              </a:rPr>
              <a:t>Question</a:t>
            </a:r>
            <a:r>
              <a:rPr dirty="0" spc="-10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Answering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Systems: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POS</a:t>
            </a:r>
            <a:r>
              <a:rPr dirty="0" spc="-25"/>
              <a:t> </a:t>
            </a:r>
            <a:r>
              <a:rPr dirty="0"/>
              <a:t>tagging</a:t>
            </a:r>
            <a:r>
              <a:rPr dirty="0" spc="-35"/>
              <a:t> </a:t>
            </a:r>
            <a:r>
              <a:rPr dirty="0"/>
              <a:t>identifies</a:t>
            </a:r>
            <a:r>
              <a:rPr dirty="0" spc="-40"/>
              <a:t> </a:t>
            </a:r>
            <a:r>
              <a:rPr dirty="0" spc="-10"/>
              <a:t>question</a:t>
            </a:r>
          </a:p>
          <a:p>
            <a:pPr marL="205104">
              <a:lnSpc>
                <a:spcPct val="100000"/>
              </a:lnSpc>
            </a:pPr>
            <a:r>
              <a:rPr dirty="0"/>
              <a:t>structure</a:t>
            </a:r>
            <a:r>
              <a:rPr dirty="0" spc="-10"/>
              <a:t> </a:t>
            </a:r>
            <a:r>
              <a:rPr dirty="0"/>
              <a:t>and expected</a:t>
            </a:r>
            <a:r>
              <a:rPr dirty="0" spc="-15"/>
              <a:t> </a:t>
            </a:r>
            <a:r>
              <a:rPr dirty="0"/>
              <a:t>answer type for precise</a:t>
            </a:r>
            <a:r>
              <a:rPr dirty="0" spc="-15"/>
              <a:t> </a:t>
            </a:r>
            <a:r>
              <a:rPr dirty="0"/>
              <a:t>answer </a:t>
            </a:r>
            <a:r>
              <a:rPr dirty="0" spc="-10"/>
              <a:t>extraction.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Integration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POS</a:t>
            </a:r>
            <a:r>
              <a:rPr dirty="0" spc="-65"/>
              <a:t> </a:t>
            </a:r>
            <a:r>
              <a:rPr dirty="0" spc="-30"/>
              <a:t>Tagging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NLP</a:t>
            </a:r>
            <a:r>
              <a:rPr dirty="0" spc="-70"/>
              <a:t> </a:t>
            </a:r>
            <a:r>
              <a:rPr dirty="0" spc="-10"/>
              <a:t>Pipelines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7264400" cy="181483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typically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performed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after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tokenization.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Its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output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used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by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downstream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tasks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such as</a:t>
            </a:r>
            <a:r>
              <a:rPr dirty="0" sz="2100" spc="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parsing.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Errors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3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can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propagate,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affecting</a:t>
            </a:r>
            <a:r>
              <a:rPr dirty="0" sz="2100" spc="-3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later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stages.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Therefore,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accurate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critical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r>
              <a:rPr dirty="0" sz="2100" spc="-5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pipelines.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5133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174" y="1049978"/>
            <a:ext cx="8199120" cy="245491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1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Markov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Models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POS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form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 critical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part of</a:t>
            </a:r>
            <a:r>
              <a:rPr dirty="0" sz="2100" spc="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NLP.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5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HMM-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based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tagging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demonstrates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power of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probabilistic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modeling.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994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100" spc="-4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these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concepts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prepares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students</a:t>
            </a:r>
            <a:r>
              <a:rPr dirty="0" sz="2100" spc="-2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NLP</a:t>
            </a:r>
            <a:endParaRPr sz="2100"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</a:pP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topics.</a:t>
            </a:r>
            <a:endParaRPr sz="2100">
              <a:latin typeface="Microsoft Sans Serif"/>
              <a:cs typeface="Microsoft Sans Serif"/>
            </a:endParaRPr>
          </a:p>
          <a:p>
            <a:pPr marL="179705" indent="-167005">
              <a:lnSpc>
                <a:spcPct val="100000"/>
              </a:lnSpc>
              <a:spcBef>
                <a:spcPts val="1000"/>
              </a:spcBef>
              <a:buClr>
                <a:srgbClr val="005093"/>
              </a:buClr>
              <a:buFont typeface="Wingdings"/>
              <a:buChar char=""/>
              <a:tabLst>
                <a:tab pos="179705" algn="l"/>
              </a:tabLst>
            </a:pP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This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module</a:t>
            </a:r>
            <a:r>
              <a:rPr dirty="0" sz="2100" spc="-1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lays a</a:t>
            </a:r>
            <a:r>
              <a:rPr dirty="0" sz="2100" spc="-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strong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foundation</a:t>
            </a:r>
            <a:r>
              <a:rPr dirty="0" sz="2100" spc="-2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for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real-</a:t>
            </a:r>
            <a:r>
              <a:rPr dirty="0" sz="2100">
                <a:solidFill>
                  <a:srgbClr val="525252"/>
                </a:solidFill>
                <a:latin typeface="Microsoft Sans Serif"/>
                <a:cs typeface="Microsoft Sans Serif"/>
              </a:rPr>
              <a:t>world NLP</a:t>
            </a:r>
            <a:r>
              <a:rPr dirty="0" sz="2100" spc="-45">
                <a:solidFill>
                  <a:srgbClr val="525252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525252"/>
                </a:solidFill>
                <a:latin typeface="Microsoft Sans Serif"/>
                <a:cs typeface="Microsoft Sans Serif"/>
              </a:rPr>
              <a:t>systems.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09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911" y="356615"/>
            <a:ext cx="3535679" cy="8138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4229" y="2344927"/>
            <a:ext cx="2190750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1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3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75" b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8952" y="0"/>
            <a:ext cx="4575048" cy="5143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r>
              <a:rPr dirty="0" spc="-25"/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2026-10-03T15:09:06Z</dcterms:created>
  <dcterms:modified xsi:type="dcterms:W3CDTF">2026-10-03T15:09:06Z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2026-10-03T00:00:00Z</vt:filetime>
  </property>
  <property fmtid="{D5CDD505-2E9C-101B-9397-08002B2CF9AE}" pid="4" name="LastSaved">
    <vt:filetime>2026-10-03T00:00:00Z</vt:filetime>
  </property>
  <property fmtid="{D5CDD505-2E9C-101B-9397-08002B2CF9AE}" pid="5" name="Producer">
    <vt:lpwstr>iLovePDF</vt:lpwstr>
  </property>
</Properties>
</file>